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17" r:id="rId4"/>
    <p:sldMasterId id="2147483932" r:id="rId5"/>
  </p:sldMasterIdLst>
  <p:notesMasterIdLst>
    <p:notesMasterId r:id="rId35"/>
  </p:notesMasterIdLst>
  <p:handoutMasterIdLst>
    <p:handoutMasterId r:id="rId36"/>
  </p:handoutMasterIdLst>
  <p:sldIdLst>
    <p:sldId id="1638" r:id="rId6"/>
    <p:sldId id="1641" r:id="rId7"/>
    <p:sldId id="1642" r:id="rId8"/>
    <p:sldId id="1679" r:id="rId9"/>
    <p:sldId id="1670" r:id="rId10"/>
    <p:sldId id="1652" r:id="rId11"/>
    <p:sldId id="1672" r:id="rId12"/>
    <p:sldId id="1644" r:id="rId13"/>
    <p:sldId id="1547" r:id="rId14"/>
    <p:sldId id="1548" r:id="rId15"/>
    <p:sldId id="1654" r:id="rId16"/>
    <p:sldId id="1675" r:id="rId17"/>
    <p:sldId id="1529" r:id="rId18"/>
    <p:sldId id="1530" r:id="rId19"/>
    <p:sldId id="1533" r:id="rId20"/>
    <p:sldId id="1656" r:id="rId21"/>
    <p:sldId id="1595" r:id="rId22"/>
    <p:sldId id="1659" r:id="rId23"/>
    <p:sldId id="1633" r:id="rId24"/>
    <p:sldId id="1635" r:id="rId25"/>
    <p:sldId id="1634" r:id="rId26"/>
    <p:sldId id="1661" r:id="rId27"/>
    <p:sldId id="1574" r:id="rId28"/>
    <p:sldId id="1663" r:id="rId29"/>
    <p:sldId id="1664" r:id="rId30"/>
    <p:sldId id="1665" r:id="rId31"/>
    <p:sldId id="1666" r:id="rId32"/>
    <p:sldId id="1667" r:id="rId33"/>
    <p:sldId id="1668" r:id="rId34"/>
  </p:sldIdLst>
  <p:sldSz cx="12192000" cy="6858000"/>
  <p:notesSz cx="6858000" cy="9144000"/>
  <p:defaultTextStyle>
    <a:defPPr>
      <a:defRPr lang="zh-TW"/>
    </a:defPPr>
    <a:lvl1pPr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1pPr>
    <a:lvl2pPr marL="4572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2pPr>
    <a:lvl3pPr marL="9144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3pPr>
    <a:lvl4pPr marL="13716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4pPr>
    <a:lvl5pPr marL="18288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5pPr>
    <a:lvl6pPr marL="22860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6pPr>
    <a:lvl7pPr marL="27432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7pPr>
    <a:lvl8pPr marL="32004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8pPr>
    <a:lvl9pPr marL="36576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洺偉 張" initials="洺偉" lastIdx="2" clrIdx="0">
    <p:extLst>
      <p:ext uri="{19B8F6BF-5375-455C-9EA6-DF929625EA0E}">
        <p15:presenceInfo xmlns:p15="http://schemas.microsoft.com/office/powerpoint/2012/main" userId="312da0c06a876fb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D8242"/>
    <a:srgbClr val="FFF2CD"/>
    <a:srgbClr val="E8EDF2"/>
    <a:srgbClr val="606359"/>
    <a:srgbClr val="505C48"/>
    <a:srgbClr val="8497B0"/>
    <a:srgbClr val="5E9399"/>
    <a:srgbClr val="333F4D"/>
    <a:srgbClr val="F0F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27102A9-8310-4765-A935-A1911B00CA55}" styleName="淺色樣式 1 - 輔色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16DA210-FB5B-4158-B5E0-FEB733F419BA}" styleName="淺色樣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EB344D84-9AFB-497E-A393-DC336BA19D2E}" styleName="中等深淺樣式 3 - 輔色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EC20E35-A176-4012-BC5E-935CFFF8708E}" styleName="中等深淺樣式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10A1B5D5-9B99-4C35-A422-299274C87663}" styleName="中等深淺樣式 1 - 輔色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D7B26C5-4107-4FEC-AEDC-1716B250A1EF}" styleName="淺色樣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E3FDE45-AF77-4B5C-9715-49D594BDF05E}" styleName="淺色樣式 1 - 輔色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淺色樣式 1 - 輔色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FD0F851-EC5A-4D38-B0AD-8093EC10F338}" styleName="淺色樣式 1 - 輔色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3B4B98B0-60AC-42C2-AFA5-B58CD77FA1E5}" styleName="淺色樣式 1 - 輔色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淺色樣式 1 - 輔色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0660B408-B3CF-4A94-85FC-2B1E0A45F4A2}" styleName="深色樣式 2 - 輔色 1/輔色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8FD4443E-F989-4FC4-A0C8-D5A2AF1F390B}" styleName="深色樣式 1 - 輔色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0A15C55-8517-42AA-B614-E9B94910E393}" styleName="中等深淺樣式 2 - 輔色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中等深淺樣式 2 - 輔色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FECB4D8-DB02-4DC6-A0A2-4F2EBAE1DC90}" styleName="中等深淺樣式 1 - 輔色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BC89EF96-8CEA-46FF-86C4-4CE0E7609802}" styleName="淺色樣式 3 - 輔色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324" autoAdjust="0"/>
    <p:restoredTop sz="88701" autoAdjust="0"/>
  </p:normalViewPr>
  <p:slideViewPr>
    <p:cSldViewPr snapToGrid="0">
      <p:cViewPr>
        <p:scale>
          <a:sx n="75" d="100"/>
          <a:sy n="75" d="100"/>
        </p:scale>
        <p:origin x="36" y="36"/>
      </p:cViewPr>
      <p:guideLst>
        <p:guide orient="horz" pos="2160"/>
        <p:guide pos="3840"/>
      </p:guideLst>
    </p:cSldViewPr>
  </p:slideViewPr>
  <p:notesTextViewPr>
    <p:cViewPr>
      <p:scale>
        <a:sx n="100" d="100"/>
        <a:sy n="100" d="100"/>
      </p:scale>
      <p:origin x="0" y="0"/>
    </p:cViewPr>
  </p:notesTextViewPr>
  <p:notesViewPr>
    <p:cSldViewPr snapToGrid="0">
      <p:cViewPr varScale="1">
        <p:scale>
          <a:sx n="98" d="100"/>
          <a:sy n="98" d="100"/>
        </p:scale>
        <p:origin x="-3648" y="-102"/>
      </p:cViewPr>
      <p:guideLst>
        <p:guide orient="horz" pos="2880"/>
        <p:guide pos="2160"/>
      </p:guideLst>
    </p:cSldViewPr>
  </p:notesViewPr>
  <p:gridSpacing cx="45005" cy="45005"/>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slide" Target="slides/slide29.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handoutMaster" Target="handoutMasters/handout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878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a:latin typeface="Arial" charset="0"/>
                <a:ea typeface="新細明體" pitchFamily="18" charset="-120"/>
              </a:defRPr>
            </a:lvl1pPr>
          </a:lstStyle>
          <a:p>
            <a:pPr>
              <a:defRPr/>
            </a:pPr>
            <a:endParaRPr lang="en-US" altLang="zh-TW"/>
          </a:p>
        </p:txBody>
      </p:sp>
      <p:sp>
        <p:nvSpPr>
          <p:cNvPr id="118787"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新細明體" pitchFamily="18" charset="-120"/>
              </a:defRPr>
            </a:lvl1pPr>
          </a:lstStyle>
          <a:p>
            <a:pPr>
              <a:defRPr/>
            </a:pPr>
            <a:fld id="{31FE7E5A-8C54-46AD-B7D6-B38F6F5FC7D5}" type="datetime1">
              <a:rPr lang="zh-TW" altLang="en-US" smtClean="0"/>
              <a:t>2026/8/2</a:t>
            </a:fld>
            <a:endParaRPr lang="en-US" altLang="zh-TW"/>
          </a:p>
        </p:txBody>
      </p:sp>
      <p:sp>
        <p:nvSpPr>
          <p:cNvPr id="118788"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a:latin typeface="Arial" charset="0"/>
                <a:ea typeface="新細明體" pitchFamily="18" charset="-120"/>
              </a:defRPr>
            </a:lvl1pPr>
          </a:lstStyle>
          <a:p>
            <a:pPr>
              <a:defRPr/>
            </a:pPr>
            <a:endParaRPr lang="en-US" altLang="zh-TW"/>
          </a:p>
        </p:txBody>
      </p:sp>
      <p:sp>
        <p:nvSpPr>
          <p:cNvPr id="118789"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D6650701-39C2-4C39-B774-AC0ACA9B57FD}" type="slidenum">
              <a:rPr lang="en-US" altLang="zh-TW"/>
              <a:pPr>
                <a:defRPr/>
              </a:pPr>
              <a:t>‹#›</a:t>
            </a:fld>
            <a:endParaRPr lang="en-US" altLang="zh-TW"/>
          </a:p>
        </p:txBody>
      </p:sp>
    </p:spTree>
    <p:extLst>
      <p:ext uri="{BB962C8B-B14F-4D97-AF65-F5344CB8AC3E}">
        <p14:creationId xmlns:p14="http://schemas.microsoft.com/office/powerpoint/2010/main" val="3411597226"/>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smtClean="0"/>
            </a:lvl1pPr>
          </a:lstStyle>
          <a:p>
            <a:pPr>
              <a:defRPr/>
            </a:pPr>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smtClean="0"/>
            </a:lvl1pPr>
          </a:lstStyle>
          <a:p>
            <a:pPr>
              <a:defRPr/>
            </a:pPr>
            <a:fld id="{47A6EB2E-5BCC-4237-9F44-F95DBEF63B52}" type="datetime1">
              <a:rPr lang="zh-TW" altLang="en-US" smtClean="0"/>
              <a:t>2026/8/2</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zh-TW" altLang="en-US" noProof="0"/>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noProof="0"/>
              <a:t>按一下以編輯母片文字樣式</a:t>
            </a:r>
          </a:p>
          <a:p>
            <a:pPr lvl="1"/>
            <a:r>
              <a:rPr lang="zh-TW" altLang="en-US" noProof="0"/>
              <a:t>第二層</a:t>
            </a:r>
          </a:p>
          <a:p>
            <a:pPr lvl="2"/>
            <a:r>
              <a:rPr lang="zh-TW" altLang="en-US" noProof="0"/>
              <a:t>第三層</a:t>
            </a:r>
          </a:p>
          <a:p>
            <a:pPr lvl="3"/>
            <a:r>
              <a:rPr lang="zh-TW" altLang="en-US" noProof="0"/>
              <a:t>第四層</a:t>
            </a:r>
          </a:p>
          <a:p>
            <a:pPr lvl="4"/>
            <a:r>
              <a:rPr lang="zh-TW" altLang="en-US" noProof="0"/>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smtClean="0"/>
            </a:lvl1pPr>
          </a:lstStyle>
          <a:p>
            <a:pPr>
              <a:defRPr/>
            </a:pPr>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smtClean="0"/>
            </a:lvl1pPr>
          </a:lstStyle>
          <a:p>
            <a:pPr>
              <a:defRPr/>
            </a:pPr>
            <a:fld id="{96D86CCB-8F76-4AE6-907E-95309338C679}" type="slidenum">
              <a:rPr lang="zh-TW" altLang="en-US"/>
              <a:pPr>
                <a:defRPr/>
              </a:pPr>
              <a:t>‹#›</a:t>
            </a:fld>
            <a:endParaRPr lang="zh-TW" altLang="en-US"/>
          </a:p>
        </p:txBody>
      </p:sp>
    </p:spTree>
    <p:extLst>
      <p:ext uri="{BB962C8B-B14F-4D97-AF65-F5344CB8AC3E}">
        <p14:creationId xmlns:p14="http://schemas.microsoft.com/office/powerpoint/2010/main" val="2860368998"/>
      </p:ext>
    </p:extLst>
  </p:cSld>
  <p:clrMap bg1="lt1" tx1="dk1" bg2="lt2" tx2="dk2" accent1="accent1" accent2="accent2" accent3="accent3" accent4="accent4" accent5="accent5" accent6="accent6" hlink="hlink" folHlink="folHlink"/>
  <p:hf/>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4BB3D-A906-C611-A2DC-B9B42F57575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C7A7453D-806E-53D5-C1F1-7FCC25D6CA1D}"/>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B7B792B5-4320-4CC2-4D90-E4D0BDD09DE5}"/>
              </a:ext>
            </a:extLst>
          </p:cNvPr>
          <p:cNvSpPr>
            <a:spLocks noGrp="1"/>
          </p:cNvSpPr>
          <p:nvPr>
            <p:ph type="body" idx="1"/>
          </p:nvPr>
        </p:nvSpPr>
        <p:spPr/>
        <p:txBody>
          <a:bodyPr/>
          <a:lstStyle/>
          <a:p>
            <a:endParaRPr lang="zh-TW" altLang="en-US" dirty="0"/>
          </a:p>
        </p:txBody>
      </p:sp>
      <p:sp>
        <p:nvSpPr>
          <p:cNvPr id="4" name="頁首版面配置區 3">
            <a:extLst>
              <a:ext uri="{FF2B5EF4-FFF2-40B4-BE49-F238E27FC236}">
                <a16:creationId xmlns:a16="http://schemas.microsoft.com/office/drawing/2014/main" id="{4A386EDD-DA26-1D39-0376-997078916AB8}"/>
              </a:ext>
            </a:extLst>
          </p:cNvPr>
          <p:cNvSpPr>
            <a:spLocks noGrp="1"/>
          </p:cNvSpPr>
          <p:nvPr>
            <p:ph type="hdr" sz="quarter"/>
          </p:nvPr>
        </p:nvSpPr>
        <p:spPr/>
        <p:txBody>
          <a:bodyPr/>
          <a:lstStyle/>
          <a:p>
            <a:pPr>
              <a:defRPr/>
            </a:pPr>
            <a:endParaRPr lang="zh-TW" altLang="en-US"/>
          </a:p>
        </p:txBody>
      </p:sp>
      <p:sp>
        <p:nvSpPr>
          <p:cNvPr id="5" name="日期版面配置區 4">
            <a:extLst>
              <a:ext uri="{FF2B5EF4-FFF2-40B4-BE49-F238E27FC236}">
                <a16:creationId xmlns:a16="http://schemas.microsoft.com/office/drawing/2014/main" id="{E97D3282-0EA3-1F3F-F3D2-0EB1334F2114}"/>
              </a:ext>
            </a:extLst>
          </p:cNvPr>
          <p:cNvSpPr>
            <a:spLocks noGrp="1"/>
          </p:cNvSpPr>
          <p:nvPr>
            <p:ph type="dt" idx="1"/>
          </p:nvPr>
        </p:nvSpPr>
        <p:spPr/>
        <p:txBody>
          <a:bodyPr/>
          <a:lstStyle/>
          <a:p>
            <a:pPr>
              <a:defRPr/>
            </a:pPr>
            <a:fld id="{47A6EB2E-5BCC-4237-9F44-F95DBEF63B52}" type="datetime1">
              <a:rPr lang="zh-TW" altLang="en-US" smtClean="0"/>
              <a:t>2026/8/2</a:t>
            </a:fld>
            <a:endParaRPr lang="zh-TW" altLang="en-US"/>
          </a:p>
        </p:txBody>
      </p:sp>
      <p:sp>
        <p:nvSpPr>
          <p:cNvPr id="6" name="頁尾版面配置區 5">
            <a:extLst>
              <a:ext uri="{FF2B5EF4-FFF2-40B4-BE49-F238E27FC236}">
                <a16:creationId xmlns:a16="http://schemas.microsoft.com/office/drawing/2014/main" id="{0AE7A862-4317-7EB8-C1D1-0A59B693CA65}"/>
              </a:ext>
            </a:extLst>
          </p:cNvPr>
          <p:cNvSpPr>
            <a:spLocks noGrp="1"/>
          </p:cNvSpPr>
          <p:nvPr>
            <p:ph type="ftr" sz="quarter" idx="4"/>
          </p:nvPr>
        </p:nvSpPr>
        <p:spPr/>
        <p:txBody>
          <a:bodyPr/>
          <a:lstStyle/>
          <a:p>
            <a:pPr>
              <a:defRPr/>
            </a:pPr>
            <a:endParaRPr lang="zh-TW" altLang="en-US"/>
          </a:p>
        </p:txBody>
      </p:sp>
      <p:sp>
        <p:nvSpPr>
          <p:cNvPr id="7" name="投影片編號版面配置區 6">
            <a:extLst>
              <a:ext uri="{FF2B5EF4-FFF2-40B4-BE49-F238E27FC236}">
                <a16:creationId xmlns:a16="http://schemas.microsoft.com/office/drawing/2014/main" id="{1A341A33-3828-F37F-0CB6-6D5CD9BA0920}"/>
              </a:ext>
            </a:extLst>
          </p:cNvPr>
          <p:cNvSpPr>
            <a:spLocks noGrp="1"/>
          </p:cNvSpPr>
          <p:nvPr>
            <p:ph type="sldNum" sz="quarter" idx="5"/>
          </p:nvPr>
        </p:nvSpPr>
        <p:spPr/>
        <p:txBody>
          <a:bodyPr/>
          <a:lstStyle/>
          <a:p>
            <a:pPr>
              <a:defRPr/>
            </a:pPr>
            <a:fld id="{96D86CCB-8F76-4AE6-907E-95309338C679}" type="slidenum">
              <a:rPr lang="zh-TW" altLang="en-US" smtClean="0"/>
              <a:pPr>
                <a:defRPr/>
              </a:pPr>
              <a:t>6</a:t>
            </a:fld>
            <a:endParaRPr lang="zh-TW" altLang="en-US"/>
          </a:p>
        </p:txBody>
      </p:sp>
    </p:spTree>
    <p:extLst>
      <p:ext uri="{BB962C8B-B14F-4D97-AF65-F5344CB8AC3E}">
        <p14:creationId xmlns:p14="http://schemas.microsoft.com/office/powerpoint/2010/main" val="19234552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TW"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TW"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TW"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wmf"/><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標題投影片">
    <p:spTree>
      <p:nvGrpSpPr>
        <p:cNvPr id="1" name=""/>
        <p:cNvGrpSpPr/>
        <p:nvPr/>
      </p:nvGrpSpPr>
      <p:grpSpPr>
        <a:xfrm>
          <a:off x="0" y="0"/>
          <a:ext cx="0" cy="0"/>
          <a:chOff x="0" y="0"/>
          <a:chExt cx="0" cy="0"/>
        </a:xfrm>
      </p:grpSpPr>
      <p:pic>
        <p:nvPicPr>
          <p:cNvPr id="11" name="Picture 26" descr="itri_CEL_A_W"/>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958851" y="579438"/>
            <a:ext cx="3328988" cy="1042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 name="群組 2"/>
          <p:cNvGrpSpPr/>
          <p:nvPr userDrawn="1"/>
        </p:nvGrpSpPr>
        <p:grpSpPr>
          <a:xfrm>
            <a:off x="10074276" y="0"/>
            <a:ext cx="2117723" cy="6858000"/>
            <a:chOff x="10074276" y="0"/>
            <a:chExt cx="2117723" cy="6858000"/>
          </a:xfrm>
        </p:grpSpPr>
        <p:pic>
          <p:nvPicPr>
            <p:cNvPr id="15" name="圖片 1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074276" y="0"/>
              <a:ext cx="2117723" cy="6858000"/>
            </a:xfrm>
            <a:prstGeom prst="rect">
              <a:avLst/>
            </a:prstGeom>
          </p:spPr>
        </p:pic>
        <p:pic>
          <p:nvPicPr>
            <p:cNvPr id="16" name="圖片 16" descr="氣球.gif"/>
            <p:cNvPicPr>
              <a:picLocks noChangeAspect="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0493173" y="660401"/>
              <a:ext cx="1436687" cy="159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2" name="Rectangle 21"/>
          <p:cNvSpPr>
            <a:spLocks noGrp="1" noChangeArrowheads="1"/>
          </p:cNvSpPr>
          <p:nvPr>
            <p:ph type="ctrTitle" hasCustomPrompt="1"/>
          </p:nvPr>
        </p:nvSpPr>
        <p:spPr>
          <a:xfrm>
            <a:off x="836698" y="2584703"/>
            <a:ext cx="6596065" cy="1219201"/>
          </a:xfrm>
        </p:spPr>
        <p:txBody>
          <a:bodyPr anchor="t" anchorCtr="0"/>
          <a:lstStyle>
            <a:lvl1pPr>
              <a:defRPr sz="4400" b="1">
                <a:solidFill>
                  <a:srgbClr val="00B2B3"/>
                </a:solidFill>
              </a:defRPr>
            </a:lvl1pPr>
          </a:lstStyle>
          <a:p>
            <a:r>
              <a:rPr lang="zh-TW" altLang="en-US" dirty="0"/>
              <a:t>簡報標題</a:t>
            </a:r>
          </a:p>
        </p:txBody>
      </p:sp>
      <p:sp>
        <p:nvSpPr>
          <p:cNvPr id="14" name="Rectangle 22"/>
          <p:cNvSpPr>
            <a:spLocks noGrp="1" noChangeArrowheads="1"/>
          </p:cNvSpPr>
          <p:nvPr>
            <p:ph type="subTitle" idx="1" hasCustomPrompt="1"/>
          </p:nvPr>
        </p:nvSpPr>
        <p:spPr>
          <a:xfrm>
            <a:off x="853791" y="5059680"/>
            <a:ext cx="6770872" cy="755904"/>
          </a:xfrm>
        </p:spPr>
        <p:txBody>
          <a:bodyPr anchor="b" anchorCtr="0"/>
          <a:lstStyle>
            <a:lvl1pPr marL="0" indent="0" eaLnBrk="1" hangingPunct="1">
              <a:lnSpc>
                <a:spcPct val="80000"/>
              </a:lnSpc>
              <a:spcBef>
                <a:spcPct val="0"/>
              </a:spcBef>
              <a:buFontTx/>
              <a:buNone/>
              <a:defRPr sz="2000">
                <a:solidFill>
                  <a:schemeClr val="tx1"/>
                </a:solidFill>
                <a:latin typeface="+mn-ea"/>
                <a:ea typeface="+mn-ea"/>
              </a:defRPr>
            </a:lvl1pPr>
          </a:lstStyle>
          <a:p>
            <a:pPr eaLnBrk="1" hangingPunct="1">
              <a:lnSpc>
                <a:spcPct val="80000"/>
              </a:lnSpc>
              <a:spcBef>
                <a:spcPct val="0"/>
              </a:spcBef>
              <a:buFontTx/>
              <a:buNone/>
            </a:pPr>
            <a:r>
              <a:rPr lang="zh-TW" altLang="en-US" sz="2000" dirty="0"/>
              <a:t>簡報單位 簡報人名稱</a:t>
            </a:r>
            <a:r>
              <a:rPr lang="en-US" altLang="zh-TW" sz="2000" dirty="0"/>
              <a:t> </a:t>
            </a:r>
            <a:r>
              <a:rPr lang="zh-TW" altLang="en-US" sz="2000" dirty="0"/>
              <a:t>職稱</a:t>
            </a:r>
            <a:endParaRPr lang="en-US" altLang="zh-TW" sz="2000" dirty="0"/>
          </a:p>
        </p:txBody>
      </p:sp>
      <p:sp>
        <p:nvSpPr>
          <p:cNvPr id="17" name="投影片編號版面配置區 3"/>
          <p:cNvSpPr>
            <a:spLocks noGrp="1"/>
          </p:cNvSpPr>
          <p:nvPr>
            <p:ph type="sldNum" sz="quarter" idx="11"/>
          </p:nvPr>
        </p:nvSpPr>
        <p:spPr>
          <a:xfrm>
            <a:off x="11614808" y="6619875"/>
            <a:ext cx="571500" cy="238125"/>
          </a:xfrm>
        </p:spPr>
        <p:txBody>
          <a:bodyPr/>
          <a:lstStyle/>
          <a:p>
            <a:pPr>
              <a:defRPr/>
            </a:pPr>
            <a:fld id="{1A71FFAD-F905-4792-971B-681FA4F61CA8}" type="slidenum">
              <a:rPr lang="en-US" altLang="zh-TW" smtClean="0"/>
              <a:pPr>
                <a:defRPr/>
              </a:pPr>
              <a:t>‹#›</a:t>
            </a:fld>
            <a:endParaRPr lang="en-US" altLang="zh-TW"/>
          </a:p>
        </p:txBody>
      </p:sp>
      <p:sp>
        <p:nvSpPr>
          <p:cNvPr id="18" name="文字版面配置區 8"/>
          <p:cNvSpPr>
            <a:spLocks noGrp="1"/>
          </p:cNvSpPr>
          <p:nvPr>
            <p:ph type="body" sz="quarter" idx="12" hasCustomPrompt="1"/>
          </p:nvPr>
        </p:nvSpPr>
        <p:spPr>
          <a:xfrm>
            <a:off x="853790" y="5902262"/>
            <a:ext cx="2788603" cy="432303"/>
          </a:xfrm>
        </p:spPr>
        <p:txBody>
          <a:bodyPr/>
          <a:lstStyle>
            <a:lvl1pPr marL="0" indent="0">
              <a:buNone/>
              <a:defRPr sz="1600"/>
            </a:lvl1pPr>
          </a:lstStyle>
          <a:p>
            <a:pPr lvl="0"/>
            <a:r>
              <a:rPr lang="zh-TW" altLang="en-US" dirty="0"/>
              <a:t>簡報日期</a:t>
            </a:r>
          </a:p>
        </p:txBody>
      </p:sp>
    </p:spTree>
    <p:extLst>
      <p:ext uri="{BB962C8B-B14F-4D97-AF65-F5344CB8AC3E}">
        <p14:creationId xmlns:p14="http://schemas.microsoft.com/office/powerpoint/2010/main" val="27332544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extLst>
      <p:ext uri="{BB962C8B-B14F-4D97-AF65-F5344CB8AC3E}">
        <p14:creationId xmlns:p14="http://schemas.microsoft.com/office/powerpoint/2010/main" val="36666179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a:xfrm>
            <a:off x="609601" y="1439864"/>
            <a:ext cx="7981506" cy="4757737"/>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圖片版面配置區 2"/>
          <p:cNvSpPr>
            <a:spLocks noGrp="1"/>
          </p:cNvSpPr>
          <p:nvPr>
            <p:ph type="pic" idx="11"/>
          </p:nvPr>
        </p:nvSpPr>
        <p:spPr>
          <a:xfrm>
            <a:off x="8825023" y="1439864"/>
            <a:ext cx="2822033" cy="475773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dirty="0"/>
          </a:p>
        </p:txBody>
      </p:sp>
    </p:spTree>
    <p:extLst>
      <p:ext uri="{BB962C8B-B14F-4D97-AF65-F5344CB8AC3E}">
        <p14:creationId xmlns:p14="http://schemas.microsoft.com/office/powerpoint/2010/main" val="29276379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a:xfrm>
            <a:off x="609600" y="1439865"/>
            <a:ext cx="11037455" cy="28556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圖片版面配置區 2"/>
          <p:cNvSpPr>
            <a:spLocks noGrp="1"/>
          </p:cNvSpPr>
          <p:nvPr>
            <p:ph type="pic" idx="11"/>
          </p:nvPr>
        </p:nvSpPr>
        <p:spPr>
          <a:xfrm>
            <a:off x="609601" y="4444409"/>
            <a:ext cx="11037456" cy="1753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dirty="0"/>
          </a:p>
        </p:txBody>
      </p:sp>
    </p:spTree>
    <p:extLst>
      <p:ext uri="{BB962C8B-B14F-4D97-AF65-F5344CB8AC3E}">
        <p14:creationId xmlns:p14="http://schemas.microsoft.com/office/powerpoint/2010/main" val="18538828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區段標題">
    <p:spTree>
      <p:nvGrpSpPr>
        <p:cNvPr id="1" name=""/>
        <p:cNvGrpSpPr/>
        <p:nvPr/>
      </p:nvGrpSpPr>
      <p:grpSpPr>
        <a:xfrm>
          <a:off x="0" y="0"/>
          <a:ext cx="0" cy="0"/>
          <a:chOff x="0" y="0"/>
          <a:chExt cx="0" cy="0"/>
        </a:xfrm>
      </p:grpSpPr>
      <p:sp>
        <p:nvSpPr>
          <p:cNvPr id="10" name="投影片編號版面配置區 9"/>
          <p:cNvSpPr>
            <a:spLocks noGrp="1"/>
          </p:cNvSpPr>
          <p:nvPr>
            <p:ph type="sldNum" sz="quarter" idx="10"/>
          </p:nvPr>
        </p:nvSpPr>
        <p:spPr/>
        <p:txBody>
          <a:bodyPr/>
          <a:lstStyle/>
          <a:p>
            <a:pPr>
              <a:defRPr/>
            </a:pPr>
            <a:fld id="{1A71FFAD-F905-4792-971B-681FA4F61CA8}" type="slidenum">
              <a:rPr lang="en-US" altLang="zh-TW" smtClean="0"/>
              <a:pPr>
                <a:defRPr/>
              </a:pPr>
              <a:t>‹#›</a:t>
            </a:fld>
            <a:endParaRPr lang="en-US" altLang="zh-TW"/>
          </a:p>
        </p:txBody>
      </p:sp>
      <p:sp>
        <p:nvSpPr>
          <p:cNvPr id="11" name="標題 1"/>
          <p:cNvSpPr>
            <a:spLocks noGrp="1"/>
          </p:cNvSpPr>
          <p:nvPr>
            <p:ph type="ctrTitle"/>
          </p:nvPr>
        </p:nvSpPr>
        <p:spPr>
          <a:xfrm>
            <a:off x="2174355" y="2564904"/>
            <a:ext cx="7772400" cy="1035546"/>
          </a:xfrm>
        </p:spPr>
        <p:txBody>
          <a:bodyPr anchor="t" anchorCtr="0">
            <a:noAutofit/>
          </a:bodyPr>
          <a:lstStyle>
            <a:lvl1pPr algn="ctr">
              <a:defRPr/>
            </a:lvl1pPr>
          </a:lstStyle>
          <a:p>
            <a:r>
              <a:rPr lang="zh-TW" altLang="en-US" dirty="0"/>
              <a:t>按一下以編輯母片標題樣式</a:t>
            </a:r>
          </a:p>
        </p:txBody>
      </p:sp>
      <p:sp>
        <p:nvSpPr>
          <p:cNvPr id="12" name="副標題 2"/>
          <p:cNvSpPr>
            <a:spLocks noGrp="1"/>
          </p:cNvSpPr>
          <p:nvPr>
            <p:ph type="subTitle" idx="1"/>
          </p:nvPr>
        </p:nvSpPr>
        <p:spPr>
          <a:xfrm>
            <a:off x="2860155"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p>
        </p:txBody>
      </p:sp>
    </p:spTree>
    <p:extLst>
      <p:ext uri="{BB962C8B-B14F-4D97-AF65-F5344CB8AC3E}">
        <p14:creationId xmlns:p14="http://schemas.microsoft.com/office/powerpoint/2010/main" val="3176121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1_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963084" y="4406903"/>
            <a:ext cx="103632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a:t>按一下以編輯母片文字樣式</a:t>
            </a:r>
          </a:p>
        </p:txBody>
      </p:sp>
      <p:sp>
        <p:nvSpPr>
          <p:cNvPr id="10" name="投影片編號版面配置區 9"/>
          <p:cNvSpPr>
            <a:spLocks noGrp="1"/>
          </p:cNvSpPr>
          <p:nvPr>
            <p:ph type="sldNum" sz="quarter" idx="10"/>
          </p:nvPr>
        </p:nvSpPr>
        <p:spPr/>
        <p:txBody>
          <a:bodyPr/>
          <a:lstStyle/>
          <a:p>
            <a:pPr>
              <a:defRPr/>
            </a:pPr>
            <a:fld id="{1A71FFAD-F905-4792-971B-681FA4F61CA8}" type="slidenum">
              <a:rPr lang="en-US" altLang="zh-TW" smtClean="0"/>
              <a:pPr>
                <a:defRPr/>
              </a:pPr>
              <a:t>‹#›</a:t>
            </a:fld>
            <a:endParaRPr lang="en-US" altLang="zh-TW"/>
          </a:p>
        </p:txBody>
      </p:sp>
    </p:spTree>
    <p:extLst>
      <p:ext uri="{BB962C8B-B14F-4D97-AF65-F5344CB8AC3E}">
        <p14:creationId xmlns:p14="http://schemas.microsoft.com/office/powerpoint/2010/main" val="33115044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609602" y="1439864"/>
            <a:ext cx="5473700" cy="47577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286502" y="1439864"/>
            <a:ext cx="5475817" cy="47577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8" name="投影片編號版面配置區 7"/>
          <p:cNvSpPr>
            <a:spLocks noGrp="1"/>
          </p:cNvSpPr>
          <p:nvPr>
            <p:ph type="sldNum" sz="quarter" idx="10"/>
          </p:nvPr>
        </p:nvSpPr>
        <p:spPr/>
        <p:txBody>
          <a:bodyPr/>
          <a:lstStyle/>
          <a:p>
            <a:pPr>
              <a:defRPr/>
            </a:pPr>
            <a:fld id="{1A71FFAD-F905-4792-971B-681FA4F61CA8}" type="slidenum">
              <a:rPr lang="en-US" altLang="zh-TW" smtClean="0"/>
              <a:pPr>
                <a:defRPr/>
              </a:pPr>
              <a:t>‹#›</a:t>
            </a:fld>
            <a:endParaRPr lang="en-US" altLang="zh-TW"/>
          </a:p>
        </p:txBody>
      </p:sp>
    </p:spTree>
    <p:extLst>
      <p:ext uri="{BB962C8B-B14F-4D97-AF65-F5344CB8AC3E}">
        <p14:creationId xmlns:p14="http://schemas.microsoft.com/office/powerpoint/2010/main" val="21854547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609600" y="274638"/>
            <a:ext cx="10972800" cy="1143000"/>
          </a:xfrm>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10" name="投影片編號版面配置區 9"/>
          <p:cNvSpPr>
            <a:spLocks noGrp="1"/>
          </p:cNvSpPr>
          <p:nvPr>
            <p:ph type="sldNum" sz="quarter" idx="10"/>
          </p:nvPr>
        </p:nvSpPr>
        <p:spPr/>
        <p:txBody>
          <a:bodyPr/>
          <a:lstStyle/>
          <a:p>
            <a:pPr>
              <a:defRPr/>
            </a:pPr>
            <a:fld id="{1A71FFAD-F905-4792-971B-681FA4F61CA8}" type="slidenum">
              <a:rPr lang="en-US" altLang="zh-TW" smtClean="0"/>
              <a:pPr>
                <a:defRPr/>
              </a:pPr>
              <a:t>‹#›</a:t>
            </a:fld>
            <a:endParaRPr lang="en-US" altLang="zh-TW"/>
          </a:p>
        </p:txBody>
      </p:sp>
    </p:spTree>
    <p:extLst>
      <p:ext uri="{BB962C8B-B14F-4D97-AF65-F5344CB8AC3E}">
        <p14:creationId xmlns:p14="http://schemas.microsoft.com/office/powerpoint/2010/main" val="42001094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6" name="投影片編號版面配置區 5"/>
          <p:cNvSpPr>
            <a:spLocks noGrp="1"/>
          </p:cNvSpPr>
          <p:nvPr>
            <p:ph type="sldNum" sz="quarter" idx="10"/>
          </p:nvPr>
        </p:nvSpPr>
        <p:spPr/>
        <p:txBody>
          <a:bodyPr/>
          <a:lstStyle/>
          <a:p>
            <a:pPr>
              <a:defRPr/>
            </a:pPr>
            <a:fld id="{1A71FFAD-F905-4792-971B-681FA4F61CA8}" type="slidenum">
              <a:rPr lang="en-US" altLang="zh-TW" smtClean="0"/>
              <a:pPr>
                <a:defRPr/>
              </a:pPr>
              <a:t>‹#›</a:t>
            </a:fld>
            <a:endParaRPr lang="en-US" altLang="zh-TW"/>
          </a:p>
        </p:txBody>
      </p:sp>
    </p:spTree>
    <p:extLst>
      <p:ext uri="{BB962C8B-B14F-4D97-AF65-F5344CB8AC3E}">
        <p14:creationId xmlns:p14="http://schemas.microsoft.com/office/powerpoint/2010/main" val="5064379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投影片編號版面配置區 4"/>
          <p:cNvSpPr>
            <a:spLocks noGrp="1"/>
          </p:cNvSpPr>
          <p:nvPr>
            <p:ph type="sldNum" sz="quarter" idx="10"/>
          </p:nvPr>
        </p:nvSpPr>
        <p:spPr/>
        <p:txBody>
          <a:bodyPr/>
          <a:lstStyle/>
          <a:p>
            <a:pPr>
              <a:defRPr/>
            </a:pPr>
            <a:fld id="{1A71FFAD-F905-4792-971B-681FA4F61CA8}" type="slidenum">
              <a:rPr lang="en-US" altLang="zh-TW" smtClean="0"/>
              <a:pPr>
                <a:defRPr/>
              </a:pPr>
              <a:t>‹#›</a:t>
            </a:fld>
            <a:endParaRPr lang="en-US" altLang="zh-TW"/>
          </a:p>
        </p:txBody>
      </p:sp>
    </p:spTree>
    <p:extLst>
      <p:ext uri="{BB962C8B-B14F-4D97-AF65-F5344CB8AC3E}">
        <p14:creationId xmlns:p14="http://schemas.microsoft.com/office/powerpoint/2010/main" val="13337204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09602" y="273050"/>
            <a:ext cx="4011084"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8" name="投影片編號版面配置區 7"/>
          <p:cNvSpPr>
            <a:spLocks noGrp="1"/>
          </p:cNvSpPr>
          <p:nvPr>
            <p:ph type="sldNum" sz="quarter" idx="10"/>
          </p:nvPr>
        </p:nvSpPr>
        <p:spPr/>
        <p:txBody>
          <a:bodyPr/>
          <a:lstStyle/>
          <a:p>
            <a:pPr>
              <a:defRPr/>
            </a:pPr>
            <a:fld id="{1A71FFAD-F905-4792-971B-681FA4F61CA8}" type="slidenum">
              <a:rPr lang="en-US" altLang="zh-TW" smtClean="0"/>
              <a:pPr>
                <a:defRPr/>
              </a:pPr>
              <a:t>‹#›</a:t>
            </a:fld>
            <a:endParaRPr lang="en-US" altLang="zh-TW"/>
          </a:p>
        </p:txBody>
      </p:sp>
    </p:spTree>
    <p:extLst>
      <p:ext uri="{BB962C8B-B14F-4D97-AF65-F5344CB8AC3E}">
        <p14:creationId xmlns:p14="http://schemas.microsoft.com/office/powerpoint/2010/main" val="643117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2389717" y="4800600"/>
            <a:ext cx="73152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TW" altLang="en-US" noProof="0"/>
          </a:p>
        </p:txBody>
      </p:sp>
      <p:sp>
        <p:nvSpPr>
          <p:cNvPr id="4" name="文字版面配置區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8" name="投影片編號版面配置區 7"/>
          <p:cNvSpPr>
            <a:spLocks noGrp="1"/>
          </p:cNvSpPr>
          <p:nvPr>
            <p:ph type="sldNum" sz="quarter" idx="10"/>
          </p:nvPr>
        </p:nvSpPr>
        <p:spPr/>
        <p:txBody>
          <a:bodyPr/>
          <a:lstStyle/>
          <a:p>
            <a:pPr>
              <a:defRPr/>
            </a:pPr>
            <a:fld id="{1A71FFAD-F905-4792-971B-681FA4F61CA8}" type="slidenum">
              <a:rPr lang="en-US" altLang="zh-TW" smtClean="0"/>
              <a:pPr>
                <a:defRPr/>
              </a:pPr>
              <a:t>‹#›</a:t>
            </a:fld>
            <a:endParaRPr lang="en-US" altLang="zh-TW"/>
          </a:p>
        </p:txBody>
      </p:sp>
    </p:spTree>
    <p:extLst>
      <p:ext uri="{BB962C8B-B14F-4D97-AF65-F5344CB8AC3E}">
        <p14:creationId xmlns:p14="http://schemas.microsoft.com/office/powerpoint/2010/main" val="16028555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投影片編號版面配置區 6"/>
          <p:cNvSpPr>
            <a:spLocks noGrp="1"/>
          </p:cNvSpPr>
          <p:nvPr>
            <p:ph type="sldNum" sz="quarter" idx="10"/>
          </p:nvPr>
        </p:nvSpPr>
        <p:spPr/>
        <p:txBody>
          <a:bodyPr/>
          <a:lstStyle/>
          <a:p>
            <a:pPr>
              <a:defRPr/>
            </a:pPr>
            <a:fld id="{1A71FFAD-F905-4792-971B-681FA4F61CA8}" type="slidenum">
              <a:rPr lang="en-US" altLang="zh-TW" smtClean="0"/>
              <a:pPr>
                <a:defRPr/>
              </a:pPr>
              <a:t>‹#›</a:t>
            </a:fld>
            <a:endParaRPr lang="en-US" altLang="zh-TW"/>
          </a:p>
        </p:txBody>
      </p:sp>
    </p:spTree>
    <p:extLst>
      <p:ext uri="{BB962C8B-B14F-4D97-AF65-F5344CB8AC3E}">
        <p14:creationId xmlns:p14="http://schemas.microsoft.com/office/powerpoint/2010/main" val="30451948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972553" y="425301"/>
            <a:ext cx="2789767" cy="5665973"/>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601136" y="425301"/>
            <a:ext cx="8168217" cy="5665973"/>
          </a:xfrm>
        </p:spPr>
        <p:txBody>
          <a:bodyPr vert="eaVert"/>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7" name="投影片編號版面配置區 6"/>
          <p:cNvSpPr>
            <a:spLocks noGrp="1"/>
          </p:cNvSpPr>
          <p:nvPr>
            <p:ph type="sldNum" sz="quarter" idx="10"/>
          </p:nvPr>
        </p:nvSpPr>
        <p:spPr/>
        <p:txBody>
          <a:bodyPr/>
          <a:lstStyle/>
          <a:p>
            <a:pPr>
              <a:defRPr/>
            </a:pPr>
            <a:fld id="{1A71FFAD-F905-4792-971B-681FA4F61CA8}" type="slidenum">
              <a:rPr lang="en-US" altLang="zh-TW" smtClean="0"/>
              <a:pPr>
                <a:defRPr/>
              </a:pPr>
              <a:t>‹#›</a:t>
            </a:fld>
            <a:endParaRPr lang="en-US" altLang="zh-TW"/>
          </a:p>
        </p:txBody>
      </p:sp>
    </p:spTree>
    <p:extLst>
      <p:ext uri="{BB962C8B-B14F-4D97-AF65-F5344CB8AC3E}">
        <p14:creationId xmlns:p14="http://schemas.microsoft.com/office/powerpoint/2010/main" val="6465464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標題投影片">
    <p:spTree>
      <p:nvGrpSpPr>
        <p:cNvPr id="1" name=""/>
        <p:cNvGrpSpPr/>
        <p:nvPr/>
      </p:nvGrpSpPr>
      <p:grpSpPr>
        <a:xfrm>
          <a:off x="0" y="0"/>
          <a:ext cx="0" cy="0"/>
          <a:chOff x="0" y="0"/>
          <a:chExt cx="0" cy="0"/>
        </a:xfrm>
      </p:grpSpPr>
      <p:sp>
        <p:nvSpPr>
          <p:cNvPr id="12" name="Rectangle 21"/>
          <p:cNvSpPr>
            <a:spLocks noGrp="1" noChangeArrowheads="1"/>
          </p:cNvSpPr>
          <p:nvPr>
            <p:ph type="ctrTitle" hasCustomPrompt="1"/>
          </p:nvPr>
        </p:nvSpPr>
        <p:spPr>
          <a:xfrm>
            <a:off x="836698" y="2584703"/>
            <a:ext cx="6596065" cy="1219201"/>
          </a:xfrm>
        </p:spPr>
        <p:txBody>
          <a:bodyPr anchor="t" anchorCtr="0"/>
          <a:lstStyle>
            <a:lvl1pPr>
              <a:defRPr sz="4400" b="1">
                <a:solidFill>
                  <a:srgbClr val="00B2B3"/>
                </a:solidFill>
              </a:defRPr>
            </a:lvl1pPr>
          </a:lstStyle>
          <a:p>
            <a:r>
              <a:rPr lang="zh-TW" altLang="en-US" dirty="0"/>
              <a:t>簡報標題</a:t>
            </a:r>
          </a:p>
        </p:txBody>
      </p:sp>
      <p:sp>
        <p:nvSpPr>
          <p:cNvPr id="14" name="Rectangle 22"/>
          <p:cNvSpPr>
            <a:spLocks noGrp="1" noChangeArrowheads="1"/>
          </p:cNvSpPr>
          <p:nvPr>
            <p:ph type="subTitle" idx="1" hasCustomPrompt="1"/>
          </p:nvPr>
        </p:nvSpPr>
        <p:spPr>
          <a:xfrm>
            <a:off x="853791" y="5059680"/>
            <a:ext cx="6770872" cy="755904"/>
          </a:xfrm>
        </p:spPr>
        <p:txBody>
          <a:bodyPr anchor="b" anchorCtr="0"/>
          <a:lstStyle>
            <a:lvl1pPr marL="0" indent="0" eaLnBrk="1" hangingPunct="1">
              <a:lnSpc>
                <a:spcPct val="80000"/>
              </a:lnSpc>
              <a:spcBef>
                <a:spcPct val="0"/>
              </a:spcBef>
              <a:buFontTx/>
              <a:buNone/>
              <a:defRPr sz="2000">
                <a:solidFill>
                  <a:schemeClr val="tx1"/>
                </a:solidFill>
                <a:latin typeface="+mn-ea"/>
                <a:ea typeface="+mn-ea"/>
              </a:defRPr>
            </a:lvl1pPr>
          </a:lstStyle>
          <a:p>
            <a:pPr eaLnBrk="1" hangingPunct="1">
              <a:lnSpc>
                <a:spcPct val="80000"/>
              </a:lnSpc>
              <a:spcBef>
                <a:spcPct val="0"/>
              </a:spcBef>
              <a:buFontTx/>
              <a:buNone/>
            </a:pPr>
            <a:r>
              <a:rPr lang="zh-TW" altLang="en-US" sz="2000" dirty="0"/>
              <a:t>簡報單位 簡報人名稱</a:t>
            </a:r>
            <a:r>
              <a:rPr lang="en-US" altLang="zh-TW" sz="2000" dirty="0"/>
              <a:t> </a:t>
            </a:r>
            <a:r>
              <a:rPr lang="zh-TW" altLang="en-US" sz="2000" dirty="0"/>
              <a:t>職稱</a:t>
            </a:r>
            <a:endParaRPr lang="en-US" altLang="zh-TW" sz="2000" dirty="0"/>
          </a:p>
        </p:txBody>
      </p:sp>
      <p:sp>
        <p:nvSpPr>
          <p:cNvPr id="17" name="投影片編號版面配置區 3"/>
          <p:cNvSpPr>
            <a:spLocks noGrp="1"/>
          </p:cNvSpPr>
          <p:nvPr>
            <p:ph type="sldNum" sz="quarter" idx="11"/>
          </p:nvPr>
        </p:nvSpPr>
        <p:spPr>
          <a:xfrm>
            <a:off x="11614808" y="6619875"/>
            <a:ext cx="571500" cy="238125"/>
          </a:xfrm>
        </p:spPr>
        <p:txBody>
          <a:bodyPr/>
          <a:lstStyle/>
          <a:p>
            <a:pPr>
              <a:defRPr/>
            </a:pPr>
            <a:fld id="{1A71FFAD-F905-4792-971B-681FA4F61CA8}" type="slidenum">
              <a:rPr lang="en-US" altLang="zh-TW" smtClean="0"/>
              <a:pPr>
                <a:defRPr/>
              </a:pPr>
              <a:t>‹#›</a:t>
            </a:fld>
            <a:endParaRPr lang="en-US" altLang="zh-TW"/>
          </a:p>
        </p:txBody>
      </p:sp>
      <p:sp>
        <p:nvSpPr>
          <p:cNvPr id="18" name="文字版面配置區 8"/>
          <p:cNvSpPr>
            <a:spLocks noGrp="1"/>
          </p:cNvSpPr>
          <p:nvPr>
            <p:ph type="body" sz="quarter" idx="12" hasCustomPrompt="1"/>
          </p:nvPr>
        </p:nvSpPr>
        <p:spPr>
          <a:xfrm>
            <a:off x="853790" y="5902262"/>
            <a:ext cx="2788603" cy="432303"/>
          </a:xfrm>
        </p:spPr>
        <p:txBody>
          <a:bodyPr/>
          <a:lstStyle>
            <a:lvl1pPr marL="0" indent="0">
              <a:buNone/>
              <a:defRPr sz="1600"/>
            </a:lvl1pPr>
          </a:lstStyle>
          <a:p>
            <a:pPr lvl="0"/>
            <a:r>
              <a:rPr lang="zh-TW" altLang="en-US" dirty="0"/>
              <a:t>簡報日期</a:t>
            </a:r>
          </a:p>
        </p:txBody>
      </p:sp>
    </p:spTree>
    <p:extLst>
      <p:ext uri="{BB962C8B-B14F-4D97-AF65-F5344CB8AC3E}">
        <p14:creationId xmlns:p14="http://schemas.microsoft.com/office/powerpoint/2010/main" val="27332544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extLst>
      <p:ext uri="{BB962C8B-B14F-4D97-AF65-F5344CB8AC3E}">
        <p14:creationId xmlns:p14="http://schemas.microsoft.com/office/powerpoint/2010/main" val="36666179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a:xfrm>
            <a:off x="609601" y="1439864"/>
            <a:ext cx="7981506" cy="4757737"/>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圖片版面配置區 2"/>
          <p:cNvSpPr>
            <a:spLocks noGrp="1"/>
          </p:cNvSpPr>
          <p:nvPr>
            <p:ph type="pic" idx="11"/>
          </p:nvPr>
        </p:nvSpPr>
        <p:spPr>
          <a:xfrm>
            <a:off x="8825023" y="1439864"/>
            <a:ext cx="2822033" cy="475773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dirty="0"/>
          </a:p>
        </p:txBody>
      </p:sp>
    </p:spTree>
    <p:extLst>
      <p:ext uri="{BB962C8B-B14F-4D97-AF65-F5344CB8AC3E}">
        <p14:creationId xmlns:p14="http://schemas.microsoft.com/office/powerpoint/2010/main" val="292763796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a:xfrm>
            <a:off x="609600" y="1439865"/>
            <a:ext cx="11037455" cy="28556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圖片版面配置區 2"/>
          <p:cNvSpPr>
            <a:spLocks noGrp="1"/>
          </p:cNvSpPr>
          <p:nvPr>
            <p:ph type="pic" idx="11"/>
          </p:nvPr>
        </p:nvSpPr>
        <p:spPr>
          <a:xfrm>
            <a:off x="609601" y="4444409"/>
            <a:ext cx="11037456" cy="1753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dirty="0"/>
          </a:p>
        </p:txBody>
      </p:sp>
    </p:spTree>
    <p:extLst>
      <p:ext uri="{BB962C8B-B14F-4D97-AF65-F5344CB8AC3E}">
        <p14:creationId xmlns:p14="http://schemas.microsoft.com/office/powerpoint/2010/main" val="18538828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區段標題">
    <p:spTree>
      <p:nvGrpSpPr>
        <p:cNvPr id="1" name=""/>
        <p:cNvGrpSpPr/>
        <p:nvPr/>
      </p:nvGrpSpPr>
      <p:grpSpPr>
        <a:xfrm>
          <a:off x="0" y="0"/>
          <a:ext cx="0" cy="0"/>
          <a:chOff x="0" y="0"/>
          <a:chExt cx="0" cy="0"/>
        </a:xfrm>
      </p:grpSpPr>
      <p:sp>
        <p:nvSpPr>
          <p:cNvPr id="10" name="投影片編號版面配置區 9"/>
          <p:cNvSpPr>
            <a:spLocks noGrp="1"/>
          </p:cNvSpPr>
          <p:nvPr>
            <p:ph type="sldNum" sz="quarter" idx="10"/>
          </p:nvPr>
        </p:nvSpPr>
        <p:spPr/>
        <p:txBody>
          <a:bodyPr/>
          <a:lstStyle/>
          <a:p>
            <a:pPr>
              <a:defRPr/>
            </a:pPr>
            <a:fld id="{1A71FFAD-F905-4792-971B-681FA4F61CA8}" type="slidenum">
              <a:rPr lang="en-US" altLang="zh-TW" smtClean="0"/>
              <a:pPr>
                <a:defRPr/>
              </a:pPr>
              <a:t>‹#›</a:t>
            </a:fld>
            <a:endParaRPr lang="en-US" altLang="zh-TW"/>
          </a:p>
        </p:txBody>
      </p:sp>
      <p:sp>
        <p:nvSpPr>
          <p:cNvPr id="11" name="標題 1"/>
          <p:cNvSpPr>
            <a:spLocks noGrp="1"/>
          </p:cNvSpPr>
          <p:nvPr>
            <p:ph type="ctrTitle"/>
          </p:nvPr>
        </p:nvSpPr>
        <p:spPr>
          <a:xfrm>
            <a:off x="2174355" y="2564904"/>
            <a:ext cx="7772400" cy="1035546"/>
          </a:xfrm>
        </p:spPr>
        <p:txBody>
          <a:bodyPr anchor="t" anchorCtr="0">
            <a:noAutofit/>
          </a:bodyPr>
          <a:lstStyle>
            <a:lvl1pPr algn="ctr">
              <a:defRPr/>
            </a:lvl1pPr>
          </a:lstStyle>
          <a:p>
            <a:r>
              <a:rPr lang="zh-TW" altLang="en-US" dirty="0"/>
              <a:t>按一下以編輯母片標題樣式</a:t>
            </a:r>
          </a:p>
        </p:txBody>
      </p:sp>
      <p:sp>
        <p:nvSpPr>
          <p:cNvPr id="12" name="副標題 2"/>
          <p:cNvSpPr>
            <a:spLocks noGrp="1"/>
          </p:cNvSpPr>
          <p:nvPr>
            <p:ph type="subTitle" idx="1"/>
          </p:nvPr>
        </p:nvSpPr>
        <p:spPr>
          <a:xfrm>
            <a:off x="2860155"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p>
        </p:txBody>
      </p:sp>
    </p:spTree>
    <p:extLst>
      <p:ext uri="{BB962C8B-B14F-4D97-AF65-F5344CB8AC3E}">
        <p14:creationId xmlns:p14="http://schemas.microsoft.com/office/powerpoint/2010/main" val="31761212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1_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963084" y="4406903"/>
            <a:ext cx="103632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a:t>按一下以編輯母片文字樣式</a:t>
            </a:r>
          </a:p>
        </p:txBody>
      </p:sp>
      <p:sp>
        <p:nvSpPr>
          <p:cNvPr id="10" name="投影片編號版面配置區 9"/>
          <p:cNvSpPr>
            <a:spLocks noGrp="1"/>
          </p:cNvSpPr>
          <p:nvPr>
            <p:ph type="sldNum" sz="quarter" idx="10"/>
          </p:nvPr>
        </p:nvSpPr>
        <p:spPr/>
        <p:txBody>
          <a:bodyPr/>
          <a:lstStyle/>
          <a:p>
            <a:pPr>
              <a:defRPr/>
            </a:pPr>
            <a:fld id="{1A71FFAD-F905-4792-971B-681FA4F61CA8}" type="slidenum">
              <a:rPr lang="en-US" altLang="zh-TW" smtClean="0"/>
              <a:pPr>
                <a:defRPr/>
              </a:pPr>
              <a:t>‹#›</a:t>
            </a:fld>
            <a:endParaRPr lang="en-US" altLang="zh-TW"/>
          </a:p>
        </p:txBody>
      </p:sp>
    </p:spTree>
    <p:extLst>
      <p:ext uri="{BB962C8B-B14F-4D97-AF65-F5344CB8AC3E}">
        <p14:creationId xmlns:p14="http://schemas.microsoft.com/office/powerpoint/2010/main" val="331150444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609602" y="1439864"/>
            <a:ext cx="5473700" cy="47577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286502" y="1439864"/>
            <a:ext cx="5475817" cy="47577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8" name="投影片編號版面配置區 7"/>
          <p:cNvSpPr>
            <a:spLocks noGrp="1"/>
          </p:cNvSpPr>
          <p:nvPr>
            <p:ph type="sldNum" sz="quarter" idx="10"/>
          </p:nvPr>
        </p:nvSpPr>
        <p:spPr/>
        <p:txBody>
          <a:bodyPr/>
          <a:lstStyle/>
          <a:p>
            <a:pPr>
              <a:defRPr/>
            </a:pPr>
            <a:fld id="{1A71FFAD-F905-4792-971B-681FA4F61CA8}" type="slidenum">
              <a:rPr lang="en-US" altLang="zh-TW" smtClean="0"/>
              <a:pPr>
                <a:defRPr/>
              </a:pPr>
              <a:t>‹#›</a:t>
            </a:fld>
            <a:endParaRPr lang="en-US" altLang="zh-TW"/>
          </a:p>
        </p:txBody>
      </p:sp>
    </p:spTree>
    <p:extLst>
      <p:ext uri="{BB962C8B-B14F-4D97-AF65-F5344CB8AC3E}">
        <p14:creationId xmlns:p14="http://schemas.microsoft.com/office/powerpoint/2010/main" val="218545472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609600" y="274638"/>
            <a:ext cx="10972800" cy="1143000"/>
          </a:xfrm>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10" name="投影片編號版面配置區 9"/>
          <p:cNvSpPr>
            <a:spLocks noGrp="1"/>
          </p:cNvSpPr>
          <p:nvPr>
            <p:ph type="sldNum" sz="quarter" idx="10"/>
          </p:nvPr>
        </p:nvSpPr>
        <p:spPr/>
        <p:txBody>
          <a:bodyPr/>
          <a:lstStyle/>
          <a:p>
            <a:pPr>
              <a:defRPr/>
            </a:pPr>
            <a:fld id="{1A71FFAD-F905-4792-971B-681FA4F61CA8}" type="slidenum">
              <a:rPr lang="en-US" altLang="zh-TW" smtClean="0"/>
              <a:pPr>
                <a:defRPr/>
              </a:pPr>
              <a:t>‹#›</a:t>
            </a:fld>
            <a:endParaRPr lang="en-US" altLang="zh-TW"/>
          </a:p>
        </p:txBody>
      </p:sp>
    </p:spTree>
    <p:extLst>
      <p:ext uri="{BB962C8B-B14F-4D97-AF65-F5344CB8AC3E}">
        <p14:creationId xmlns:p14="http://schemas.microsoft.com/office/powerpoint/2010/main" val="420010942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6" name="投影片編號版面配置區 5"/>
          <p:cNvSpPr>
            <a:spLocks noGrp="1"/>
          </p:cNvSpPr>
          <p:nvPr>
            <p:ph type="sldNum" sz="quarter" idx="10"/>
          </p:nvPr>
        </p:nvSpPr>
        <p:spPr/>
        <p:txBody>
          <a:bodyPr/>
          <a:lstStyle/>
          <a:p>
            <a:pPr>
              <a:defRPr/>
            </a:pPr>
            <a:fld id="{1A71FFAD-F905-4792-971B-681FA4F61CA8}" type="slidenum">
              <a:rPr lang="en-US" altLang="zh-TW" smtClean="0"/>
              <a:pPr>
                <a:defRPr/>
              </a:pPr>
              <a:t>‹#›</a:t>
            </a:fld>
            <a:endParaRPr lang="en-US" altLang="zh-TW"/>
          </a:p>
        </p:txBody>
      </p:sp>
    </p:spTree>
    <p:extLst>
      <p:ext uri="{BB962C8B-B14F-4D97-AF65-F5344CB8AC3E}">
        <p14:creationId xmlns:p14="http://schemas.microsoft.com/office/powerpoint/2010/main" val="50643797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投影片編號版面配置區 4"/>
          <p:cNvSpPr>
            <a:spLocks noGrp="1"/>
          </p:cNvSpPr>
          <p:nvPr>
            <p:ph type="sldNum" sz="quarter" idx="10"/>
          </p:nvPr>
        </p:nvSpPr>
        <p:spPr/>
        <p:txBody>
          <a:bodyPr/>
          <a:lstStyle/>
          <a:p>
            <a:pPr>
              <a:defRPr/>
            </a:pPr>
            <a:fld id="{1A71FFAD-F905-4792-971B-681FA4F61CA8}" type="slidenum">
              <a:rPr lang="en-US" altLang="zh-TW" smtClean="0"/>
              <a:pPr>
                <a:defRPr/>
              </a:pPr>
              <a:t>‹#›</a:t>
            </a:fld>
            <a:endParaRPr lang="en-US" altLang="zh-TW"/>
          </a:p>
        </p:txBody>
      </p:sp>
    </p:spTree>
    <p:extLst>
      <p:ext uri="{BB962C8B-B14F-4D97-AF65-F5344CB8AC3E}">
        <p14:creationId xmlns:p14="http://schemas.microsoft.com/office/powerpoint/2010/main" val="133372042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09602" y="273050"/>
            <a:ext cx="4011084"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8" name="投影片編號版面配置區 7"/>
          <p:cNvSpPr>
            <a:spLocks noGrp="1"/>
          </p:cNvSpPr>
          <p:nvPr>
            <p:ph type="sldNum" sz="quarter" idx="10"/>
          </p:nvPr>
        </p:nvSpPr>
        <p:spPr/>
        <p:txBody>
          <a:bodyPr/>
          <a:lstStyle/>
          <a:p>
            <a:pPr>
              <a:defRPr/>
            </a:pPr>
            <a:fld id="{1A71FFAD-F905-4792-971B-681FA4F61CA8}" type="slidenum">
              <a:rPr lang="en-US" altLang="zh-TW" smtClean="0"/>
              <a:pPr>
                <a:defRPr/>
              </a:pPr>
              <a:t>‹#›</a:t>
            </a:fld>
            <a:endParaRPr lang="en-US" altLang="zh-TW"/>
          </a:p>
        </p:txBody>
      </p:sp>
    </p:spTree>
    <p:extLst>
      <p:ext uri="{BB962C8B-B14F-4D97-AF65-F5344CB8AC3E}">
        <p14:creationId xmlns:p14="http://schemas.microsoft.com/office/powerpoint/2010/main" val="6431171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2389717" y="4800600"/>
            <a:ext cx="73152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TW" altLang="en-US" noProof="0"/>
          </a:p>
        </p:txBody>
      </p:sp>
      <p:sp>
        <p:nvSpPr>
          <p:cNvPr id="4" name="文字版面配置區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8" name="投影片編號版面配置區 7"/>
          <p:cNvSpPr>
            <a:spLocks noGrp="1"/>
          </p:cNvSpPr>
          <p:nvPr>
            <p:ph type="sldNum" sz="quarter" idx="10"/>
          </p:nvPr>
        </p:nvSpPr>
        <p:spPr/>
        <p:txBody>
          <a:bodyPr/>
          <a:lstStyle/>
          <a:p>
            <a:pPr>
              <a:defRPr/>
            </a:pPr>
            <a:fld id="{1A71FFAD-F905-4792-971B-681FA4F61CA8}" type="slidenum">
              <a:rPr lang="en-US" altLang="zh-TW" smtClean="0"/>
              <a:pPr>
                <a:defRPr/>
              </a:pPr>
              <a:t>‹#›</a:t>
            </a:fld>
            <a:endParaRPr lang="en-US" altLang="zh-TW"/>
          </a:p>
        </p:txBody>
      </p:sp>
    </p:spTree>
    <p:extLst>
      <p:ext uri="{BB962C8B-B14F-4D97-AF65-F5344CB8AC3E}">
        <p14:creationId xmlns:p14="http://schemas.microsoft.com/office/powerpoint/2010/main" val="160285556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投影片編號版面配置區 6"/>
          <p:cNvSpPr>
            <a:spLocks noGrp="1"/>
          </p:cNvSpPr>
          <p:nvPr>
            <p:ph type="sldNum" sz="quarter" idx="10"/>
          </p:nvPr>
        </p:nvSpPr>
        <p:spPr/>
        <p:txBody>
          <a:bodyPr/>
          <a:lstStyle/>
          <a:p>
            <a:pPr>
              <a:defRPr/>
            </a:pPr>
            <a:fld id="{1A71FFAD-F905-4792-971B-681FA4F61CA8}" type="slidenum">
              <a:rPr lang="en-US" altLang="zh-TW" smtClean="0"/>
              <a:pPr>
                <a:defRPr/>
              </a:pPr>
              <a:t>‹#›</a:t>
            </a:fld>
            <a:endParaRPr lang="en-US" altLang="zh-TW"/>
          </a:p>
        </p:txBody>
      </p:sp>
    </p:spTree>
    <p:extLst>
      <p:ext uri="{BB962C8B-B14F-4D97-AF65-F5344CB8AC3E}">
        <p14:creationId xmlns:p14="http://schemas.microsoft.com/office/powerpoint/2010/main" val="304519480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972553" y="425301"/>
            <a:ext cx="2789767" cy="5665973"/>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601136" y="425301"/>
            <a:ext cx="8168217" cy="5665973"/>
          </a:xfrm>
        </p:spPr>
        <p:txBody>
          <a:bodyPr vert="eaVert"/>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7" name="投影片編號版面配置區 6"/>
          <p:cNvSpPr>
            <a:spLocks noGrp="1"/>
          </p:cNvSpPr>
          <p:nvPr>
            <p:ph type="sldNum" sz="quarter" idx="10"/>
          </p:nvPr>
        </p:nvSpPr>
        <p:spPr/>
        <p:txBody>
          <a:bodyPr/>
          <a:lstStyle/>
          <a:p>
            <a:pPr>
              <a:defRPr/>
            </a:pPr>
            <a:fld id="{1A71FFAD-F905-4792-971B-681FA4F61CA8}" type="slidenum">
              <a:rPr lang="en-US" altLang="zh-TW" smtClean="0"/>
              <a:pPr>
                <a:defRPr/>
              </a:pPr>
              <a:t>‹#›</a:t>
            </a:fld>
            <a:endParaRPr lang="en-US" altLang="zh-TW"/>
          </a:p>
        </p:txBody>
      </p:sp>
    </p:spTree>
    <p:extLst>
      <p:ext uri="{BB962C8B-B14F-4D97-AF65-F5344CB8AC3E}">
        <p14:creationId xmlns:p14="http://schemas.microsoft.com/office/powerpoint/2010/main" val="6465464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theme" Target="../theme/theme2.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1027" name="Rectangle 43"/>
          <p:cNvSpPr>
            <a:spLocks noGrp="1" noChangeArrowheads="1"/>
          </p:cNvSpPr>
          <p:nvPr>
            <p:ph type="title"/>
          </p:nvPr>
        </p:nvSpPr>
        <p:spPr bwMode="auto">
          <a:xfrm>
            <a:off x="601133" y="264920"/>
            <a:ext cx="11045923" cy="941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TW" altLang="en-US" dirty="0"/>
              <a:t>按一下以編輯母片標題樣式</a:t>
            </a:r>
          </a:p>
        </p:txBody>
      </p:sp>
      <p:sp>
        <p:nvSpPr>
          <p:cNvPr id="1028" name="Rectangle 44"/>
          <p:cNvSpPr>
            <a:spLocks noGrp="1" noChangeArrowheads="1"/>
          </p:cNvSpPr>
          <p:nvPr>
            <p:ph type="body" idx="1"/>
          </p:nvPr>
        </p:nvSpPr>
        <p:spPr bwMode="auto">
          <a:xfrm>
            <a:off x="609601" y="1439864"/>
            <a:ext cx="11037455" cy="475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TW" altLang="en-US" dirty="0"/>
              <a:t>按一下以編輯母片</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29743" name="Rectangle 47"/>
          <p:cNvSpPr>
            <a:spLocks noGrp="1" noChangeArrowheads="1"/>
          </p:cNvSpPr>
          <p:nvPr>
            <p:ph type="sldNum" sz="quarter" idx="4"/>
          </p:nvPr>
        </p:nvSpPr>
        <p:spPr bwMode="auto">
          <a:xfrm>
            <a:off x="11430000" y="6619878"/>
            <a:ext cx="762000" cy="23812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r" eaLnBrk="1" fontAlgn="ctr" hangingPunct="1">
              <a:defRPr sz="1200">
                <a:solidFill>
                  <a:schemeClr val="bg1"/>
                </a:solidFill>
                <a:ea typeface="微軟正黑體" panose="020B0604030504040204" pitchFamily="34" charset="-120"/>
              </a:defRPr>
            </a:lvl1pPr>
          </a:lstStyle>
          <a:p>
            <a:pPr>
              <a:defRPr/>
            </a:pPr>
            <a:fld id="{1A71FFAD-F905-4792-971B-681FA4F61CA8}" type="slidenum">
              <a:rPr lang="en-US" altLang="zh-TW"/>
              <a:pPr>
                <a:defRPr/>
              </a:pPr>
              <a:t>‹#›</a:t>
            </a:fld>
            <a:endParaRPr lang="en-US" altLang="zh-TW"/>
          </a:p>
        </p:txBody>
      </p:sp>
      <p:pic>
        <p:nvPicPr>
          <p:cNvPr id="14" name="Picture 28" descr="itri_CEL_A"/>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10544178" y="6159948"/>
            <a:ext cx="1476375" cy="34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918" r:id="rId1"/>
    <p:sldLayoutId id="2147483919" r:id="rId2"/>
    <p:sldLayoutId id="2147483920" r:id="rId3"/>
    <p:sldLayoutId id="2147483921" r:id="rId4"/>
    <p:sldLayoutId id="2147483922" r:id="rId5"/>
    <p:sldLayoutId id="2147483923" r:id="rId6"/>
    <p:sldLayoutId id="2147483924" r:id="rId7"/>
    <p:sldLayoutId id="2147483925" r:id="rId8"/>
    <p:sldLayoutId id="2147483926" r:id="rId9"/>
    <p:sldLayoutId id="2147483927" r:id="rId10"/>
    <p:sldLayoutId id="2147483928" r:id="rId11"/>
    <p:sldLayoutId id="2147483929" r:id="rId12"/>
    <p:sldLayoutId id="2147483930" r:id="rId13"/>
    <p:sldLayoutId id="2147483931" r:id="rId14"/>
  </p:sldLayoutIdLst>
  <p:hf hdr="0"/>
  <p:txStyles>
    <p:titleStyle>
      <a:lvl1pPr algn="l" rtl="0" eaLnBrk="0" fontAlgn="base" hangingPunct="0">
        <a:spcBef>
          <a:spcPct val="0"/>
        </a:spcBef>
        <a:spcAft>
          <a:spcPct val="0"/>
        </a:spcAft>
        <a:defRPr kumimoji="1" sz="2800" b="1">
          <a:solidFill>
            <a:srgbClr val="1B2A4A"/>
          </a:solidFill>
          <a:latin typeface="Arial"/>
          <a:ea typeface="+mj-ea"/>
          <a:cs typeface="+mj-cs"/>
        </a:defRPr>
      </a:lvl1pPr>
      <a:lvl2pPr algn="l" rtl="0" eaLnBrk="0" fontAlgn="base" hangingPunct="0">
        <a:spcBef>
          <a:spcPct val="0"/>
        </a:spcBef>
        <a:spcAft>
          <a:spcPct val="0"/>
        </a:spcAft>
        <a:defRPr kumimoji="1" sz="4600">
          <a:solidFill>
            <a:schemeClr val="tx2"/>
          </a:solidFill>
          <a:latin typeface="Arial" charset="0"/>
          <a:ea typeface="微軟正黑體" pitchFamily="34" charset="-120"/>
        </a:defRPr>
      </a:lvl2pPr>
      <a:lvl3pPr algn="l" rtl="0" eaLnBrk="0" fontAlgn="base" hangingPunct="0">
        <a:spcBef>
          <a:spcPct val="0"/>
        </a:spcBef>
        <a:spcAft>
          <a:spcPct val="0"/>
        </a:spcAft>
        <a:defRPr kumimoji="1" sz="4600">
          <a:solidFill>
            <a:schemeClr val="tx2"/>
          </a:solidFill>
          <a:latin typeface="Arial" charset="0"/>
          <a:ea typeface="微軟正黑體" pitchFamily="34" charset="-120"/>
        </a:defRPr>
      </a:lvl3pPr>
      <a:lvl4pPr algn="l" rtl="0" eaLnBrk="0" fontAlgn="base" hangingPunct="0">
        <a:spcBef>
          <a:spcPct val="0"/>
        </a:spcBef>
        <a:spcAft>
          <a:spcPct val="0"/>
        </a:spcAft>
        <a:defRPr kumimoji="1" sz="4600">
          <a:solidFill>
            <a:schemeClr val="tx2"/>
          </a:solidFill>
          <a:latin typeface="Arial" charset="0"/>
          <a:ea typeface="微軟正黑體" pitchFamily="34" charset="-120"/>
        </a:defRPr>
      </a:lvl4pPr>
      <a:lvl5pPr algn="l" rtl="0" eaLnBrk="0" fontAlgn="base" hangingPunct="0">
        <a:spcBef>
          <a:spcPct val="0"/>
        </a:spcBef>
        <a:spcAft>
          <a:spcPct val="0"/>
        </a:spcAft>
        <a:defRPr kumimoji="1" sz="4600">
          <a:solidFill>
            <a:schemeClr val="tx2"/>
          </a:solidFill>
          <a:latin typeface="Arial" charset="0"/>
          <a:ea typeface="微軟正黑體" pitchFamily="34" charset="-120"/>
        </a:defRPr>
      </a:lvl5pPr>
      <a:lvl6pPr marL="457200" algn="l" rtl="0" fontAlgn="base">
        <a:spcBef>
          <a:spcPct val="0"/>
        </a:spcBef>
        <a:spcAft>
          <a:spcPct val="0"/>
        </a:spcAft>
        <a:defRPr kumimoji="1" sz="4600">
          <a:solidFill>
            <a:schemeClr val="tx2"/>
          </a:solidFill>
          <a:latin typeface="Arial" charset="0"/>
          <a:ea typeface="微軟正黑體" pitchFamily="34" charset="-120"/>
        </a:defRPr>
      </a:lvl6pPr>
      <a:lvl7pPr marL="914400" algn="l" rtl="0" fontAlgn="base">
        <a:spcBef>
          <a:spcPct val="0"/>
        </a:spcBef>
        <a:spcAft>
          <a:spcPct val="0"/>
        </a:spcAft>
        <a:defRPr kumimoji="1" sz="4600">
          <a:solidFill>
            <a:schemeClr val="tx2"/>
          </a:solidFill>
          <a:latin typeface="Arial" charset="0"/>
          <a:ea typeface="微軟正黑體" pitchFamily="34" charset="-120"/>
        </a:defRPr>
      </a:lvl7pPr>
      <a:lvl8pPr marL="1371600" algn="l" rtl="0" fontAlgn="base">
        <a:spcBef>
          <a:spcPct val="0"/>
        </a:spcBef>
        <a:spcAft>
          <a:spcPct val="0"/>
        </a:spcAft>
        <a:defRPr kumimoji="1" sz="4600">
          <a:solidFill>
            <a:schemeClr val="tx2"/>
          </a:solidFill>
          <a:latin typeface="Arial" charset="0"/>
          <a:ea typeface="微軟正黑體" pitchFamily="34" charset="-120"/>
        </a:defRPr>
      </a:lvl8pPr>
      <a:lvl9pPr marL="1828800" algn="l" rtl="0" fontAlgn="base">
        <a:spcBef>
          <a:spcPct val="0"/>
        </a:spcBef>
        <a:spcAft>
          <a:spcPct val="0"/>
        </a:spcAft>
        <a:defRPr kumimoji="1" sz="4600">
          <a:solidFill>
            <a:schemeClr val="tx2"/>
          </a:solidFill>
          <a:latin typeface="Arial" charset="0"/>
          <a:ea typeface="微軟正黑體" pitchFamily="34" charset="-120"/>
        </a:defRPr>
      </a:lvl9pPr>
    </p:titleStyle>
    <p:bodyStyle>
      <a:lvl1pPr marL="342900" indent="-342900" algn="l" rtl="0" eaLnBrk="0" fontAlgn="base" hangingPunct="0">
        <a:spcBef>
          <a:spcPct val="20000"/>
        </a:spcBef>
        <a:spcAft>
          <a:spcPct val="0"/>
        </a:spcAft>
        <a:buChar char="•"/>
        <a:defRPr kumimoji="1" sz="1800">
          <a:solidFill>
            <a:srgbClr val="1B2A4A"/>
          </a:solidFill>
          <a:latin typeface="Arial"/>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1027" name="Rectangle 43"/>
          <p:cNvSpPr>
            <a:spLocks noGrp="1" noChangeArrowheads="1"/>
          </p:cNvSpPr>
          <p:nvPr>
            <p:ph type="title"/>
          </p:nvPr>
        </p:nvSpPr>
        <p:spPr bwMode="auto">
          <a:xfrm>
            <a:off x="601133" y="264920"/>
            <a:ext cx="11045923" cy="941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TW" altLang="en-US" dirty="0"/>
              <a:t>按一下以編輯母片標題樣式</a:t>
            </a:r>
          </a:p>
        </p:txBody>
      </p:sp>
      <p:sp>
        <p:nvSpPr>
          <p:cNvPr id="1028" name="Rectangle 44"/>
          <p:cNvSpPr>
            <a:spLocks noGrp="1" noChangeArrowheads="1"/>
          </p:cNvSpPr>
          <p:nvPr>
            <p:ph type="body" idx="1"/>
          </p:nvPr>
        </p:nvSpPr>
        <p:spPr bwMode="auto">
          <a:xfrm>
            <a:off x="609601" y="1439864"/>
            <a:ext cx="11037455" cy="475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TW" altLang="en-US" dirty="0"/>
              <a:t>按一下以編輯母片</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29743" name="Rectangle 47"/>
          <p:cNvSpPr>
            <a:spLocks noGrp="1" noChangeArrowheads="1"/>
          </p:cNvSpPr>
          <p:nvPr>
            <p:ph type="sldNum" sz="quarter" idx="4"/>
          </p:nvPr>
        </p:nvSpPr>
        <p:spPr bwMode="auto">
          <a:xfrm>
            <a:off x="11430000" y="6619878"/>
            <a:ext cx="762000" cy="23812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r" eaLnBrk="1" fontAlgn="ctr" hangingPunct="1">
              <a:defRPr sz="1200">
                <a:solidFill>
                  <a:schemeClr val="bg1"/>
                </a:solidFill>
                <a:ea typeface="微軟正黑體" panose="020B0604030504040204" pitchFamily="34" charset="-120"/>
              </a:defRPr>
            </a:lvl1pPr>
          </a:lstStyle>
          <a:p>
            <a:pPr>
              <a:defRPr/>
            </a:pPr>
            <a:fld id="{1A71FFAD-F905-4792-971B-681FA4F61CA8}" type="slidenum">
              <a:rPr lang="en-US" altLang="zh-TW"/>
              <a:pPr>
                <a:defRPr/>
              </a:pPr>
              <a:t>‹#›</a:t>
            </a:fld>
            <a:endParaRPr lang="en-US" altLang="zh-TW"/>
          </a:p>
        </p:txBody>
      </p:sp>
    </p:spTree>
  </p:cSld>
  <p:clrMap bg1="lt1" tx1="dk1" bg2="lt2" tx2="dk2" accent1="accent1" accent2="accent2" accent3="accent3" accent4="accent4" accent5="accent5" accent6="accent6" hlink="hlink" folHlink="folHlink"/>
  <p:sldLayoutIdLst>
    <p:sldLayoutId id="2147483933" r:id="rId1"/>
    <p:sldLayoutId id="2147483934" r:id="rId2"/>
    <p:sldLayoutId id="2147483935" r:id="rId3"/>
    <p:sldLayoutId id="2147483936" r:id="rId4"/>
    <p:sldLayoutId id="2147483937" r:id="rId5"/>
    <p:sldLayoutId id="2147483938" r:id="rId6"/>
    <p:sldLayoutId id="2147483939" r:id="rId7"/>
    <p:sldLayoutId id="2147483940" r:id="rId8"/>
    <p:sldLayoutId id="2147483941" r:id="rId9"/>
    <p:sldLayoutId id="2147483942" r:id="rId10"/>
    <p:sldLayoutId id="2147483943" r:id="rId11"/>
    <p:sldLayoutId id="2147483944" r:id="rId12"/>
    <p:sldLayoutId id="2147483945" r:id="rId13"/>
    <p:sldLayoutId id="2147483946" r:id="rId14"/>
  </p:sldLayoutIdLst>
  <p:hf hdr="0"/>
  <p:txStyles>
    <p:titleStyle>
      <a:lvl1pPr algn="l" rtl="0" eaLnBrk="0" fontAlgn="base" hangingPunct="0">
        <a:spcBef>
          <a:spcPct val="0"/>
        </a:spcBef>
        <a:spcAft>
          <a:spcPct val="0"/>
        </a:spcAft>
        <a:defRPr kumimoji="1" sz="2800" b="1">
          <a:solidFill>
            <a:srgbClr val="1B2A4A"/>
          </a:solidFill>
          <a:latin typeface="Arial"/>
          <a:ea typeface="+mj-ea"/>
          <a:cs typeface="+mj-cs"/>
        </a:defRPr>
      </a:lvl1pPr>
      <a:lvl2pPr algn="l" rtl="0" eaLnBrk="0" fontAlgn="base" hangingPunct="0">
        <a:spcBef>
          <a:spcPct val="0"/>
        </a:spcBef>
        <a:spcAft>
          <a:spcPct val="0"/>
        </a:spcAft>
        <a:defRPr kumimoji="1" sz="4600">
          <a:solidFill>
            <a:schemeClr val="tx2"/>
          </a:solidFill>
          <a:latin typeface="Arial" charset="0"/>
          <a:ea typeface="微軟正黑體" pitchFamily="34" charset="-120"/>
        </a:defRPr>
      </a:lvl2pPr>
      <a:lvl3pPr algn="l" rtl="0" eaLnBrk="0" fontAlgn="base" hangingPunct="0">
        <a:spcBef>
          <a:spcPct val="0"/>
        </a:spcBef>
        <a:spcAft>
          <a:spcPct val="0"/>
        </a:spcAft>
        <a:defRPr kumimoji="1" sz="4600">
          <a:solidFill>
            <a:schemeClr val="tx2"/>
          </a:solidFill>
          <a:latin typeface="Arial" charset="0"/>
          <a:ea typeface="微軟正黑體" pitchFamily="34" charset="-120"/>
        </a:defRPr>
      </a:lvl3pPr>
      <a:lvl4pPr algn="l" rtl="0" eaLnBrk="0" fontAlgn="base" hangingPunct="0">
        <a:spcBef>
          <a:spcPct val="0"/>
        </a:spcBef>
        <a:spcAft>
          <a:spcPct val="0"/>
        </a:spcAft>
        <a:defRPr kumimoji="1" sz="4600">
          <a:solidFill>
            <a:schemeClr val="tx2"/>
          </a:solidFill>
          <a:latin typeface="Arial" charset="0"/>
          <a:ea typeface="微軟正黑體" pitchFamily="34" charset="-120"/>
        </a:defRPr>
      </a:lvl4pPr>
      <a:lvl5pPr algn="l" rtl="0" eaLnBrk="0" fontAlgn="base" hangingPunct="0">
        <a:spcBef>
          <a:spcPct val="0"/>
        </a:spcBef>
        <a:spcAft>
          <a:spcPct val="0"/>
        </a:spcAft>
        <a:defRPr kumimoji="1" sz="4600">
          <a:solidFill>
            <a:schemeClr val="tx2"/>
          </a:solidFill>
          <a:latin typeface="Arial" charset="0"/>
          <a:ea typeface="微軟正黑體" pitchFamily="34" charset="-120"/>
        </a:defRPr>
      </a:lvl5pPr>
      <a:lvl6pPr marL="457200" algn="l" rtl="0" fontAlgn="base">
        <a:spcBef>
          <a:spcPct val="0"/>
        </a:spcBef>
        <a:spcAft>
          <a:spcPct val="0"/>
        </a:spcAft>
        <a:defRPr kumimoji="1" sz="4600">
          <a:solidFill>
            <a:schemeClr val="tx2"/>
          </a:solidFill>
          <a:latin typeface="Arial" charset="0"/>
          <a:ea typeface="微軟正黑體" pitchFamily="34" charset="-120"/>
        </a:defRPr>
      </a:lvl6pPr>
      <a:lvl7pPr marL="914400" algn="l" rtl="0" fontAlgn="base">
        <a:spcBef>
          <a:spcPct val="0"/>
        </a:spcBef>
        <a:spcAft>
          <a:spcPct val="0"/>
        </a:spcAft>
        <a:defRPr kumimoji="1" sz="4600">
          <a:solidFill>
            <a:schemeClr val="tx2"/>
          </a:solidFill>
          <a:latin typeface="Arial" charset="0"/>
          <a:ea typeface="微軟正黑體" pitchFamily="34" charset="-120"/>
        </a:defRPr>
      </a:lvl7pPr>
      <a:lvl8pPr marL="1371600" algn="l" rtl="0" fontAlgn="base">
        <a:spcBef>
          <a:spcPct val="0"/>
        </a:spcBef>
        <a:spcAft>
          <a:spcPct val="0"/>
        </a:spcAft>
        <a:defRPr kumimoji="1" sz="4600">
          <a:solidFill>
            <a:schemeClr val="tx2"/>
          </a:solidFill>
          <a:latin typeface="Arial" charset="0"/>
          <a:ea typeface="微軟正黑體" pitchFamily="34" charset="-120"/>
        </a:defRPr>
      </a:lvl8pPr>
      <a:lvl9pPr marL="1828800" algn="l" rtl="0" fontAlgn="base">
        <a:spcBef>
          <a:spcPct val="0"/>
        </a:spcBef>
        <a:spcAft>
          <a:spcPct val="0"/>
        </a:spcAft>
        <a:defRPr kumimoji="1" sz="4600">
          <a:solidFill>
            <a:schemeClr val="tx2"/>
          </a:solidFill>
          <a:latin typeface="Arial" charset="0"/>
          <a:ea typeface="微軟正黑體" pitchFamily="34" charset="-120"/>
        </a:defRPr>
      </a:lvl9pPr>
    </p:titleStyle>
    <p:bodyStyle>
      <a:lvl1pPr marL="342900" indent="-342900" algn="l" rtl="0" eaLnBrk="0" fontAlgn="base" hangingPunct="0">
        <a:spcBef>
          <a:spcPct val="20000"/>
        </a:spcBef>
        <a:spcAft>
          <a:spcPct val="0"/>
        </a:spcAft>
        <a:buChar char="•"/>
        <a:defRPr kumimoji="1" sz="1800">
          <a:solidFill>
            <a:srgbClr val="1B2A4A"/>
          </a:solidFill>
          <a:latin typeface="Arial"/>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E3BB39D-67ED-BCB0-A8D8-58A7D1FF7A62}"/>
              </a:ext>
            </a:extLst>
          </p:cNvPr>
          <p:cNvSpPr>
            <a:spLocks noGrp="1"/>
          </p:cNvSpPr>
          <p:nvPr>
            <p:ph type="ctrTitle"/>
          </p:nvPr>
        </p:nvSpPr>
        <p:spPr/>
        <p:txBody>
          <a:bodyPr/>
          <a:lstStyle/>
          <a:p>
            <a:r>
              <a:rPr lang="en-US" altLang="zh-TW"/>
              <a:t>Collective-Capable AXI4 NoC Target Specification</a:t>
            </a:r>
            <a:endParaRPr lang="zh-TW" altLang="en-US"/>
          </a:p>
        </p:txBody>
      </p:sp>
      <p:sp>
        <p:nvSpPr>
          <p:cNvPr id="3" name="副標題 2">
            <a:extLst>
              <a:ext uri="{FF2B5EF4-FFF2-40B4-BE49-F238E27FC236}">
                <a16:creationId xmlns:a16="http://schemas.microsoft.com/office/drawing/2014/main" id="{56F25833-1A8E-9E82-9EF1-93D675F50835}"/>
              </a:ext>
            </a:extLst>
          </p:cNvPr>
          <p:cNvSpPr>
            <a:spLocks noGrp="1"/>
          </p:cNvSpPr>
          <p:nvPr>
            <p:ph type="subTitle" idx="1"/>
          </p:nvPr>
        </p:nvSpPr>
        <p:spPr/>
        <p:txBody>
          <a:bodyPr/>
          <a:lstStyle/>
          <a:p>
            <a:r>
              <a:rPr lang="en-US" altLang="zh-TW"/>
              <a:t>Revision 0.2, 2026-07-23, draft</a:t>
            </a:r>
            <a:endParaRPr lang="zh-TW" altLang="en-US"/>
          </a:p>
        </p:txBody>
      </p:sp>
    </p:spTree>
    <p:extLst>
      <p:ext uri="{BB962C8B-B14F-4D97-AF65-F5344CB8AC3E}">
        <p14:creationId xmlns:p14="http://schemas.microsoft.com/office/powerpoint/2010/main" val="24677216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616BF97-CDFC-A8C5-42D9-34296A01AC62}"/>
              </a:ext>
            </a:extLst>
          </p:cNvPr>
          <p:cNvSpPr>
            <a:spLocks noGrp="1"/>
          </p:cNvSpPr>
          <p:nvPr>
            <p:ph type="title"/>
          </p:nvPr>
        </p:nvSpPr>
        <p:spPr/>
        <p:txBody>
          <a:bodyPr/>
          <a:lstStyle/>
          <a:p>
            <a:r>
              <a:rPr dirty="0">
                <a:solidFill>
                  <a:srgbClr val="000000"/>
                </a:solidFill>
                <a:latin typeface="Calibri" panose="020F0502020204030204" pitchFamily="34" charset="0"/>
                <a:ea typeface="Calibri" panose="020F0502020204030204" pitchFamily="34" charset="0"/>
                <a:cs typeface="Calibri" panose="020F0502020204030204" pitchFamily="34" charset="0"/>
              </a:rPr>
              <a:t>MHA dataflow requirements for the NoC</a:t>
            </a:r>
          </a:p>
        </p:txBody>
      </p:sp>
      <p:sp>
        <p:nvSpPr>
          <p:cNvPr id="5" name="Content Placeholder 2">
            <a:extLst>
              <a:ext uri="{FF2B5EF4-FFF2-40B4-BE49-F238E27FC236}">
                <a16:creationId xmlns:a16="http://schemas.microsoft.com/office/drawing/2014/main" id="{B32E3DFD-97CE-E177-DF4C-601B3BF5B759}"/>
              </a:ext>
            </a:extLst>
          </p:cNvPr>
          <p:cNvSpPr txBox="1">
            <a:spLocks/>
          </p:cNvSpPr>
          <p:nvPr/>
        </p:nvSpPr>
        <p:spPr bwMode="auto">
          <a:xfrm>
            <a:off x="427786" y="1513092"/>
            <a:ext cx="9338306" cy="4868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Autofit/>
          </a:bodyPr>
          <a:lstStyle>
            <a:lvl1pPr marL="342900" indent="-342900" algn="l" rtl="0" eaLnBrk="0" fontAlgn="base" hangingPunct="0">
              <a:spcBef>
                <a:spcPct val="20000"/>
              </a:spcBef>
              <a:spcAft>
                <a:spcPct val="0"/>
              </a:spcAft>
              <a:buChar char="•"/>
              <a:defRPr kumimoji="1" sz="1800">
                <a:solidFill>
                  <a:srgbClr val="1B2A4A"/>
                </a:solidFill>
                <a:latin typeface="Arial"/>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r>
              <a:rPr lang="zh-TW" altLang="zh-TW" dirty="0">
                <a:solidFill>
                  <a:srgbClr val="000000"/>
                </a:solidFill>
                <a:latin typeface="Calibri" panose="020F0502020204030204" pitchFamily="34" charset="0"/>
                <a:cs typeface="Calibri" panose="020F0502020204030204" pitchFamily="34" charset="0"/>
              </a:rPr>
              <a:t>MHA dataflow demand </a:t>
            </a:r>
            <a:endParaRPr lang="en-US" altLang="zh-TW"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lvl="1"/>
            <a:r>
              <a:rPr lang="zh-TW" altLang="zh-TW" sz="1800" dirty="0">
                <a:solidFill>
                  <a:srgbClr val="000000"/>
                </a:solidFill>
                <a:latin typeface="Calibri" panose="020F0502020204030204" pitchFamily="34" charset="0"/>
                <a:cs typeface="Calibri" panose="020F0502020204030204" pitchFamily="34" charset="0"/>
              </a:rPr>
              <a:t>High bandwidth</a:t>
            </a:r>
            <a:r>
              <a:rPr lang="zh-TW" altLang="en-US" sz="1800" dirty="0">
                <a:solidFill>
                  <a:srgbClr val="000000"/>
                </a:solidFill>
                <a:latin typeface="Calibri" panose="020F0502020204030204" pitchFamily="34" charset="0"/>
                <a:cs typeface="Calibri" panose="020F0502020204030204" pitchFamily="34" charset="0"/>
              </a:rPr>
              <a:t> </a:t>
            </a:r>
            <a:r>
              <a:rPr lang="en-US" altLang="zh-TW"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zh-TW" altLang="en-US" sz="1800" dirty="0">
                <a:solidFill>
                  <a:srgbClr val="000000"/>
                </a:solidFill>
                <a:latin typeface="Calibri" panose="020F0502020204030204" pitchFamily="34" charset="0"/>
                <a:cs typeface="Calibri" panose="020F0502020204030204" pitchFamily="34" charset="0"/>
              </a:rPr>
              <a:t> </a:t>
            </a:r>
            <a:r>
              <a:rPr lang="zh-TW" altLang="zh-TW" sz="1800" dirty="0">
                <a:solidFill>
                  <a:srgbClr val="000000"/>
                </a:solidFill>
                <a:latin typeface="Calibri" panose="020F0502020204030204" pitchFamily="34" charset="0"/>
                <a:cs typeface="Calibri" panose="020F0502020204030204" pitchFamily="34" charset="0"/>
              </a:rPr>
              <a:t>Q, K, V multicast, activations, KV cache blocks</a:t>
            </a:r>
            <a:endParaRPr lang="en-US" altLang="zh-TW"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lvl="2"/>
            <a:r>
              <a:rPr lang="zh-TW" altLang="zh-TW" sz="1800" dirty="0">
                <a:solidFill>
                  <a:srgbClr val="000000"/>
                </a:solidFill>
                <a:latin typeface="Calibri" panose="020F0502020204030204" pitchFamily="34" charset="0"/>
                <a:cs typeface="Calibri" panose="020F0502020204030204" pitchFamily="34" charset="0"/>
              </a:rPr>
              <a:t>Burst-based</a:t>
            </a:r>
            <a:endParaRPr lang="en-US" altLang="zh-TW"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lvl="1"/>
            <a:r>
              <a:rPr lang="zh-TW" altLang="zh-TW" sz="1800" dirty="0">
                <a:solidFill>
                  <a:srgbClr val="000000"/>
                </a:solidFill>
                <a:latin typeface="Calibri" panose="020F0502020204030204" pitchFamily="34" charset="0"/>
                <a:cs typeface="Calibri" panose="020F0502020204030204" pitchFamily="34" charset="0"/>
              </a:rPr>
              <a:t>Latency sensitive</a:t>
            </a:r>
            <a:r>
              <a:rPr lang="zh-TW" altLang="en-US" sz="1800" dirty="0">
                <a:solidFill>
                  <a:srgbClr val="000000"/>
                </a:solidFill>
                <a:latin typeface="Calibri" panose="020F0502020204030204" pitchFamily="34" charset="0"/>
                <a:cs typeface="Calibri" panose="020F0502020204030204" pitchFamily="34" charset="0"/>
              </a:rPr>
              <a:t> </a:t>
            </a:r>
            <a:r>
              <a:rPr lang="en-US" altLang="zh-TW"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zh-TW" altLang="en-US" sz="1800" dirty="0">
                <a:solidFill>
                  <a:srgbClr val="000000"/>
                </a:solidFill>
                <a:latin typeface="Calibri" panose="020F0502020204030204" pitchFamily="34" charset="0"/>
                <a:cs typeface="Calibri" panose="020F0502020204030204" pitchFamily="34" charset="0"/>
              </a:rPr>
              <a:t> </a:t>
            </a:r>
            <a:r>
              <a:rPr lang="zh-TW" altLang="zh-TW" sz="1800" dirty="0">
                <a:solidFill>
                  <a:srgbClr val="000000"/>
                </a:solidFill>
                <a:latin typeface="Calibri" panose="020F0502020204030204" pitchFamily="34" charset="0"/>
                <a:cs typeface="Calibri" panose="020F0502020204030204" pitchFamily="34" charset="0"/>
              </a:rPr>
              <a:t>Softmax statistics</a:t>
            </a:r>
            <a:r>
              <a:rPr lang="en-US" altLang="zh-TW" sz="1800" dirty="0">
                <a:solidFill>
                  <a:srgbClr val="000000"/>
                </a:solidFill>
                <a:latin typeface="Calibri" panose="020F0502020204030204" pitchFamily="34" charset="0"/>
                <a:cs typeface="Calibri" panose="020F0502020204030204" pitchFamily="34" charset="0"/>
              </a:rPr>
              <a:t>,</a:t>
            </a:r>
            <a:r>
              <a:rPr lang="zh-TW" altLang="zh-TW" sz="1800" dirty="0">
                <a:solidFill>
                  <a:srgbClr val="000000"/>
                </a:solidFill>
                <a:latin typeface="Calibri" panose="020F0502020204030204" pitchFamily="34" charset="0"/>
                <a:cs typeface="Calibri" panose="020F0502020204030204" pitchFamily="34" charset="0"/>
              </a:rPr>
              <a:t> synchronization, scheduler start and done</a:t>
            </a:r>
            <a:endParaRPr lang="en-US" altLang="zh-TW"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lvl="2"/>
            <a:r>
              <a:rPr lang="zh-TW" altLang="zh-TW" sz="1800" dirty="0">
                <a:solidFill>
                  <a:srgbClr val="000000"/>
                </a:solidFill>
                <a:latin typeface="Calibri" panose="020F0502020204030204" pitchFamily="34" charset="0"/>
                <a:cs typeface="Calibri" panose="020F0502020204030204" pitchFamily="34" charset="0"/>
              </a:rPr>
              <a:t>Single-beat messages</a:t>
            </a:r>
            <a:endParaRPr lang="en-US" altLang="zh-TW"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lvl="1"/>
            <a:r>
              <a:rPr lang="en-US" altLang="zh-TW" sz="1800" dirty="0">
                <a:solidFill>
                  <a:srgbClr val="000000"/>
                </a:solidFill>
                <a:latin typeface="Calibri" panose="020F0502020204030204" pitchFamily="34" charset="0"/>
                <a:cs typeface="Calibri" panose="020F0502020204030204" pitchFamily="34" charset="0"/>
              </a:rPr>
              <a:t>Control</a:t>
            </a:r>
            <a:r>
              <a:rPr lang="zh-TW" altLang="en-US" sz="1800" dirty="0">
                <a:solidFill>
                  <a:srgbClr val="000000"/>
                </a:solidFill>
                <a:latin typeface="Calibri" panose="020F0502020204030204" pitchFamily="34" charset="0"/>
                <a:cs typeface="Calibri" panose="020F0502020204030204" pitchFamily="34" charset="0"/>
              </a:rPr>
              <a:t> </a:t>
            </a:r>
            <a:r>
              <a:rPr lang="en-US" altLang="zh-TW" sz="1800" dirty="0">
                <a:solidFill>
                  <a:srgbClr val="000000"/>
                </a:solidFill>
                <a:latin typeface="Calibri" panose="020F0502020204030204" pitchFamily="34" charset="0"/>
                <a:cs typeface="Calibri" panose="020F0502020204030204" pitchFamily="34" charset="0"/>
              </a:rPr>
              <a:t>message</a:t>
            </a:r>
            <a:r>
              <a:rPr lang="en-US" altLang="zh-TW"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zh-TW" altLang="en-US" sz="1800" dirty="0">
                <a:solidFill>
                  <a:srgbClr val="000000"/>
                </a:solidFill>
                <a:latin typeface="Calibri" panose="020F0502020204030204" pitchFamily="34" charset="0"/>
                <a:cs typeface="Calibri" panose="020F0502020204030204" pitchFamily="34" charset="0"/>
              </a:rPr>
              <a:t> </a:t>
            </a:r>
            <a:r>
              <a:rPr lang="en-US" altLang="zh-TW" sz="1800" dirty="0">
                <a:solidFill>
                  <a:srgbClr val="000000"/>
                </a:solidFill>
                <a:latin typeface="Calibri" panose="020F0502020204030204" pitchFamily="34" charset="0"/>
                <a:ea typeface="Calibri" panose="020F0502020204030204" pitchFamily="34" charset="0"/>
                <a:cs typeface="Calibri" panose="020F0502020204030204" pitchFamily="34" charset="0"/>
              </a:rPr>
              <a:t>R</a:t>
            </a:r>
            <a:r>
              <a:rPr lang="zh-TW" altLang="zh-TW" sz="1800" dirty="0">
                <a:solidFill>
                  <a:srgbClr val="000000"/>
                </a:solidFill>
                <a:latin typeface="Calibri" panose="020F0502020204030204" pitchFamily="34" charset="0"/>
                <a:cs typeface="Calibri" panose="020F0502020204030204" pitchFamily="34" charset="0"/>
              </a:rPr>
              <a:t>equests</a:t>
            </a:r>
            <a:r>
              <a:rPr lang="en-US" altLang="zh-TW" sz="180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zh-TW" altLang="zh-TW" sz="1800" dirty="0">
                <a:solidFill>
                  <a:srgbClr val="000000"/>
                </a:solidFill>
                <a:latin typeface="Calibri" panose="020F0502020204030204" pitchFamily="34" charset="0"/>
                <a:cs typeface="Calibri" panose="020F0502020204030204" pitchFamily="34" charset="0"/>
              </a:rPr>
              <a:t> acknowledgments</a:t>
            </a:r>
            <a:endParaRPr lang="en-US" altLang="zh-TW"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lvl="2"/>
            <a:r>
              <a:rPr lang="zh-TW" altLang="zh-TW" sz="1800" dirty="0">
                <a:solidFill>
                  <a:srgbClr val="000000"/>
                </a:solidFill>
                <a:latin typeface="Calibri" panose="020F0502020204030204" pitchFamily="34" charset="0"/>
                <a:cs typeface="Calibri" panose="020F0502020204030204" pitchFamily="34" charset="0"/>
              </a:rPr>
              <a:t>Small fixed-size flits</a:t>
            </a:r>
            <a:endParaRPr lang="en-US" altLang="zh-TW"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altLang="zh-TW" b="1" dirty="0">
                <a:solidFill>
                  <a:srgbClr val="000000"/>
                </a:solidFill>
                <a:latin typeface="Calibri" panose="020F0502020204030204" pitchFamily="34" charset="0"/>
                <a:ea typeface="Calibri" panose="020F0502020204030204" pitchFamily="34" charset="0"/>
                <a:cs typeface="Calibri" panose="020F0502020204030204" pitchFamily="34" charset="0"/>
              </a:rPr>
              <a:t>NoC design goal</a:t>
            </a:r>
          </a:p>
          <a:p>
            <a:pPr lvl="1"/>
            <a:r>
              <a:rPr lang="zh-TW" altLang="zh-TW" sz="1800" dirty="0">
                <a:solidFill>
                  <a:srgbClr val="000000"/>
                </a:solidFill>
                <a:latin typeface="Calibri" panose="020F0502020204030204" pitchFamily="34" charset="0"/>
                <a:cs typeface="Calibri" panose="020F0502020204030204" pitchFamily="34" charset="0"/>
              </a:rPr>
              <a:t>Traffic-class isolation</a:t>
            </a:r>
            <a:endParaRPr lang="en-US" altLang="zh-TW"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lvl="2"/>
            <a:r>
              <a:rPr lang="en-US" altLang="zh-TW" sz="1800" dirty="0">
                <a:solidFill>
                  <a:srgbClr val="000000"/>
                </a:solidFill>
                <a:latin typeface="Calibri" panose="020F0502020204030204" pitchFamily="34" charset="0"/>
                <a:ea typeface="Calibri" panose="020F0502020204030204" pitchFamily="34" charset="0"/>
                <a:cs typeface="Calibri" panose="020F0502020204030204" pitchFamily="34" charset="0"/>
              </a:rPr>
              <a:t>High Bandwidth traffic</a:t>
            </a:r>
          </a:p>
          <a:p>
            <a:pPr lvl="2"/>
            <a:r>
              <a:rPr lang="en-US" altLang="zh-TW" sz="1800" dirty="0">
                <a:solidFill>
                  <a:srgbClr val="000000"/>
                </a:solidFill>
                <a:latin typeface="Calibri" panose="020F0502020204030204" pitchFamily="34" charset="0"/>
                <a:ea typeface="Calibri" panose="020F0502020204030204" pitchFamily="34" charset="0"/>
                <a:cs typeface="Calibri" panose="020F0502020204030204" pitchFamily="34" charset="0"/>
              </a:rPr>
              <a:t>Latency-sensitive traffic</a:t>
            </a:r>
          </a:p>
          <a:p>
            <a:pPr lvl="1" eaLnBrk="1" fontAlgn="t" hangingPunct="1"/>
            <a:r>
              <a:rPr lang="en-US" altLang="zh-TW" sz="1800" dirty="0">
                <a:solidFill>
                  <a:srgbClr val="000000"/>
                </a:solidFill>
                <a:latin typeface="Calibri" panose="020F0502020204030204" pitchFamily="34" charset="0"/>
                <a:ea typeface="Calibri" panose="020F0502020204030204" pitchFamily="34" charset="0"/>
                <a:cs typeface="Calibri" panose="020F0502020204030204" pitchFamily="34" charset="0"/>
              </a:rPr>
              <a:t>Collective-Capable NoC for Large-Scale Accelerators</a:t>
            </a:r>
          </a:p>
          <a:p>
            <a:pPr lvl="1" eaLnBrk="1" fontAlgn="t" hangingPunct="1"/>
            <a:r>
              <a:rPr lang="en-US" altLang="zh-TW" sz="1800" dirty="0">
                <a:solidFill>
                  <a:srgbClr val="000000"/>
                </a:solidFill>
                <a:latin typeface="Calibri" panose="020F0502020204030204" pitchFamily="34" charset="0"/>
                <a:cs typeface="Calibri" panose="020F0502020204030204" pitchFamily="34" charset="0"/>
              </a:rPr>
              <a:t>Multiple flexible configuration options</a:t>
            </a:r>
            <a:endParaRPr lang="zh-TW" altLang="zh-TW" sz="1800" dirty="0">
              <a:solidFill>
                <a:srgbClr val="00000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676743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16F6BB33-262D-3672-788F-D55F5BB07F20}"/>
              </a:ext>
            </a:extLst>
          </p:cNvPr>
          <p:cNvSpPr>
            <a:spLocks noGrp="1"/>
          </p:cNvSpPr>
          <p:nvPr>
            <p:ph type="title"/>
          </p:nvPr>
        </p:nvSpPr>
        <p:spPr>
          <a:xfrm>
            <a:off x="601133" y="264920"/>
            <a:ext cx="11045923" cy="941580"/>
          </a:xfrm>
        </p:spPr>
        <p:txBody>
          <a:bodyPr/>
          <a:lstStyle/>
          <a:p>
            <a:pPr marL="0" indent="0">
              <a:buNone/>
            </a:pPr>
            <a:r>
              <a:rPr lang="en-US" altLang="zh-TW" sz="3200" b="1" dirty="0">
                <a:solidFill>
                  <a:srgbClr val="000000"/>
                </a:solidFill>
                <a:latin typeface="Calibri" panose="020F0502020204030204" pitchFamily="34" charset="0"/>
                <a:ea typeface="微軟正黑體"/>
                <a:cs typeface="Calibri" panose="020F0502020204030204" pitchFamily="34" charset="0"/>
              </a:rPr>
              <a:t>Key features</a:t>
            </a:r>
          </a:p>
        </p:txBody>
      </p:sp>
      <p:sp>
        <p:nvSpPr>
          <p:cNvPr id="5" name="Content Placeholder 2">
            <a:extLst>
              <a:ext uri="{FF2B5EF4-FFF2-40B4-BE49-F238E27FC236}">
                <a16:creationId xmlns:a16="http://schemas.microsoft.com/office/drawing/2014/main" id="{9A344C26-D541-D9C6-E6F2-8E32984CEDD3}"/>
              </a:ext>
            </a:extLst>
          </p:cNvPr>
          <p:cNvSpPr txBox="1">
            <a:spLocks/>
          </p:cNvSpPr>
          <p:nvPr/>
        </p:nvSpPr>
        <p:spPr bwMode="auto">
          <a:xfrm>
            <a:off x="609599" y="1371600"/>
            <a:ext cx="9133755" cy="3987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Autofit/>
          </a:bodyPr>
          <a:lstStyle>
            <a:lvl1pPr marL="342900" indent="-342900" algn="l" rtl="0" eaLnBrk="0" fontAlgn="base" hangingPunct="0">
              <a:spcBef>
                <a:spcPct val="20000"/>
              </a:spcBef>
              <a:spcAft>
                <a:spcPct val="0"/>
              </a:spcAft>
              <a:buChar char="•"/>
              <a:defRPr kumimoji="1" sz="1800">
                <a:solidFill>
                  <a:srgbClr val="1B2A4A"/>
                </a:solidFill>
                <a:latin typeface="Arial"/>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r>
              <a:rPr lang="zh-TW" altLang="zh-TW" sz="2000" dirty="0">
                <a:solidFill>
                  <a:srgbClr val="000000"/>
                </a:solidFill>
                <a:latin typeface="Calibri" panose="020F0502020204030204" pitchFamily="34" charset="0"/>
                <a:cs typeface="Calibri" panose="020F0502020204030204" pitchFamily="34" charset="0"/>
              </a:rPr>
              <a:t>512 b data, </a:t>
            </a:r>
            <a:r>
              <a:rPr lang="zh-TW" altLang="zh-TW" sz="2000" b="1" dirty="0">
                <a:solidFill>
                  <a:srgbClr val="0D8242"/>
                </a:solidFill>
                <a:latin typeface="Calibri" panose="020F0502020204030204" pitchFamily="34" charset="0"/>
                <a:cs typeface="Calibri" panose="020F0502020204030204" pitchFamily="34" charset="0"/>
              </a:rPr>
              <a:t>64 GB/s @ 1 GHz</a:t>
            </a:r>
          </a:p>
          <a:p>
            <a:r>
              <a:rPr lang="zh-TW" altLang="zh-TW" sz="2000" dirty="0">
                <a:solidFill>
                  <a:srgbClr val="000000"/>
                </a:solidFill>
                <a:latin typeface="Calibri" panose="020F0502020204030204" pitchFamily="34" charset="0"/>
                <a:cs typeface="Calibri" panose="020F0502020204030204" pitchFamily="34" charset="0"/>
              </a:rPr>
              <a:t>Header overhead </a:t>
            </a:r>
            <a:r>
              <a:rPr lang="zh-TW" altLang="zh-TW" sz="2000" b="1" dirty="0">
                <a:solidFill>
                  <a:srgbClr val="0D8242"/>
                </a:solidFill>
                <a:latin typeface="Calibri" panose="020F0502020204030204" pitchFamily="34" charset="0"/>
                <a:cs typeface="Calibri" panose="020F0502020204030204" pitchFamily="34" charset="0"/>
              </a:rPr>
              <a:t>7 %</a:t>
            </a:r>
            <a:endParaRPr lang="en-US" altLang="zh-TW" sz="2000" b="1" dirty="0">
              <a:solidFill>
                <a:srgbClr val="0D8242"/>
              </a:solidFill>
              <a:latin typeface="Calibri" panose="020F0502020204030204" pitchFamily="34" charset="0"/>
              <a:cs typeface="Calibri" panose="020F0502020204030204" pitchFamily="34" charset="0"/>
            </a:endParaRPr>
          </a:p>
          <a:p>
            <a:r>
              <a:rPr lang="zh-TW" altLang="zh-TW" sz="2000" dirty="0">
                <a:solidFill>
                  <a:srgbClr val="000000"/>
                </a:solidFill>
                <a:latin typeface="Calibri" panose="020F0502020204030204" pitchFamily="34" charset="0"/>
                <a:cs typeface="Calibri" panose="020F0502020204030204" pitchFamily="34" charset="0"/>
              </a:rPr>
              <a:t>Three physical networks REQ / RSP / DAT</a:t>
            </a:r>
            <a:endParaRPr lang="en-US" altLang="zh-TW" sz="2000" b="1" dirty="0">
              <a:solidFill>
                <a:srgbClr val="000000"/>
              </a:solidFill>
              <a:latin typeface="Calibri" panose="020F0502020204030204" pitchFamily="34" charset="0"/>
              <a:cs typeface="Calibri" panose="020F0502020204030204" pitchFamily="34" charset="0"/>
            </a:endParaRPr>
          </a:p>
          <a:p>
            <a:r>
              <a:rPr lang="en-US" altLang="zh-TW" sz="2000" dirty="0">
                <a:solidFill>
                  <a:srgbClr val="333333"/>
                </a:solidFill>
                <a:latin typeface="Calibri"/>
              </a:rPr>
              <a:t>REQ/RSP full-duplex </a:t>
            </a:r>
            <a:r>
              <a:rPr lang="zh-TW" altLang="zh-TW" sz="2000" dirty="0">
                <a:solidFill>
                  <a:srgbClr val="000000"/>
                </a:solidFill>
                <a:latin typeface="Calibri" panose="020F0502020204030204" pitchFamily="34" charset="0"/>
                <a:cs typeface="Calibri" panose="020F0502020204030204" pitchFamily="34" charset="0"/>
              </a:rPr>
              <a:t>W/R utilization </a:t>
            </a:r>
            <a:r>
              <a:rPr lang="zh-TW" altLang="zh-TW" sz="2000" b="1" dirty="0">
                <a:solidFill>
                  <a:srgbClr val="0D8242"/>
                </a:solidFill>
                <a:latin typeface="Calibri" panose="020F0502020204030204" pitchFamily="34" charset="0"/>
                <a:cs typeface="Calibri" panose="020F0502020204030204" pitchFamily="34" charset="0"/>
              </a:rPr>
              <a:t>81.4 %</a:t>
            </a:r>
            <a:r>
              <a:rPr lang="zh-TW" altLang="zh-TW" sz="2000" dirty="0">
                <a:solidFill>
                  <a:srgbClr val="0D8242"/>
                </a:solidFill>
                <a:latin typeface="Calibri" panose="020F0502020204030204" pitchFamily="34" charset="0"/>
                <a:cs typeface="Calibri" panose="020F0502020204030204" pitchFamily="34" charset="0"/>
              </a:rPr>
              <a:t> </a:t>
            </a:r>
            <a:r>
              <a:rPr lang="zh-TW" altLang="zh-TW" sz="2000" dirty="0">
                <a:solidFill>
                  <a:srgbClr val="000000"/>
                </a:solidFill>
                <a:latin typeface="Calibri" panose="020F0502020204030204" pitchFamily="34" charset="0"/>
                <a:cs typeface="Calibri" panose="020F0502020204030204" pitchFamily="34" charset="0"/>
              </a:rPr>
              <a:t>on DAT</a:t>
            </a:r>
          </a:p>
          <a:p>
            <a:r>
              <a:rPr lang="en-US" altLang="zh-TW" sz="2000" dirty="0">
                <a:solidFill>
                  <a:srgbClr val="000000"/>
                </a:solidFill>
                <a:latin typeface="Calibri" panose="020F0502020204030204" pitchFamily="34" charset="0"/>
                <a:cs typeface="Calibri" panose="020F0502020204030204" pitchFamily="34" charset="0"/>
              </a:rPr>
              <a:t>Support AXI Outstanding / Interleaving / Out-of-Order</a:t>
            </a:r>
            <a:endParaRPr lang="zh-TW" altLang="zh-TW" sz="2000" dirty="0">
              <a:solidFill>
                <a:srgbClr val="000000"/>
              </a:solidFill>
              <a:latin typeface="Calibri" panose="020F0502020204030204" pitchFamily="34" charset="0"/>
              <a:cs typeface="Calibri" panose="020F0502020204030204" pitchFamily="34" charset="0"/>
            </a:endParaRPr>
          </a:p>
          <a:p>
            <a:r>
              <a:rPr lang="zh-TW" altLang="zh-TW" sz="2000" dirty="0">
                <a:solidFill>
                  <a:srgbClr val="000000"/>
                </a:solidFill>
                <a:latin typeface="Calibri" panose="020F0502020204030204" pitchFamily="34" charset="0"/>
                <a:cs typeface="Calibri" panose="020F0502020204030204" pitchFamily="34" charset="0"/>
              </a:rPr>
              <a:t>2x2 to 16x16 mesh, 256 nodes</a:t>
            </a:r>
          </a:p>
          <a:p>
            <a:r>
              <a:rPr lang="en-US" altLang="zh-TW" sz="2000" dirty="0">
                <a:solidFill>
                  <a:srgbClr val="000000"/>
                </a:solidFill>
                <a:latin typeface="Calibri" panose="020F0502020204030204" pitchFamily="34" charset="0"/>
                <a:cs typeface="Calibri" panose="020F0502020204030204" pitchFamily="34" charset="0"/>
              </a:rPr>
              <a:t>Write multicast / Response reduction support</a:t>
            </a:r>
            <a:endParaRPr lang="zh-TW" altLang="zh-TW" sz="2000" dirty="0">
              <a:solidFill>
                <a:srgbClr val="000000"/>
              </a:solidFill>
              <a:latin typeface="Calibri" panose="020F0502020204030204" pitchFamily="34" charset="0"/>
              <a:cs typeface="Calibri" panose="020F0502020204030204" pitchFamily="34" charset="0"/>
            </a:endParaRPr>
          </a:p>
          <a:p>
            <a:r>
              <a:rPr lang="zh-TW" altLang="zh-TW" sz="2000" dirty="0">
                <a:solidFill>
                  <a:srgbClr val="000000"/>
                </a:solidFill>
                <a:latin typeface="Calibri" panose="020F0502020204030204" pitchFamily="34" charset="0"/>
                <a:cs typeface="Calibri" panose="020F0502020204030204" pitchFamily="34" charset="0"/>
              </a:rPr>
              <a:t>1 to 8 virtual channels, credit-based on DAT, ready/valid on REQ / RSP</a:t>
            </a:r>
          </a:p>
          <a:p>
            <a:r>
              <a:rPr lang="zh-TW" altLang="zh-TW" sz="2000" dirty="0">
                <a:solidFill>
                  <a:srgbClr val="000000"/>
                </a:solidFill>
                <a:latin typeface="Calibri" panose="020F0502020204030204" pitchFamily="34" charset="0"/>
                <a:cs typeface="Calibri" panose="020F0502020204030204" pitchFamily="34" charset="0"/>
              </a:rPr>
              <a:t>XY wormhole, deadlock-free</a:t>
            </a:r>
          </a:p>
          <a:p>
            <a:r>
              <a:rPr lang="zh-TW" altLang="zh-TW" sz="2000" dirty="0">
                <a:solidFill>
                  <a:srgbClr val="000000"/>
                </a:solidFill>
                <a:latin typeface="Calibri" panose="020F0502020204030204" pitchFamily="34" charset="0"/>
                <a:cs typeface="Calibri" panose="020F0502020204030204" pitchFamily="34" charset="0"/>
              </a:rPr>
              <a:t>GALS, per-endpoint clocks</a:t>
            </a:r>
          </a:p>
        </p:txBody>
      </p:sp>
    </p:spTree>
    <p:extLst>
      <p:ext uri="{BB962C8B-B14F-4D97-AF65-F5344CB8AC3E}">
        <p14:creationId xmlns:p14="http://schemas.microsoft.com/office/powerpoint/2010/main" val="33969846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7487181-BD4F-85C9-C140-5388071F176D}"/>
              </a:ext>
            </a:extLst>
          </p:cNvPr>
          <p:cNvSpPr>
            <a:spLocks noGrp="1"/>
          </p:cNvSpPr>
          <p:nvPr>
            <p:ph type="title"/>
          </p:nvPr>
        </p:nvSpPr>
        <p:spPr/>
        <p:txBody>
          <a:bodyPr/>
          <a:lstStyle/>
          <a:p>
            <a:r>
              <a:rPr lang="en-US" dirty="0">
                <a:solidFill>
                  <a:srgbClr val="000000"/>
                </a:solidFill>
              </a:rPr>
              <a:t>How to handle heterogeneous traffic</a:t>
            </a:r>
          </a:p>
        </p:txBody>
      </p:sp>
      <p:sp>
        <p:nvSpPr>
          <p:cNvPr id="20" name="Shape 20"/>
          <p:cNvSpPr txBox="1"/>
          <p:nvPr/>
        </p:nvSpPr>
        <p:spPr>
          <a:xfrm>
            <a:off x="762000" y="1441450"/>
            <a:ext cx="3810000" cy="2032000"/>
          </a:xfrm>
          <a:prstGeom prst="rect">
            <a:avLst/>
          </a:prstGeom>
          <a:noFill/>
          <a:ln>
            <a:noFill/>
          </a:ln>
        </p:spPr>
        <p:txBody>
          <a:bodyPr wrap="square" lIns="88900" tIns="50800" rIns="88900" bIns="50800" anchor="t">
            <a:noAutofit/>
          </a:bodyPr>
          <a:lstStyle/>
          <a:p>
            <a:pPr marL="0" indent="0">
              <a:buNone/>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High Bandwidth traffic</a:t>
            </a:r>
          </a:p>
          <a:p>
            <a:pPr marL="228600" indent="-171450">
              <a:lnSpc>
                <a:spcPct val="100000"/>
              </a:lnSpc>
              <a:spcBef>
                <a:spcPts val="500"/>
              </a:spcBef>
              <a:buFont typeface="Arial"/>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DMA traffic</a:t>
            </a:r>
          </a:p>
          <a:p>
            <a:pPr marL="228600" indent="-171450">
              <a:lnSpc>
                <a:spcPct val="100000"/>
              </a:lnSpc>
              <a:spcBef>
                <a:spcPts val="500"/>
              </a:spcBef>
              <a:buFont typeface="Arial"/>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Wide busses (512-bit)</a:t>
            </a:r>
          </a:p>
          <a:p>
            <a:pPr marL="228600" indent="-171450">
              <a:lnSpc>
                <a:spcPct val="100000"/>
              </a:lnSpc>
              <a:spcBef>
                <a:spcPts val="500"/>
              </a:spcBef>
              <a:buFont typeface="Arial"/>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Burst-based</a:t>
            </a:r>
          </a:p>
          <a:p>
            <a:pPr marL="228600" indent="-171450">
              <a:lnSpc>
                <a:spcPct val="100000"/>
              </a:lnSpc>
              <a:spcBef>
                <a:spcPts val="500"/>
              </a:spcBef>
              <a:buFont typeface="Arial"/>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Large messages (few kBs)</a:t>
            </a:r>
          </a:p>
          <a:p>
            <a:pPr marL="228600" indent="-171450">
              <a:lnSpc>
                <a:spcPct val="100000"/>
              </a:lnSpc>
              <a:spcBef>
                <a:spcPts val="500"/>
              </a:spcBef>
              <a:buFont typeface="Arial"/>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Latency tolerant</a:t>
            </a:r>
          </a:p>
        </p:txBody>
      </p:sp>
      <p:sp>
        <p:nvSpPr>
          <p:cNvPr id="21" name="Shape 21"/>
          <p:cNvSpPr txBox="1"/>
          <p:nvPr/>
        </p:nvSpPr>
        <p:spPr>
          <a:xfrm>
            <a:off x="8568268" y="1441450"/>
            <a:ext cx="3429000" cy="1651000"/>
          </a:xfrm>
          <a:prstGeom prst="rect">
            <a:avLst/>
          </a:prstGeom>
          <a:noFill/>
          <a:ln>
            <a:noFill/>
          </a:ln>
        </p:spPr>
        <p:txBody>
          <a:bodyPr wrap="square" lIns="88900" tIns="50800" rIns="88900" bIns="50800" anchor="t">
            <a:normAutofit/>
          </a:bodyPr>
          <a:lstStyle/>
          <a:p>
            <a:pPr marL="0" indent="0">
              <a:buNone/>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Latency-sensitive traffic</a:t>
            </a:r>
          </a:p>
          <a:p>
            <a:pPr marL="228600" indent="-171450">
              <a:lnSpc>
                <a:spcPct val="100000"/>
              </a:lnSpc>
              <a:spcBef>
                <a:spcPts val="500"/>
              </a:spcBef>
              <a:buFont typeface="Arial"/>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Core traffic</a:t>
            </a:r>
          </a:p>
          <a:p>
            <a:pPr marL="228600" indent="-171450">
              <a:lnSpc>
                <a:spcPct val="100000"/>
              </a:lnSpc>
              <a:spcBef>
                <a:spcPts val="500"/>
              </a:spcBef>
              <a:buFont typeface="Arial"/>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Synchronization</a:t>
            </a:r>
          </a:p>
          <a:p>
            <a:pPr marL="228600" indent="-171450">
              <a:lnSpc>
                <a:spcPct val="100000"/>
              </a:lnSpc>
              <a:spcBef>
                <a:spcPts val="500"/>
              </a:spcBef>
              <a:buFont typeface="Arial"/>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Single-word messages</a:t>
            </a:r>
          </a:p>
        </p:txBody>
      </p:sp>
      <p:sp>
        <p:nvSpPr>
          <p:cNvPr id="22" name="Shape 22"/>
          <p:cNvSpPr txBox="1"/>
          <p:nvPr/>
        </p:nvSpPr>
        <p:spPr>
          <a:xfrm>
            <a:off x="5522152" y="1441450"/>
            <a:ext cx="3179259" cy="1813218"/>
          </a:xfrm>
          <a:prstGeom prst="rect">
            <a:avLst/>
          </a:prstGeom>
          <a:noFill/>
          <a:ln>
            <a:noFill/>
          </a:ln>
        </p:spPr>
        <p:txBody>
          <a:bodyPr wrap="square" lIns="88900" tIns="50800" rIns="88900" bIns="50800" anchor="t">
            <a:normAutofit/>
          </a:bodyPr>
          <a:lstStyle/>
          <a:p>
            <a:pPr marL="0" indent="0">
              <a:buNone/>
            </a:pPr>
            <a:r>
              <a:rPr lang="zh-TW" altLang="zh-TW" b="1" dirty="0">
                <a:solidFill>
                  <a:srgbClr val="000000"/>
                </a:solidFill>
                <a:latin typeface="Calibri" panose="020F0502020204030204" pitchFamily="34" charset="0"/>
                <a:cs typeface="Calibri" panose="020F0502020204030204" pitchFamily="34" charset="0"/>
              </a:rPr>
              <a:t>Control traffic</a:t>
            </a: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 traffic</a:t>
            </a:r>
          </a:p>
          <a:p>
            <a:pPr marL="228600" indent="-171450">
              <a:lnSpc>
                <a:spcPct val="100000"/>
              </a:lnSpc>
              <a:spcBef>
                <a:spcPts val="500"/>
              </a:spcBef>
              <a:buFont typeface="Arial"/>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Request messages</a:t>
            </a:r>
          </a:p>
          <a:p>
            <a:pPr marL="228600" indent="-171450">
              <a:lnSpc>
                <a:spcPct val="100000"/>
              </a:lnSpc>
              <a:spcBef>
                <a:spcPts val="500"/>
              </a:spcBef>
              <a:buFont typeface="Arial"/>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Acknowledgment messages (AXI write responses)</a:t>
            </a:r>
          </a:p>
          <a:p>
            <a:pPr marL="228600" indent="-171450">
              <a:lnSpc>
                <a:spcPct val="100000"/>
              </a:lnSpc>
              <a:spcBef>
                <a:spcPts val="500"/>
              </a:spcBef>
              <a:buFont typeface="Arial"/>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Small messages</a:t>
            </a:r>
          </a:p>
        </p:txBody>
      </p:sp>
      <p:sp>
        <p:nvSpPr>
          <p:cNvPr id="23" name="Shape 23"/>
          <p:cNvSpPr txBox="1"/>
          <p:nvPr/>
        </p:nvSpPr>
        <p:spPr>
          <a:xfrm>
            <a:off x="762000" y="3708400"/>
            <a:ext cx="3810000" cy="787400"/>
          </a:xfrm>
          <a:prstGeom prst="roundRect">
            <a:avLst/>
          </a:prstGeom>
          <a:solidFill>
            <a:schemeClr val="bg1">
              <a:lumMod val="95000"/>
            </a:schemeClr>
          </a:solidFill>
          <a:ln w="28575">
            <a:noFill/>
          </a:ln>
        </p:spPr>
        <p:txBody>
          <a:bodyPr wrap="square" lIns="88900" tIns="50800" rIns="88900" bIns="50800" anchor="ctr">
            <a:normAutofit/>
          </a:bodyPr>
          <a:lstStyle/>
          <a:p>
            <a:pPr algn="ctr">
              <a:buNone/>
            </a:pPr>
            <a:r>
              <a:rPr lang="en-US" sz="1600" b="1" dirty="0">
                <a:solidFill>
                  <a:srgbClr val="000000"/>
                </a:solidFill>
              </a:rPr>
              <a:t>Wide</a:t>
            </a:r>
            <a:r>
              <a:rPr lang="en-US" sz="1600" b="0" dirty="0">
                <a:solidFill>
                  <a:srgbClr val="000000"/>
                </a:solidFill>
              </a:rPr>
              <a:t> links</a:t>
            </a:r>
          </a:p>
          <a:p>
            <a:pPr algn="ctr">
              <a:buNone/>
            </a:pPr>
            <a:r>
              <a:rPr lang="en-US" sz="1600" b="0" dirty="0">
                <a:solidFill>
                  <a:srgbClr val="000000"/>
                </a:solidFill>
              </a:rPr>
              <a:t>with </a:t>
            </a:r>
            <a:r>
              <a:rPr lang="en-US" sz="1600" b="1" dirty="0">
                <a:solidFill>
                  <a:srgbClr val="000000"/>
                </a:solidFill>
              </a:rPr>
              <a:t>high utilization</a:t>
            </a:r>
          </a:p>
        </p:txBody>
      </p:sp>
      <p:sp>
        <p:nvSpPr>
          <p:cNvPr id="24" name="Shape 24"/>
          <p:cNvSpPr txBox="1"/>
          <p:nvPr/>
        </p:nvSpPr>
        <p:spPr>
          <a:xfrm>
            <a:off x="5461000" y="3708400"/>
            <a:ext cx="5588000" cy="787400"/>
          </a:xfrm>
          <a:prstGeom prst="roundRect">
            <a:avLst/>
          </a:prstGeom>
          <a:solidFill>
            <a:schemeClr val="bg1">
              <a:lumMod val="95000"/>
            </a:schemeClr>
          </a:solidFill>
          <a:ln w="28575">
            <a:noFill/>
          </a:ln>
        </p:spPr>
        <p:txBody>
          <a:bodyPr wrap="square" lIns="88900" tIns="50800" rIns="88900" bIns="50800" anchor="ctr">
            <a:normAutofit/>
          </a:bodyPr>
          <a:lstStyle/>
          <a:p>
            <a:pPr algn="ctr">
              <a:buNone/>
            </a:pPr>
            <a:r>
              <a:rPr lang="en-US" sz="1600" b="1" dirty="0">
                <a:solidFill>
                  <a:srgbClr val="000000"/>
                </a:solidFill>
              </a:rPr>
              <a:t>Narrow</a:t>
            </a:r>
            <a:r>
              <a:rPr lang="en-US" sz="1600" b="0" dirty="0">
                <a:solidFill>
                  <a:srgbClr val="000000"/>
                </a:solidFill>
              </a:rPr>
              <a:t> links with</a:t>
            </a:r>
          </a:p>
          <a:p>
            <a:pPr algn="ctr">
              <a:buNone/>
            </a:pPr>
            <a:r>
              <a:rPr lang="en-US" sz="1600" b="0" dirty="0">
                <a:solidFill>
                  <a:srgbClr val="000000"/>
                </a:solidFill>
              </a:rPr>
              <a:t>low utilization</a:t>
            </a:r>
          </a:p>
        </p:txBody>
      </p:sp>
      <p:sp>
        <p:nvSpPr>
          <p:cNvPr id="25" name="Shape 25"/>
          <p:cNvSpPr txBox="1"/>
          <p:nvPr/>
        </p:nvSpPr>
        <p:spPr>
          <a:xfrm>
            <a:off x="1079500" y="4800600"/>
            <a:ext cx="3175000" cy="1270000"/>
          </a:xfrm>
          <a:prstGeom prst="rightArrow">
            <a:avLst/>
          </a:prstGeom>
          <a:solidFill>
            <a:srgbClr val="1F72B8"/>
          </a:solidFill>
          <a:ln>
            <a:noFill/>
          </a:ln>
        </p:spPr>
        <p:txBody>
          <a:bodyPr wrap="square" lIns="88900" tIns="50800" rIns="88900" bIns="50800" anchor="ctr">
            <a:normAutofit/>
          </a:bodyPr>
          <a:lstStyle/>
          <a:p>
            <a:pPr algn="ctr">
              <a:buNone/>
            </a:pPr>
            <a:r>
              <a:rPr lang="en-US" sz="1400" b="1" dirty="0">
                <a:solidFill>
                  <a:srgbClr val="FFFFFF"/>
                </a:solidFill>
              </a:rPr>
              <a:t>Wide</a:t>
            </a:r>
          </a:p>
        </p:txBody>
      </p:sp>
      <p:sp>
        <p:nvSpPr>
          <p:cNvPr id="26" name="Shape 26"/>
          <p:cNvSpPr txBox="1"/>
          <p:nvPr/>
        </p:nvSpPr>
        <p:spPr>
          <a:xfrm>
            <a:off x="6885722" y="4800600"/>
            <a:ext cx="3175000" cy="558800"/>
          </a:xfrm>
          <a:prstGeom prst="rightArrow">
            <a:avLst/>
          </a:prstGeom>
          <a:solidFill>
            <a:srgbClr val="1F72B8"/>
          </a:solidFill>
          <a:ln>
            <a:noFill/>
          </a:ln>
        </p:spPr>
        <p:txBody>
          <a:bodyPr wrap="square" lIns="88900" tIns="50800" rIns="88900" bIns="50800" anchor="ctr">
            <a:normAutofit fontScale="92500" lnSpcReduction="20000"/>
          </a:bodyPr>
          <a:lstStyle/>
          <a:p>
            <a:pPr algn="ctr">
              <a:buNone/>
            </a:pPr>
            <a:r>
              <a:rPr lang="en-US" sz="1400" b="1" dirty="0">
                <a:solidFill>
                  <a:srgbClr val="FFFFFF"/>
                </a:solidFill>
              </a:rPr>
              <a:t>Req</a:t>
            </a:r>
          </a:p>
        </p:txBody>
      </p:sp>
      <p:sp>
        <p:nvSpPr>
          <p:cNvPr id="27" name="Shape 27"/>
          <p:cNvSpPr txBox="1"/>
          <p:nvPr/>
        </p:nvSpPr>
        <p:spPr>
          <a:xfrm>
            <a:off x="6786816" y="5511800"/>
            <a:ext cx="3175000" cy="558800"/>
          </a:xfrm>
          <a:prstGeom prst="leftArrow">
            <a:avLst/>
          </a:prstGeom>
          <a:solidFill>
            <a:srgbClr val="1F72B8"/>
          </a:solidFill>
          <a:ln>
            <a:noFill/>
          </a:ln>
        </p:spPr>
        <p:txBody>
          <a:bodyPr wrap="square" lIns="88900" tIns="50800" rIns="88900" bIns="50800" anchor="ctr">
            <a:normAutofit fontScale="92500" lnSpcReduction="20000"/>
          </a:bodyPr>
          <a:lstStyle/>
          <a:p>
            <a:pPr algn="ctr">
              <a:buNone/>
            </a:pPr>
            <a:r>
              <a:rPr lang="en-US" sz="1400" b="1" dirty="0">
                <a:solidFill>
                  <a:srgbClr val="FFFFFF"/>
                </a:solidFill>
              </a:rPr>
              <a:t>Rsp</a:t>
            </a:r>
          </a:p>
        </p:txBody>
      </p:sp>
      <p:sp>
        <p:nvSpPr>
          <p:cNvPr id="3" name="Shape 25">
            <a:extLst>
              <a:ext uri="{FF2B5EF4-FFF2-40B4-BE49-F238E27FC236}">
                <a16:creationId xmlns:a16="http://schemas.microsoft.com/office/drawing/2014/main" id="{F5C5D454-904E-BB2E-3018-743F9E39819E}"/>
              </a:ext>
            </a:extLst>
          </p:cNvPr>
          <p:cNvSpPr txBox="1"/>
          <p:nvPr/>
        </p:nvSpPr>
        <p:spPr>
          <a:xfrm>
            <a:off x="1102552" y="4800600"/>
            <a:ext cx="3175000" cy="1270000"/>
          </a:xfrm>
          <a:prstGeom prst="rightArrow">
            <a:avLst/>
          </a:prstGeom>
          <a:solidFill>
            <a:srgbClr val="1F72B8"/>
          </a:solidFill>
          <a:ln>
            <a:noFill/>
          </a:ln>
        </p:spPr>
        <p:txBody>
          <a:bodyPr wrap="square" lIns="88900" tIns="50800" rIns="88900" bIns="50800" anchor="ctr">
            <a:normAutofit/>
          </a:bodyPr>
          <a:lstStyle/>
          <a:p>
            <a:pPr algn="ctr">
              <a:buNone/>
            </a:pPr>
            <a:r>
              <a:rPr lang="en-US" sz="1400" b="1" dirty="0">
                <a:solidFill>
                  <a:srgbClr val="FFFFFF"/>
                </a:solidFill>
              </a:rPr>
              <a:t>Wide</a:t>
            </a:r>
          </a:p>
        </p:txBody>
      </p:sp>
      <p:sp>
        <p:nvSpPr>
          <p:cNvPr id="4" name="Shape 26">
            <a:extLst>
              <a:ext uri="{FF2B5EF4-FFF2-40B4-BE49-F238E27FC236}">
                <a16:creationId xmlns:a16="http://schemas.microsoft.com/office/drawing/2014/main" id="{30E1C5C5-7BF9-6D82-5E7F-7440EA3EC553}"/>
              </a:ext>
            </a:extLst>
          </p:cNvPr>
          <p:cNvSpPr txBox="1"/>
          <p:nvPr/>
        </p:nvSpPr>
        <p:spPr>
          <a:xfrm>
            <a:off x="6908774" y="4800600"/>
            <a:ext cx="3175000" cy="558800"/>
          </a:xfrm>
          <a:prstGeom prst="rightArrow">
            <a:avLst/>
          </a:prstGeom>
          <a:solidFill>
            <a:srgbClr val="1F72B8"/>
          </a:solidFill>
          <a:ln>
            <a:noFill/>
          </a:ln>
        </p:spPr>
        <p:txBody>
          <a:bodyPr wrap="square" lIns="88900" tIns="50800" rIns="88900" bIns="50800" anchor="ctr">
            <a:normAutofit fontScale="92500" lnSpcReduction="20000"/>
          </a:bodyPr>
          <a:lstStyle/>
          <a:p>
            <a:pPr algn="ctr">
              <a:buNone/>
            </a:pPr>
            <a:r>
              <a:rPr lang="en-US" sz="1400" b="1" dirty="0">
                <a:solidFill>
                  <a:srgbClr val="FFFFFF"/>
                </a:solidFill>
              </a:rPr>
              <a:t>Req</a:t>
            </a:r>
          </a:p>
        </p:txBody>
      </p:sp>
    </p:spTree>
    <p:extLst>
      <p:ext uri="{BB962C8B-B14F-4D97-AF65-F5344CB8AC3E}">
        <p14:creationId xmlns:p14="http://schemas.microsoft.com/office/powerpoint/2010/main" val="27473902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1DD03F-DA7B-2ABA-488A-B7EF80CCEDAE}"/>
              </a:ext>
            </a:extLst>
          </p:cNvPr>
          <p:cNvSpPr>
            <a:spLocks noGrp="1"/>
          </p:cNvSpPr>
          <p:nvPr>
            <p:ph type="title"/>
          </p:nvPr>
        </p:nvSpPr>
        <p:spPr/>
        <p:txBody>
          <a:bodyPr/>
          <a:lstStyle/>
          <a:p>
            <a:r>
              <a:rPr lang="zh-TW" altLang="zh-TW" dirty="0">
                <a:solidFill>
                  <a:srgbClr val="000000"/>
                </a:solidFill>
              </a:rPr>
              <a:t>AXI to </a:t>
            </a:r>
            <a:r>
              <a:rPr lang="en-US" altLang="zh-TW" dirty="0">
                <a:solidFill>
                  <a:srgbClr val="000000"/>
                </a:solidFill>
                <a:latin typeface="Calibri" pitchFamily="34" charset="0"/>
                <a:cs typeface="Calibri" pitchFamily="34" charset="0"/>
              </a:rPr>
              <a:t>Physical link</a:t>
            </a:r>
            <a:r>
              <a:rPr lang="zh-TW" altLang="en-US" dirty="0">
                <a:solidFill>
                  <a:srgbClr val="000000"/>
                </a:solidFill>
                <a:latin typeface="Calibri" panose="020F0502020204030204" pitchFamily="34" charset="0"/>
                <a:cs typeface="Calibri" panose="020F0502020204030204" pitchFamily="34" charset="0"/>
              </a:rPr>
              <a:t> </a:t>
            </a:r>
            <a:r>
              <a:rPr lang="en-US" altLang="zh-TW" dirty="0">
                <a:solidFill>
                  <a:srgbClr val="000000"/>
                </a:solidFill>
                <a:latin typeface="Calibri" panose="020F0502020204030204" pitchFamily="34" charset="0"/>
                <a:cs typeface="Calibri" panose="020F0502020204030204" pitchFamily="34" charset="0"/>
              </a:rPr>
              <a:t>mapping</a:t>
            </a:r>
          </a:p>
        </p:txBody>
      </p:sp>
      <p:graphicFrame>
        <p:nvGraphicFramePr>
          <p:cNvPr id="6" name="表格 5">
            <a:extLst>
              <a:ext uri="{FF2B5EF4-FFF2-40B4-BE49-F238E27FC236}">
                <a16:creationId xmlns:a16="http://schemas.microsoft.com/office/drawing/2014/main" id="{6D73EE83-F674-4D1B-BF6A-ED9ADF6FA7BB}"/>
              </a:ext>
            </a:extLst>
          </p:cNvPr>
          <p:cNvGraphicFramePr>
            <a:graphicFrameLocks noGrp="1"/>
          </p:cNvGraphicFramePr>
          <p:nvPr>
            <p:extLst>
              <p:ext uri="{D42A27DB-BD31-4B8C-83A1-F6EECF244321}">
                <p14:modId xmlns:p14="http://schemas.microsoft.com/office/powerpoint/2010/main" val="1736754798"/>
              </p:ext>
            </p:extLst>
          </p:nvPr>
        </p:nvGraphicFramePr>
        <p:xfrm>
          <a:off x="2889763" y="3429000"/>
          <a:ext cx="6046767" cy="2522450"/>
        </p:xfrm>
        <a:graphic>
          <a:graphicData uri="http://schemas.openxmlformats.org/drawingml/2006/table">
            <a:tbl>
              <a:tblPr/>
              <a:tblGrid>
                <a:gridCol w="1217237">
                  <a:extLst>
                    <a:ext uri="{9D8B030D-6E8A-4147-A177-3AD203B41FA5}">
                      <a16:colId xmlns:a16="http://schemas.microsoft.com/office/drawing/2014/main" val="20000"/>
                    </a:ext>
                  </a:extLst>
                </a:gridCol>
                <a:gridCol w="882889">
                  <a:extLst>
                    <a:ext uri="{9D8B030D-6E8A-4147-A177-3AD203B41FA5}">
                      <a16:colId xmlns:a16="http://schemas.microsoft.com/office/drawing/2014/main" val="20001"/>
                    </a:ext>
                  </a:extLst>
                </a:gridCol>
                <a:gridCol w="1923905">
                  <a:extLst>
                    <a:ext uri="{9D8B030D-6E8A-4147-A177-3AD203B41FA5}">
                      <a16:colId xmlns:a16="http://schemas.microsoft.com/office/drawing/2014/main" val="20002"/>
                    </a:ext>
                  </a:extLst>
                </a:gridCol>
                <a:gridCol w="2022736">
                  <a:extLst>
                    <a:ext uri="{9D8B030D-6E8A-4147-A177-3AD203B41FA5}">
                      <a16:colId xmlns:a16="http://schemas.microsoft.com/office/drawing/2014/main" val="20003"/>
                    </a:ext>
                  </a:extLst>
                </a:gridCol>
              </a:tblGrid>
              <a:tr h="313690">
                <a:tc gridSpan="2">
                  <a:txBody>
                    <a:bodyPr/>
                    <a:lstStyle/>
                    <a:p>
                      <a:pPr algn="l"/>
                      <a:endParaRPr lang="en-US" sz="1600" dirty="0"/>
                    </a:p>
                  </a:txBody>
                  <a:tcPr marL="68580" marR="68580" anchor="ctr">
                    <a:lnT w="19050" cap="flat" cmpd="sng" algn="ctr">
                      <a:solidFill>
                        <a:srgbClr val="000000"/>
                      </a:solidFill>
                      <a:prstDash val="solid"/>
                      <a:round/>
                    </a:lnT>
                    <a:noFill/>
                  </a:tcPr>
                </a:tc>
                <a:tc hMerge="1">
                  <a:txBody>
                    <a:bodyPr/>
                    <a:lstStyle/>
                    <a:p>
                      <a:pPr algn="l"/>
                      <a:endParaRPr lang="en-US" sz="1600" dirty="0"/>
                    </a:p>
                  </a:txBody>
                  <a:tcPr marL="68580" marR="68580" anchor="ctr">
                    <a:lnT w="19050" cap="flat" cmpd="sng" algn="ctr">
                      <a:solidFill>
                        <a:srgbClr val="000000"/>
                      </a:solidFill>
                      <a:prstDash val="solid"/>
                      <a:round/>
                    </a:lnT>
                    <a:noFill/>
                  </a:tcPr>
                </a:tc>
                <a:tc gridSpan="2">
                  <a:txBody>
                    <a:bodyPr/>
                    <a:lstStyle/>
                    <a:p>
                      <a:pPr algn="ctr"/>
                      <a:r>
                        <a:rPr lang="en-US" altLang="zh-TW" sz="1600" b="1" dirty="0">
                          <a:solidFill>
                            <a:srgbClr val="000000"/>
                          </a:solidFill>
                          <a:latin typeface="Calibri" pitchFamily="34" charset="0"/>
                          <a:ea typeface="微軟正黑體"/>
                          <a:cs typeface="Calibri" pitchFamily="34" charset="0"/>
                        </a:rPr>
                        <a:t>Mapping &amp; primary payload</a:t>
                      </a:r>
                    </a:p>
                  </a:txBody>
                  <a:tcPr marL="68580" marR="68580" anchor="ctr">
                    <a:lnT w="19050" cap="flat" cmpd="sng" algn="ctr">
                      <a:solidFill>
                        <a:srgbClr val="000000"/>
                      </a:solidFill>
                      <a:prstDash val="solid"/>
                      <a:round/>
                    </a:lnT>
                    <a:lnB w="9525" cap="flat" cmpd="sng" algn="ctr">
                      <a:solidFill>
                        <a:srgbClr val="000000"/>
                      </a:solidFill>
                      <a:prstDash val="solid"/>
                      <a:round/>
                    </a:lnB>
                    <a:noFill/>
                  </a:tcPr>
                </a:tc>
                <a:tc hMerge="1">
                  <a:txBody>
                    <a:bodyPr/>
                    <a:lstStyle/>
                    <a:p>
                      <a:pPr algn="l"/>
                      <a:endParaRPr lang="en-US" sz="1600"/>
                    </a:p>
                  </a:txBody>
                  <a:tcPr marL="68580" marR="68580" anchor="ctr">
                    <a:lnT w="19050" cap="flat" cmpd="sng" algn="ctr">
                      <a:solidFill>
                        <a:srgbClr val="000000"/>
                      </a:solidFill>
                      <a:prstDash val="solid"/>
                      <a:round/>
                    </a:lnT>
                    <a:noFill/>
                  </a:tcPr>
                </a:tc>
                <a:extLst>
                  <a:ext uri="{0D108BD9-81ED-4DB2-BD59-A6C34878D82A}">
                    <a16:rowId xmlns:a16="http://schemas.microsoft.com/office/drawing/2014/main" val="10000"/>
                  </a:ext>
                </a:extLst>
              </a:tr>
              <a:tr h="449810">
                <a:tc>
                  <a:txBody>
                    <a:bodyPr/>
                    <a:lstStyle/>
                    <a:p>
                      <a:pPr algn="l"/>
                      <a:r>
                        <a:rPr lang="en-US" altLang="zh-TW" sz="1600" b="1" dirty="0">
                          <a:solidFill>
                            <a:srgbClr val="000000"/>
                          </a:solidFill>
                          <a:latin typeface="Calibri" pitchFamily="34" charset="0"/>
                          <a:ea typeface="微軟正黑體"/>
                          <a:cs typeface="Calibri" pitchFamily="34" charset="0"/>
                        </a:rPr>
                        <a:t>Physical link</a:t>
                      </a:r>
                    </a:p>
                  </a:txBody>
                  <a:tcPr marL="68580" marR="68580" anchor="ctr">
                    <a:lnB w="9525" cap="flat" cmpd="sng" algn="ctr">
                      <a:solidFill>
                        <a:srgbClr val="000000"/>
                      </a:solidFill>
                      <a:prstDash val="solid"/>
                      <a:round/>
                    </a:lnB>
                    <a:noFill/>
                  </a:tcPr>
                </a:tc>
                <a:tc>
                  <a:txBody>
                    <a:bodyPr/>
                    <a:lstStyle/>
                    <a:p>
                      <a:pPr algn="ctr"/>
                      <a:r>
                        <a:rPr lang="en-US" altLang="zh-TW" sz="1600" b="1" dirty="0">
                          <a:solidFill>
                            <a:srgbClr val="000000"/>
                          </a:solidFill>
                          <a:latin typeface="Calibri" pitchFamily="34" charset="0"/>
                          <a:ea typeface="微軟正黑體"/>
                          <a:cs typeface="Calibri" pitchFamily="34" charset="0"/>
                        </a:rPr>
                        <a:t>Size</a:t>
                      </a:r>
                    </a:p>
                  </a:txBody>
                  <a:tcPr marL="68580" marR="68580" anchor="ctr">
                    <a:lnB w="9525" cap="flat" cmpd="sng" algn="ctr">
                      <a:solidFill>
                        <a:srgbClr val="000000"/>
                      </a:solidFill>
                      <a:prstDash val="solid"/>
                      <a:round/>
                    </a:lnB>
                    <a:noFill/>
                  </a:tcPr>
                </a:tc>
                <a:tc>
                  <a:txBody>
                    <a:bodyPr/>
                    <a:lstStyle/>
                    <a:p>
                      <a:pPr algn="ctr"/>
                      <a:r>
                        <a:rPr lang="en-US" altLang="zh-TW" sz="1600" b="1" dirty="0">
                          <a:solidFill>
                            <a:srgbClr val="000000"/>
                          </a:solidFill>
                          <a:latin typeface="Calibri" pitchFamily="34" charset="0"/>
                          <a:ea typeface="微軟正黑體"/>
                          <a:cs typeface="Calibri" pitchFamily="34" charset="0"/>
                        </a:rPr>
                        <a:t>Narrow class</a:t>
                      </a:r>
                    </a:p>
                  </a:txBody>
                  <a:tcPr marL="68580" marR="68580" anchor="ctr">
                    <a:lnT w="9525" cap="flat" cmpd="sng" algn="ctr">
                      <a:solidFill>
                        <a:srgbClr val="000000"/>
                      </a:solidFill>
                      <a:prstDash val="solid"/>
                      <a:round/>
                      <a:headEnd type="none" w="med" len="med"/>
                      <a:tailEnd type="none" w="med" len="med"/>
                    </a:lnT>
                    <a:lnB w="9525" cap="flat" cmpd="sng" algn="ctr">
                      <a:solidFill>
                        <a:srgbClr val="000000"/>
                      </a:solidFill>
                      <a:prstDash val="solid"/>
                      <a:round/>
                    </a:lnB>
                    <a:noFill/>
                  </a:tcPr>
                </a:tc>
                <a:tc>
                  <a:txBody>
                    <a:bodyPr/>
                    <a:lstStyle/>
                    <a:p>
                      <a:pPr algn="ctr"/>
                      <a:r>
                        <a:rPr lang="en-US" altLang="zh-TW" sz="1600" b="1" dirty="0">
                          <a:solidFill>
                            <a:srgbClr val="000000"/>
                          </a:solidFill>
                          <a:latin typeface="Calibri" pitchFamily="34" charset="0"/>
                          <a:ea typeface="微軟正黑體"/>
                          <a:cs typeface="Calibri" pitchFamily="34" charset="0"/>
                        </a:rPr>
                        <a:t>Data class</a:t>
                      </a:r>
                    </a:p>
                  </a:txBody>
                  <a:tcPr marL="68580" marR="68580" anchor="ctr">
                    <a:lnB w="9525" cap="flat" cmpd="sng" algn="ctr">
                      <a:solidFill>
                        <a:srgbClr val="000000"/>
                      </a:solidFill>
                      <a:prstDash val="solid"/>
                      <a:round/>
                    </a:lnB>
                    <a:noFill/>
                  </a:tcPr>
                </a:tc>
                <a:extLst>
                  <a:ext uri="{0D108BD9-81ED-4DB2-BD59-A6C34878D82A}">
                    <a16:rowId xmlns:a16="http://schemas.microsoft.com/office/drawing/2014/main" val="10001"/>
                  </a:ext>
                </a:extLst>
              </a:tr>
              <a:tr h="548958">
                <a:tc>
                  <a:txBody>
                    <a:bodyPr/>
                    <a:lstStyle/>
                    <a:p>
                      <a:pPr algn="l"/>
                      <a:r>
                        <a:rPr lang="en-US" altLang="zh-TW" sz="1600" dirty="0">
                          <a:solidFill>
                            <a:srgbClr val="000000"/>
                          </a:solidFill>
                          <a:latin typeface="Consolas" pitchFamily="34" charset="0"/>
                          <a:ea typeface="微軟正黑體"/>
                          <a:cs typeface="Consolas" pitchFamily="34" charset="0"/>
                        </a:rPr>
                        <a:t>REQ</a:t>
                      </a:r>
                    </a:p>
                  </a:txBody>
                  <a:tcPr marL="68580" marR="68580" anchor="ctr">
                    <a:lnT w="9525" cap="flat" cmpd="sng" algn="ctr">
                      <a:solidFill>
                        <a:srgbClr val="000000"/>
                      </a:solidFill>
                      <a:prstDash val="solid"/>
                      <a:round/>
                      <a:headEnd type="none" w="med" len="med"/>
                      <a:tailEnd type="none" w="med" len="med"/>
                    </a:lnT>
                    <a:lnB w="9525" cap="flat" cmpd="sng" algn="ctr">
                      <a:solidFill>
                        <a:srgbClr val="000000"/>
                      </a:solidFill>
                      <a:prstDash val="solid"/>
                      <a:round/>
                    </a:lnB>
                    <a:noFill/>
                  </a:tcPr>
                </a:tc>
                <a:tc>
                  <a:txBody>
                    <a:bodyPr/>
                    <a:lstStyle/>
                    <a:p>
                      <a:pPr algn="ctr"/>
                      <a:r>
                        <a:rPr lang="en-US" altLang="zh-TW" sz="1600" dirty="0">
                          <a:solidFill>
                            <a:srgbClr val="000000"/>
                          </a:solidFill>
                          <a:latin typeface="Calibri" pitchFamily="34" charset="0"/>
                          <a:ea typeface="微軟正黑體"/>
                          <a:cs typeface="Calibri" pitchFamily="34" charset="0"/>
                        </a:rPr>
                        <a:t>137b</a:t>
                      </a:r>
                    </a:p>
                  </a:txBody>
                  <a:tcPr marL="68580" marR="68580" anchor="ctr">
                    <a:lnT w="9525" cap="flat" cmpd="sng" algn="ctr">
                      <a:solidFill>
                        <a:srgbClr val="000000"/>
                      </a:solidFill>
                      <a:prstDash val="solid"/>
                      <a:round/>
                      <a:headEnd type="none" w="med" len="med"/>
                      <a:tailEnd type="none" w="med" len="med"/>
                    </a:lnT>
                    <a:lnB w="9525" cap="flat" cmpd="sng" algn="ctr">
                      <a:solidFill>
                        <a:srgbClr val="000000"/>
                      </a:solidFill>
                      <a:prstDash val="solid"/>
                      <a:round/>
                    </a:lnB>
                    <a:noFill/>
                  </a:tcPr>
                </a:tc>
                <a:tc>
                  <a:txBody>
                    <a:bodyPr/>
                    <a:lstStyle/>
                    <a:p>
                      <a:pPr algn="l"/>
                      <a:r>
                        <a:rPr lang="en-US" altLang="zh-TW" sz="1600" dirty="0">
                          <a:solidFill>
                            <a:srgbClr val="000000"/>
                          </a:solidFill>
                          <a:latin typeface="Calibri" pitchFamily="34" charset="0"/>
                          <a:ea typeface="微軟正黑體"/>
                          <a:cs typeface="Calibri" pitchFamily="34" charset="0"/>
                        </a:rPr>
                        <a:t>AW, AR: 48 b address</a:t>
                      </a:r>
                    </a:p>
                    <a:p>
                      <a:pPr algn="l"/>
                      <a:r>
                        <a:rPr lang="en-US" altLang="zh-TW" sz="1600" dirty="0">
                          <a:solidFill>
                            <a:srgbClr val="000000"/>
                          </a:solidFill>
                          <a:latin typeface="Calibri" pitchFamily="34" charset="0"/>
                          <a:ea typeface="微軟正黑體"/>
                          <a:cs typeface="Calibri" pitchFamily="34" charset="0"/>
                        </a:rPr>
                        <a:t>W: 64 b data</a:t>
                      </a:r>
                    </a:p>
                  </a:txBody>
                  <a:tcPr marL="68580" marR="68580" anchor="ctr">
                    <a:lnT w="9525" cap="flat" cmpd="sng" algn="ctr">
                      <a:solidFill>
                        <a:srgbClr val="000000"/>
                      </a:solidFill>
                      <a:prstDash val="solid"/>
                      <a:round/>
                      <a:headEnd type="none" w="med" len="med"/>
                      <a:tailEnd type="none" w="med" len="med"/>
                    </a:lnT>
                    <a:lnB w="9525" cap="flat" cmpd="sng" algn="ctr">
                      <a:solidFill>
                        <a:srgbClr val="000000"/>
                      </a:solidFill>
                      <a:prstDash val="solid"/>
                      <a:round/>
                    </a:lnB>
                    <a:noFill/>
                  </a:tcPr>
                </a:tc>
                <a:tc>
                  <a:txBody>
                    <a:bodyPr/>
                    <a:lstStyle/>
                    <a:p>
                      <a:pPr algn="l"/>
                      <a:r>
                        <a:rPr lang="en-US" altLang="zh-TW" sz="1600" dirty="0">
                          <a:solidFill>
                            <a:srgbClr val="000000"/>
                          </a:solidFill>
                          <a:latin typeface="Calibri" pitchFamily="34" charset="0"/>
                          <a:ea typeface="微軟正黑體"/>
                          <a:cs typeface="Calibri" pitchFamily="34" charset="0"/>
                        </a:rPr>
                        <a:t>AR: 48 b address</a:t>
                      </a:r>
                    </a:p>
                  </a:txBody>
                  <a:tcPr marL="68580" marR="68580" anchor="ctr">
                    <a:lnT w="9525" cap="flat" cmpd="sng" algn="ctr">
                      <a:solidFill>
                        <a:srgbClr val="000000"/>
                      </a:solidFill>
                      <a:prstDash val="solid"/>
                      <a:round/>
                      <a:headEnd type="none" w="med" len="med"/>
                      <a:tailEnd type="none" w="med" len="med"/>
                    </a:lnT>
                    <a:lnB w="9525" cap="flat" cmpd="sng" algn="ctr">
                      <a:solidFill>
                        <a:srgbClr val="000000"/>
                      </a:solidFill>
                      <a:prstDash val="solid"/>
                      <a:round/>
                    </a:lnB>
                    <a:noFill/>
                  </a:tcPr>
                </a:tc>
                <a:extLst>
                  <a:ext uri="{0D108BD9-81ED-4DB2-BD59-A6C34878D82A}">
                    <a16:rowId xmlns:a16="http://schemas.microsoft.com/office/drawing/2014/main" val="10002"/>
                  </a:ext>
                </a:extLst>
              </a:tr>
              <a:tr h="548958">
                <a:tc>
                  <a:txBody>
                    <a:bodyPr/>
                    <a:lstStyle/>
                    <a:p>
                      <a:pPr algn="l"/>
                      <a:r>
                        <a:rPr lang="en-US" altLang="zh-TW" sz="1600" dirty="0">
                          <a:solidFill>
                            <a:srgbClr val="000000"/>
                          </a:solidFill>
                          <a:latin typeface="Consolas" pitchFamily="34" charset="0"/>
                          <a:ea typeface="微軟正黑體"/>
                          <a:cs typeface="Consolas" pitchFamily="34" charset="0"/>
                        </a:rPr>
                        <a:t>RSP</a:t>
                      </a:r>
                    </a:p>
                  </a:txBody>
                  <a:tcPr marL="68580" marR="68580" anchor="ctr">
                    <a:lnT w="9525" cap="flat" cmpd="sng" algn="ctr">
                      <a:solidFill>
                        <a:srgbClr val="000000"/>
                      </a:solidFill>
                      <a:prstDash val="solid"/>
                      <a:round/>
                      <a:headEnd type="none" w="med" len="med"/>
                      <a:tailEnd type="none" w="med" len="med"/>
                    </a:lnT>
                    <a:lnB w="9525" cap="flat" cmpd="sng" algn="ctr">
                      <a:solidFill>
                        <a:srgbClr val="000000"/>
                      </a:solidFill>
                      <a:prstDash val="solid"/>
                      <a:round/>
                    </a:lnB>
                    <a:noFill/>
                  </a:tcPr>
                </a:tc>
                <a:tc>
                  <a:txBody>
                    <a:bodyPr/>
                    <a:lstStyle/>
                    <a:p>
                      <a:pPr algn="ctr"/>
                      <a:r>
                        <a:rPr lang="en-US" altLang="zh-TW" sz="1600" dirty="0">
                          <a:solidFill>
                            <a:srgbClr val="000000"/>
                          </a:solidFill>
                          <a:latin typeface="Calibri" pitchFamily="34" charset="0"/>
                          <a:ea typeface="微軟正黑體"/>
                          <a:cs typeface="Calibri" pitchFamily="34" charset="0"/>
                        </a:rPr>
                        <a:t>127b</a:t>
                      </a:r>
                    </a:p>
                  </a:txBody>
                  <a:tcPr marL="68580" marR="68580" anchor="ctr">
                    <a:lnT w="9525" cap="flat" cmpd="sng" algn="ctr">
                      <a:solidFill>
                        <a:srgbClr val="000000"/>
                      </a:solidFill>
                      <a:prstDash val="solid"/>
                      <a:round/>
                      <a:headEnd type="none" w="med" len="med"/>
                      <a:tailEnd type="none" w="med" len="med"/>
                    </a:lnT>
                    <a:lnB w="9525" cap="flat" cmpd="sng" algn="ctr">
                      <a:solidFill>
                        <a:srgbClr val="000000"/>
                      </a:solidFill>
                      <a:prstDash val="solid"/>
                      <a:round/>
                    </a:lnB>
                    <a:noFill/>
                  </a:tcPr>
                </a:tc>
                <a:tc>
                  <a:txBody>
                    <a:bodyPr/>
                    <a:lstStyle/>
                    <a:p>
                      <a:pPr algn="l"/>
                      <a:r>
                        <a:rPr lang="en-US" altLang="zh-TW" sz="1600" dirty="0">
                          <a:solidFill>
                            <a:srgbClr val="000000"/>
                          </a:solidFill>
                          <a:latin typeface="Calibri" pitchFamily="34" charset="0"/>
                          <a:ea typeface="微軟正黑體"/>
                          <a:cs typeface="Calibri" pitchFamily="34" charset="0"/>
                        </a:rPr>
                        <a:t>R: 64 b data</a:t>
                      </a:r>
                    </a:p>
                    <a:p>
                      <a:pPr algn="l"/>
                      <a:r>
                        <a:rPr lang="en-US" altLang="zh-TW" sz="1600" dirty="0">
                          <a:solidFill>
                            <a:srgbClr val="000000"/>
                          </a:solidFill>
                          <a:latin typeface="Calibri" pitchFamily="34" charset="0"/>
                          <a:ea typeface="微軟正黑體"/>
                          <a:cs typeface="Calibri" pitchFamily="34" charset="0"/>
                        </a:rPr>
                        <a:t>B: 2 b response</a:t>
                      </a:r>
                    </a:p>
                  </a:txBody>
                  <a:tcPr marL="68580" marR="68580" anchor="ctr">
                    <a:lnT w="9525" cap="flat" cmpd="sng" algn="ctr">
                      <a:solidFill>
                        <a:srgbClr val="000000"/>
                      </a:solidFill>
                      <a:prstDash val="solid"/>
                      <a:round/>
                      <a:headEnd type="none" w="med" len="med"/>
                      <a:tailEnd type="none" w="med" len="med"/>
                    </a:lnT>
                    <a:lnB w="9525" cap="flat" cmpd="sng" algn="ctr">
                      <a:solidFill>
                        <a:srgbClr val="000000"/>
                      </a:solidFill>
                      <a:prstDash val="solid"/>
                      <a:round/>
                    </a:lnB>
                    <a:noFill/>
                  </a:tcPr>
                </a:tc>
                <a:tc>
                  <a:txBody>
                    <a:bodyPr/>
                    <a:lstStyle/>
                    <a:p>
                      <a:pPr algn="l"/>
                      <a:r>
                        <a:rPr lang="en-US" altLang="zh-TW" sz="1600" dirty="0">
                          <a:solidFill>
                            <a:srgbClr val="000000"/>
                          </a:solidFill>
                          <a:latin typeface="Calibri" pitchFamily="34" charset="0"/>
                          <a:ea typeface="微軟正黑體"/>
                          <a:cs typeface="Calibri" pitchFamily="34" charset="0"/>
                        </a:rPr>
                        <a:t>B: 2 b response</a:t>
                      </a:r>
                    </a:p>
                  </a:txBody>
                  <a:tcPr marL="68580" marR="68580" anchor="ctr">
                    <a:lnT w="9525" cap="flat" cmpd="sng" algn="ctr">
                      <a:solidFill>
                        <a:srgbClr val="000000"/>
                      </a:solidFill>
                      <a:prstDash val="solid"/>
                      <a:round/>
                      <a:headEnd type="none" w="med" len="med"/>
                      <a:tailEnd type="none" w="med" len="med"/>
                    </a:lnT>
                    <a:lnB w="9525" cap="flat" cmpd="sng" algn="ctr">
                      <a:solidFill>
                        <a:srgbClr val="000000"/>
                      </a:solidFill>
                      <a:prstDash val="solid"/>
                      <a:round/>
                    </a:lnB>
                    <a:noFill/>
                  </a:tcPr>
                </a:tc>
                <a:extLst>
                  <a:ext uri="{0D108BD9-81ED-4DB2-BD59-A6C34878D82A}">
                    <a16:rowId xmlns:a16="http://schemas.microsoft.com/office/drawing/2014/main" val="10003"/>
                  </a:ext>
                </a:extLst>
              </a:tr>
              <a:tr h="548958">
                <a:tc>
                  <a:txBody>
                    <a:bodyPr/>
                    <a:lstStyle/>
                    <a:p>
                      <a:pPr algn="l"/>
                      <a:r>
                        <a:rPr lang="en-US" altLang="zh-TW" sz="1600" dirty="0">
                          <a:solidFill>
                            <a:srgbClr val="000000"/>
                          </a:solidFill>
                          <a:latin typeface="Consolas" pitchFamily="34" charset="0"/>
                          <a:ea typeface="微軟正黑體"/>
                          <a:cs typeface="Consolas" pitchFamily="34" charset="0"/>
                        </a:rPr>
                        <a:t>DAT</a:t>
                      </a:r>
                    </a:p>
                  </a:txBody>
                  <a:tcPr marL="68580" marR="68580" anchor="ctr">
                    <a:lnT w="9525" cap="flat" cmpd="sng" algn="ctr">
                      <a:solidFill>
                        <a:srgbClr val="000000"/>
                      </a:solidFill>
                      <a:prstDash val="solid"/>
                      <a:round/>
                      <a:headEnd type="none" w="med" len="med"/>
                      <a:tailEnd type="none" w="med" len="med"/>
                    </a:lnT>
                    <a:lnB w="19050" cap="flat" cmpd="sng" algn="ctr">
                      <a:solidFill>
                        <a:srgbClr val="000000"/>
                      </a:solidFill>
                      <a:prstDash val="solid"/>
                      <a:round/>
                    </a:lnB>
                    <a:noFill/>
                  </a:tcPr>
                </a:tc>
                <a:tc>
                  <a:txBody>
                    <a:bodyPr/>
                    <a:lstStyle/>
                    <a:p>
                      <a:pPr algn="ctr"/>
                      <a:r>
                        <a:rPr lang="en-US" altLang="zh-TW" sz="1600" dirty="0">
                          <a:solidFill>
                            <a:srgbClr val="000000"/>
                          </a:solidFill>
                          <a:latin typeface="Calibri" pitchFamily="34" charset="0"/>
                          <a:ea typeface="微軟正黑體"/>
                          <a:cs typeface="Calibri" pitchFamily="34" charset="0"/>
                        </a:rPr>
                        <a:t>629b</a:t>
                      </a:r>
                    </a:p>
                  </a:txBody>
                  <a:tcPr marL="68580" marR="68580" anchor="ctr">
                    <a:lnT w="9525" cap="flat" cmpd="sng" algn="ctr">
                      <a:solidFill>
                        <a:srgbClr val="000000"/>
                      </a:solidFill>
                      <a:prstDash val="solid"/>
                      <a:round/>
                      <a:headEnd type="none" w="med" len="med"/>
                      <a:tailEnd type="none" w="med" len="med"/>
                    </a:lnT>
                    <a:lnB w="19050" cap="flat" cmpd="sng" algn="ctr">
                      <a:solidFill>
                        <a:srgbClr val="000000"/>
                      </a:solidFill>
                      <a:prstDash val="solid"/>
                      <a:round/>
                    </a:lnB>
                    <a:noFill/>
                  </a:tcPr>
                </a:tc>
                <a:tc>
                  <a:txBody>
                    <a:bodyPr/>
                    <a:lstStyle/>
                    <a:p>
                      <a:pPr algn="l"/>
                      <a:r>
                        <a:rPr lang="en-US" altLang="zh-TW" sz="1600" dirty="0">
                          <a:solidFill>
                            <a:srgbClr val="000000"/>
                          </a:solidFill>
                          <a:latin typeface="Calibri" pitchFamily="34" charset="0"/>
                          <a:ea typeface="微軟正黑體"/>
                          <a:cs typeface="Calibri" pitchFamily="34" charset="0"/>
                        </a:rPr>
                        <a:t>-</a:t>
                      </a:r>
                    </a:p>
                  </a:txBody>
                  <a:tcPr marL="68580" marR="68580" anchor="ctr">
                    <a:lnT w="9525" cap="flat" cmpd="sng" algn="ctr">
                      <a:solidFill>
                        <a:srgbClr val="000000"/>
                      </a:solidFill>
                      <a:prstDash val="solid"/>
                      <a:round/>
                      <a:headEnd type="none" w="med" len="med"/>
                      <a:tailEnd type="none" w="med" len="med"/>
                    </a:lnT>
                    <a:lnB w="19050" cap="flat" cmpd="sng" algn="ctr">
                      <a:solidFill>
                        <a:srgbClr val="000000"/>
                      </a:solidFill>
                      <a:prstDash val="solid"/>
                      <a:round/>
                    </a:lnB>
                    <a:noFill/>
                  </a:tcPr>
                </a:tc>
                <a:tc>
                  <a:txBody>
                    <a:bodyPr/>
                    <a:lstStyle/>
                    <a:p>
                      <a:pPr algn="l"/>
                      <a:r>
                        <a:rPr lang="en-US" altLang="zh-TW" sz="1600" dirty="0">
                          <a:solidFill>
                            <a:srgbClr val="000000"/>
                          </a:solidFill>
                          <a:latin typeface="Calibri" pitchFamily="34" charset="0"/>
                          <a:ea typeface="微軟正黑體"/>
                          <a:cs typeface="Calibri" pitchFamily="34" charset="0"/>
                        </a:rPr>
                        <a:t>AW: 48 b address</a:t>
                      </a:r>
                    </a:p>
                    <a:p>
                      <a:pPr algn="l"/>
                      <a:r>
                        <a:rPr lang="en-US" altLang="zh-TW" sz="1600" dirty="0">
                          <a:solidFill>
                            <a:srgbClr val="000000"/>
                          </a:solidFill>
                          <a:latin typeface="Calibri" pitchFamily="34" charset="0"/>
                          <a:ea typeface="微軟正黑體"/>
                          <a:cs typeface="Calibri" pitchFamily="34" charset="0"/>
                        </a:rPr>
                        <a:t>W, R: 512 b data</a:t>
                      </a:r>
                    </a:p>
                  </a:txBody>
                  <a:tcPr marL="68580" marR="68580" anchor="ctr">
                    <a:lnT w="9525" cap="flat" cmpd="sng" algn="ctr">
                      <a:solidFill>
                        <a:srgbClr val="000000"/>
                      </a:solidFill>
                      <a:prstDash val="solid"/>
                      <a:round/>
                      <a:headEnd type="none" w="med" len="med"/>
                      <a:tailEnd type="none" w="med" len="med"/>
                    </a:lnT>
                    <a:lnB w="19050" cap="flat" cmpd="sng" algn="ctr">
                      <a:solidFill>
                        <a:srgbClr val="000000"/>
                      </a:solidFill>
                      <a:prstDash val="solid"/>
                      <a:round/>
                    </a:lnB>
                    <a:noFill/>
                  </a:tcPr>
                </a:tc>
                <a:extLst>
                  <a:ext uri="{0D108BD9-81ED-4DB2-BD59-A6C34878D82A}">
                    <a16:rowId xmlns:a16="http://schemas.microsoft.com/office/drawing/2014/main" val="10004"/>
                  </a:ext>
                </a:extLst>
              </a:tr>
            </a:tbl>
          </a:graphicData>
        </a:graphic>
      </p:graphicFrame>
      <p:sp>
        <p:nvSpPr>
          <p:cNvPr id="19" name="內容版面配置區 2">
            <a:extLst>
              <a:ext uri="{FF2B5EF4-FFF2-40B4-BE49-F238E27FC236}">
                <a16:creationId xmlns:a16="http://schemas.microsoft.com/office/drawing/2014/main" id="{936890A3-340A-5CC9-A660-4518A4D24C0E}"/>
              </a:ext>
            </a:extLst>
          </p:cNvPr>
          <p:cNvSpPr>
            <a:spLocks noGrp="1"/>
          </p:cNvSpPr>
          <p:nvPr>
            <p:ph idx="1"/>
          </p:nvPr>
        </p:nvSpPr>
        <p:spPr>
          <a:xfrm>
            <a:off x="478330" y="1206500"/>
            <a:ext cx="11439606" cy="1553633"/>
          </a:xfrm>
        </p:spPr>
        <p:txBody>
          <a:bodyPr>
            <a:noAutofit/>
          </a:bodyPr>
          <a:lstStyle/>
          <a:p>
            <a:r>
              <a:rPr lang="zh-TW" altLang="zh-TW" dirty="0">
                <a:solidFill>
                  <a:srgbClr val="000000"/>
                </a:solidFill>
                <a:latin typeface="Calibri" panose="020F0502020204030204" pitchFamily="34" charset="0"/>
                <a:cs typeface="Calibri" panose="020F0502020204030204" pitchFamily="34" charset="0"/>
              </a:rPr>
              <a:t>AXI4 requests and responses are always transmitted over separate physical links to avoid message-level deadlocks. The </a:t>
            </a:r>
            <a:r>
              <a:rPr lang="en-US" altLang="zh-TW" dirty="0">
                <a:solidFill>
                  <a:srgbClr val="000000"/>
                </a:solidFill>
                <a:latin typeface="Calibri" panose="020F0502020204030204" pitchFamily="34" charset="0"/>
                <a:ea typeface="Calibri" panose="020F0502020204030204" pitchFamily="34" charset="0"/>
                <a:cs typeface="Calibri" panose="020F0502020204030204" pitchFamily="34" charset="0"/>
              </a:rPr>
              <a:t>REQ</a:t>
            </a:r>
            <a:r>
              <a:rPr lang="zh-TW" altLang="zh-TW" dirty="0">
                <a:solidFill>
                  <a:srgbClr val="000000"/>
                </a:solidFill>
                <a:latin typeface="Calibri" panose="020F0502020204030204" pitchFamily="34" charset="0"/>
                <a:cs typeface="Calibri" panose="020F0502020204030204" pitchFamily="34" charset="0"/>
              </a:rPr>
              <a:t> and </a:t>
            </a:r>
            <a:r>
              <a:rPr lang="en-US" altLang="zh-TW" dirty="0">
                <a:solidFill>
                  <a:srgbClr val="000000"/>
                </a:solidFill>
                <a:latin typeface="Calibri" panose="020F0502020204030204" pitchFamily="34" charset="0"/>
                <a:ea typeface="Calibri" panose="020F0502020204030204" pitchFamily="34" charset="0"/>
                <a:cs typeface="Calibri" panose="020F0502020204030204" pitchFamily="34" charset="0"/>
              </a:rPr>
              <a:t>RSP</a:t>
            </a:r>
            <a:r>
              <a:rPr lang="zh-TW" altLang="zh-TW" dirty="0">
                <a:solidFill>
                  <a:srgbClr val="000000"/>
                </a:solidFill>
                <a:latin typeface="Calibri" panose="020F0502020204030204" pitchFamily="34" charset="0"/>
                <a:cs typeface="Calibri" panose="020F0502020204030204" pitchFamily="34" charset="0"/>
              </a:rPr>
              <a:t> links are mainly used to handle latency-sensitive requests and responses from compute cores.</a:t>
            </a:r>
            <a:endParaRPr lang="en-US" altLang="zh-TW"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altLang="zh-TW" dirty="0">
                <a:solidFill>
                  <a:srgbClr val="000000"/>
                </a:solidFill>
                <a:latin typeface="Consolas" pitchFamily="34" charset="0"/>
                <a:cs typeface="Consolas" pitchFamily="34" charset="0"/>
              </a:rPr>
              <a:t>REQ/RSP</a:t>
            </a:r>
            <a:r>
              <a:rPr lang="en-US" altLang="zh-TW" dirty="0">
                <a:solidFill>
                  <a:srgbClr val="000000"/>
                </a:solidFill>
                <a:latin typeface="Calibri" panose="020F0502020204030204" pitchFamily="34" charset="0"/>
                <a:ea typeface="Calibri" panose="020F0502020204030204" pitchFamily="34" charset="0"/>
                <a:cs typeface="Calibri" panose="020F0502020204030204" pitchFamily="34" charset="0"/>
              </a:rPr>
              <a:t> links are utilized for read requests and write responses from the wide AXI4 bus, as these messages do not fully utilize the bandwidth of a wide link. By mapping them to narrow</a:t>
            </a:r>
            <a:r>
              <a:rPr lang="zh-TW" altLang="en-US" dirty="0">
                <a:solidFill>
                  <a:srgbClr val="000000"/>
                </a:solidFill>
                <a:latin typeface="Calibri" panose="020F0502020204030204" pitchFamily="34" charset="0"/>
                <a:cs typeface="Calibri" panose="020F0502020204030204" pitchFamily="34" charset="0"/>
              </a:rPr>
              <a:t> </a:t>
            </a:r>
            <a:r>
              <a:rPr lang="en-US" altLang="zh-TW" dirty="0">
                <a:solidFill>
                  <a:srgbClr val="000000"/>
                </a:solidFill>
                <a:latin typeface="Calibri" panose="020F0502020204030204" pitchFamily="34" charset="0"/>
                <a:ea typeface="Calibri" panose="020F0502020204030204" pitchFamily="34" charset="0"/>
                <a:cs typeface="Calibri" panose="020F0502020204030204" pitchFamily="34" charset="0"/>
              </a:rPr>
              <a:t>links, the wide link is reserved for high-bandwidth traffic, such</a:t>
            </a:r>
            <a:r>
              <a:rPr lang="zh-TW" altLang="en-US" dirty="0">
                <a:solidFill>
                  <a:srgbClr val="000000"/>
                </a:solidFill>
                <a:latin typeface="Calibri" panose="020F0502020204030204" pitchFamily="34" charset="0"/>
                <a:cs typeface="Calibri" panose="020F0502020204030204" pitchFamily="34" charset="0"/>
              </a:rPr>
              <a:t> </a:t>
            </a:r>
            <a:r>
              <a:rPr lang="en-US" altLang="zh-TW" dirty="0">
                <a:solidFill>
                  <a:srgbClr val="000000"/>
                </a:solidFill>
                <a:latin typeface="Calibri" panose="020F0502020204030204" pitchFamily="34" charset="0"/>
                <a:ea typeface="Calibri" panose="020F0502020204030204" pitchFamily="34" charset="0"/>
                <a:cs typeface="Calibri" panose="020F0502020204030204" pitchFamily="34" charset="0"/>
              </a:rPr>
              <a:t>as read and write bursts.</a:t>
            </a:r>
            <a:endParaRPr lang="zh-TW" altLang="en-US" dirty="0">
              <a:solidFill>
                <a:srgbClr val="00000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854188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8DB98-2D14-AF3A-0947-47E0DCCD5D75}"/>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34B6310B-1A89-D0D7-1C47-75D00A912CDF}"/>
              </a:ext>
            </a:extLst>
          </p:cNvPr>
          <p:cNvSpPr>
            <a:spLocks noGrp="1"/>
          </p:cNvSpPr>
          <p:nvPr>
            <p:ph type="title"/>
          </p:nvPr>
        </p:nvSpPr>
        <p:spPr>
          <a:xfrm>
            <a:off x="533400" y="228600"/>
            <a:ext cx="11176000" cy="584200"/>
          </a:xfrm>
        </p:spPr>
        <p:txBody>
          <a:bodyPr/>
          <a:lstStyle/>
          <a:p>
            <a:pPr marL="0" indent="0">
              <a:buNone/>
            </a:pPr>
            <a:r>
              <a:rPr lang="en-US" altLang="zh-TW" sz="3200" b="1" dirty="0">
                <a:solidFill>
                  <a:srgbClr val="000000"/>
                </a:solidFill>
                <a:latin typeface="Calibri" panose="020F0502020204030204" pitchFamily="34" charset="0"/>
                <a:ea typeface="微軟正黑體"/>
                <a:cs typeface="Calibri" panose="020F0502020204030204" pitchFamily="34" charset="0"/>
              </a:rPr>
              <a:t>NMU (Network Master Unit)</a:t>
            </a:r>
          </a:p>
        </p:txBody>
      </p:sp>
      <p:sp>
        <p:nvSpPr>
          <p:cNvPr id="3" name="內容版面配置區 2">
            <a:extLst>
              <a:ext uri="{FF2B5EF4-FFF2-40B4-BE49-F238E27FC236}">
                <a16:creationId xmlns:a16="http://schemas.microsoft.com/office/drawing/2014/main" id="{98F74EC8-A3E2-9EA2-F1D0-09544637B2DB}"/>
              </a:ext>
            </a:extLst>
          </p:cNvPr>
          <p:cNvSpPr>
            <a:spLocks noGrp="1"/>
          </p:cNvSpPr>
          <p:nvPr>
            <p:ph idx="1"/>
          </p:nvPr>
        </p:nvSpPr>
        <p:spPr>
          <a:xfrm>
            <a:off x="372534" y="857560"/>
            <a:ext cx="7543800" cy="2140473"/>
          </a:xfrm>
        </p:spPr>
        <p:txBody>
          <a:bodyPr>
            <a:noAutofit/>
          </a:bodyPr>
          <a:lstStyle/>
          <a:p>
            <a:pPr>
              <a:spcBef>
                <a:spcPts val="250"/>
              </a:spcBef>
            </a:pPr>
            <a:r>
              <a:rPr lang="en-US" altLang="zh-TW" sz="1600" b="1" dirty="0">
                <a:solidFill>
                  <a:srgbClr val="000000"/>
                </a:solidFill>
                <a:latin typeface="Calibri" panose="020F0502020204030204" pitchFamily="34" charset="0"/>
                <a:cs typeface="Calibri" panose="020F0502020204030204" pitchFamily="34" charset="0"/>
              </a:rPr>
              <a:t>Request path</a:t>
            </a:r>
            <a:endParaRPr lang="en-US" altLang="zh-TW" sz="1600" b="1" dirty="0">
              <a:solidFill>
                <a:srgbClr val="000000"/>
              </a:solidFill>
              <a:latin typeface="Calibri" panose="020F0502020204030204" pitchFamily="34" charset="0"/>
              <a:ea typeface="微軟正黑體"/>
              <a:cs typeface="Calibri" panose="020F0502020204030204" pitchFamily="34" charset="0"/>
            </a:endParaRPr>
          </a:p>
          <a:p>
            <a:pPr lvl="1">
              <a:spcBef>
                <a:spcPts val="250"/>
              </a:spcBef>
            </a:pPr>
            <a:r>
              <a:rPr lang="en-US" altLang="zh-TW" sz="1600" dirty="0">
                <a:solidFill>
                  <a:srgbClr val="000000"/>
                </a:solidFill>
                <a:latin typeface="Calibri" panose="020F0502020204030204" pitchFamily="34" charset="0"/>
                <a:ea typeface="微軟正黑體"/>
                <a:cs typeface="Calibri" panose="020F0502020204030204" pitchFamily="34" charset="0"/>
              </a:rPr>
              <a:t>Round-robin arbitration with wormhole lock</a:t>
            </a:r>
          </a:p>
          <a:p>
            <a:pPr lvl="1">
              <a:spcBef>
                <a:spcPts val="250"/>
              </a:spcBef>
            </a:pPr>
            <a:r>
              <a:rPr lang="en-US" altLang="zh-TW" sz="1600" dirty="0">
                <a:solidFill>
                  <a:srgbClr val="000000"/>
                </a:solidFill>
                <a:latin typeface="Calibri" panose="020F0502020204030204" pitchFamily="34" charset="0"/>
                <a:ea typeface="微軟正黑體"/>
                <a:cs typeface="Calibri" panose="020F0502020204030204" pitchFamily="34" charset="0"/>
              </a:rPr>
              <a:t>SAM(System Address Map)</a:t>
            </a:r>
          </a:p>
          <a:p>
            <a:pPr lvl="2">
              <a:spcBef>
                <a:spcPts val="250"/>
              </a:spcBef>
            </a:pPr>
            <a:r>
              <a:rPr lang="en-US" altLang="zh-TW" sz="1600" dirty="0">
                <a:solidFill>
                  <a:srgbClr val="000000"/>
                </a:solidFill>
                <a:latin typeface="Calibri" panose="020F0502020204030204" pitchFamily="34" charset="0"/>
                <a:ea typeface="微軟正黑體"/>
                <a:cs typeface="Calibri" panose="020F0502020204030204" pitchFamily="34" charset="0"/>
              </a:rPr>
              <a:t>Global Address </a:t>
            </a:r>
            <a:r>
              <a:rPr lang="en-US" altLang="zh-TW" sz="1600" dirty="0">
                <a:solidFill>
                  <a:srgbClr val="000000"/>
                </a:solidFill>
                <a:latin typeface="Calibri" panose="020F0502020204030204" pitchFamily="34" charset="0"/>
                <a:cs typeface="Calibri" panose="020F0502020204030204" pitchFamily="34" charset="0"/>
              </a:rPr>
              <a:t>Translate  </a:t>
            </a:r>
            <a:r>
              <a:rPr lang="en-US" altLang="zh-TW" sz="1600" dirty="0">
                <a:solidFill>
                  <a:srgbClr val="000000"/>
                </a:solidFill>
                <a:latin typeface="Calibri" panose="020F0502020204030204" pitchFamily="34" charset="0"/>
                <a:ea typeface="微軟正黑體"/>
                <a:cs typeface="Calibri" panose="020F0502020204030204" pitchFamily="34" charset="0"/>
              </a:rPr>
              <a:t>to Local Address</a:t>
            </a:r>
          </a:p>
          <a:p>
            <a:pPr>
              <a:spcBef>
                <a:spcPts val="250"/>
              </a:spcBef>
            </a:pPr>
            <a:r>
              <a:rPr lang="en-US" altLang="zh-TW" sz="1600" b="1" dirty="0">
                <a:solidFill>
                  <a:srgbClr val="000000"/>
                </a:solidFill>
                <a:latin typeface="Calibri" panose="020F0502020204030204" pitchFamily="34" charset="0"/>
                <a:ea typeface="微軟正黑體"/>
                <a:cs typeface="Calibri" panose="020F0502020204030204" pitchFamily="34" charset="0"/>
              </a:rPr>
              <a:t>Response path</a:t>
            </a:r>
          </a:p>
          <a:p>
            <a:pPr lvl="1">
              <a:spcBef>
                <a:spcPts val="250"/>
              </a:spcBef>
            </a:pPr>
            <a:r>
              <a:rPr lang="en-US" altLang="zh-TW" sz="1600" dirty="0">
                <a:solidFill>
                  <a:srgbClr val="000000"/>
                </a:solidFill>
                <a:latin typeface="Calibri" panose="020F0502020204030204" pitchFamily="34" charset="0"/>
                <a:ea typeface="微軟正黑體"/>
                <a:cs typeface="Calibri" panose="020F0502020204030204" pitchFamily="34" charset="0"/>
              </a:rPr>
              <a:t>Reorder buffer: 8 KB SRAM, two responses at the AXI 4 KB maximum burst</a:t>
            </a:r>
          </a:p>
          <a:p>
            <a:pPr lvl="2">
              <a:spcBef>
                <a:spcPts val="250"/>
              </a:spcBef>
            </a:pPr>
            <a:r>
              <a:rPr lang="en-US" altLang="zh-TW" sz="1600" dirty="0">
                <a:solidFill>
                  <a:srgbClr val="000000"/>
                </a:solidFill>
                <a:latin typeface="Calibri" panose="020F0502020204030204" pitchFamily="34" charset="0"/>
                <a:cs typeface="Calibri" panose="020F0502020204030204" pitchFamily="34" charset="0"/>
              </a:rPr>
              <a:t>Same-ID ordering: same-destination streams bypass the reorder buffer</a:t>
            </a:r>
            <a:endParaRPr lang="en-US" altLang="zh-TW" sz="1600" dirty="0">
              <a:solidFill>
                <a:srgbClr val="000000"/>
              </a:solidFill>
              <a:latin typeface="Calibri" panose="020F0502020204030204" pitchFamily="34" charset="0"/>
              <a:ea typeface="微軟正黑體"/>
              <a:cs typeface="Calibri" panose="020F0502020204030204" pitchFamily="34" charset="0"/>
            </a:endParaRPr>
          </a:p>
        </p:txBody>
      </p:sp>
      <p:pic>
        <p:nvPicPr>
          <p:cNvPr id="5" name="圖片 4">
            <a:extLst>
              <a:ext uri="{FF2B5EF4-FFF2-40B4-BE49-F238E27FC236}">
                <a16:creationId xmlns:a16="http://schemas.microsoft.com/office/drawing/2014/main" id="{579858F1-0773-20FA-7058-E6FDFC8710D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9373" y="3112306"/>
            <a:ext cx="9158990" cy="3352203"/>
          </a:xfrm>
          <a:prstGeom prst="rect">
            <a:avLst/>
          </a:prstGeom>
        </p:spPr>
      </p:pic>
    </p:spTree>
    <p:extLst>
      <p:ext uri="{BB962C8B-B14F-4D97-AF65-F5344CB8AC3E}">
        <p14:creationId xmlns:p14="http://schemas.microsoft.com/office/powerpoint/2010/main" val="25943585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DFEC5-CD37-D314-A475-4F4CCD119DC8}"/>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EAA7458E-A582-35AF-9DDD-88789C7F1BEB}"/>
              </a:ext>
            </a:extLst>
          </p:cNvPr>
          <p:cNvSpPr>
            <a:spLocks noGrp="1"/>
          </p:cNvSpPr>
          <p:nvPr>
            <p:ph type="title"/>
          </p:nvPr>
        </p:nvSpPr>
        <p:spPr>
          <a:xfrm>
            <a:off x="533400" y="228600"/>
            <a:ext cx="11176000" cy="584200"/>
          </a:xfrm>
        </p:spPr>
        <p:txBody>
          <a:bodyPr/>
          <a:lstStyle/>
          <a:p>
            <a:pPr marL="0" indent="0">
              <a:buNone/>
            </a:pPr>
            <a:r>
              <a:rPr lang="en-US" altLang="zh-TW" sz="3200" b="1" dirty="0">
                <a:solidFill>
                  <a:srgbClr val="000000"/>
                </a:solidFill>
                <a:latin typeface="Calibri" panose="020F0502020204030204" pitchFamily="34" charset="0"/>
                <a:ea typeface="微軟正黑體"/>
                <a:cs typeface="Calibri" panose="020F0502020204030204" pitchFamily="34" charset="0"/>
              </a:rPr>
              <a:t>NSU (Network Slave Unit)</a:t>
            </a:r>
          </a:p>
        </p:txBody>
      </p:sp>
      <p:sp>
        <p:nvSpPr>
          <p:cNvPr id="3" name="內容版面配置區 2">
            <a:extLst>
              <a:ext uri="{FF2B5EF4-FFF2-40B4-BE49-F238E27FC236}">
                <a16:creationId xmlns:a16="http://schemas.microsoft.com/office/drawing/2014/main" id="{9576D986-DE70-55C9-A593-16058AF87A68}"/>
              </a:ext>
            </a:extLst>
          </p:cNvPr>
          <p:cNvSpPr>
            <a:spLocks noGrp="1"/>
          </p:cNvSpPr>
          <p:nvPr>
            <p:ph idx="1"/>
          </p:nvPr>
        </p:nvSpPr>
        <p:spPr>
          <a:xfrm>
            <a:off x="482600" y="753533"/>
            <a:ext cx="7543800" cy="1707727"/>
          </a:xfrm>
        </p:spPr>
        <p:txBody>
          <a:bodyPr>
            <a:noAutofit/>
          </a:bodyPr>
          <a:lstStyle/>
          <a:p>
            <a:pPr>
              <a:spcBef>
                <a:spcPts val="250"/>
              </a:spcBef>
            </a:pPr>
            <a:r>
              <a:rPr lang="en-US" altLang="zh-TW" sz="1600" b="1" dirty="0">
                <a:solidFill>
                  <a:srgbClr val="000000"/>
                </a:solidFill>
                <a:latin typeface="Calibri" panose="020F0502020204030204" pitchFamily="34" charset="0"/>
                <a:ea typeface="微軟正黑體"/>
                <a:cs typeface="Calibri" panose="020F0502020204030204" pitchFamily="34" charset="0"/>
              </a:rPr>
              <a:t>Request path</a:t>
            </a:r>
          </a:p>
          <a:p>
            <a:pPr lvl="1">
              <a:spcBef>
                <a:spcPts val="250"/>
              </a:spcBef>
            </a:pPr>
            <a:r>
              <a:rPr lang="en-US" altLang="zh-TW" sz="1600" dirty="0">
                <a:solidFill>
                  <a:srgbClr val="000000"/>
                </a:solidFill>
                <a:latin typeface="Calibri" panose="020F0502020204030204" pitchFamily="34" charset="0"/>
                <a:ea typeface="微軟正黑體"/>
                <a:cs typeface="Calibri" panose="020F0502020204030204" pitchFamily="34" charset="0"/>
              </a:rPr>
              <a:t>Packet buffer</a:t>
            </a:r>
          </a:p>
          <a:p>
            <a:pPr lvl="1">
              <a:spcBef>
                <a:spcPts val="250"/>
              </a:spcBef>
            </a:pPr>
            <a:r>
              <a:rPr lang="en-US" altLang="zh-TW" sz="1600" dirty="0">
                <a:solidFill>
                  <a:srgbClr val="000000"/>
                </a:solidFill>
                <a:latin typeface="Calibri" panose="020F0502020204030204" pitchFamily="34" charset="0"/>
                <a:ea typeface="微軟正黑體"/>
                <a:cs typeface="Calibri" panose="020F0502020204030204" pitchFamily="34" charset="0"/>
              </a:rPr>
              <a:t>ID compression: narrower downstream ID width</a:t>
            </a:r>
          </a:p>
          <a:p>
            <a:pPr lvl="2">
              <a:spcBef>
                <a:spcPts val="250"/>
              </a:spcBef>
            </a:pPr>
            <a:r>
              <a:rPr lang="en-US" altLang="zh-TW" sz="1600" dirty="0">
                <a:solidFill>
                  <a:srgbClr val="000000"/>
                </a:solidFill>
                <a:latin typeface="Calibri" panose="020F0502020204030204" pitchFamily="34" charset="0"/>
                <a:ea typeface="微軟正黑體"/>
                <a:cs typeface="Calibri" panose="020F0502020204030204" pitchFamily="34" charset="0"/>
              </a:rPr>
              <a:t>Streams sharing a compressed ID return in order</a:t>
            </a:r>
          </a:p>
          <a:p>
            <a:pPr>
              <a:spcBef>
                <a:spcPts val="250"/>
              </a:spcBef>
            </a:pPr>
            <a:r>
              <a:rPr lang="en-US" altLang="zh-TW" sz="1600" b="1" dirty="0">
                <a:solidFill>
                  <a:srgbClr val="000000"/>
                </a:solidFill>
                <a:latin typeface="Calibri" panose="020F0502020204030204" pitchFamily="34" charset="0"/>
                <a:ea typeface="微軟正黑體"/>
                <a:cs typeface="Calibri" panose="020F0502020204030204" pitchFamily="34" charset="0"/>
              </a:rPr>
              <a:t>Response path</a:t>
            </a:r>
          </a:p>
          <a:p>
            <a:pPr lvl="1">
              <a:spcBef>
                <a:spcPts val="250"/>
              </a:spcBef>
            </a:pPr>
            <a:r>
              <a:rPr lang="en-US" altLang="zh-TW" sz="1600" dirty="0">
                <a:solidFill>
                  <a:srgbClr val="000000"/>
                </a:solidFill>
                <a:latin typeface="Calibri" panose="020F0502020204030204" pitchFamily="34" charset="0"/>
                <a:ea typeface="微軟正黑體"/>
                <a:cs typeface="Calibri" panose="020F0502020204030204" pitchFamily="34" charset="0"/>
              </a:rPr>
              <a:t>Header FIFO: header kept for response packetization</a:t>
            </a:r>
          </a:p>
          <a:p>
            <a:pPr lvl="1">
              <a:spcBef>
                <a:spcPts val="250"/>
              </a:spcBef>
            </a:pPr>
            <a:endParaRPr lang="en-US" altLang="zh-TW" sz="1600" dirty="0">
              <a:solidFill>
                <a:srgbClr val="000000"/>
              </a:solidFill>
              <a:latin typeface="Calibri" panose="020F0502020204030204" pitchFamily="34" charset="0"/>
              <a:ea typeface="微軟正黑體"/>
              <a:cs typeface="Calibri" panose="020F0502020204030204" pitchFamily="34" charset="0"/>
            </a:endParaRPr>
          </a:p>
        </p:txBody>
      </p:sp>
      <p:pic>
        <p:nvPicPr>
          <p:cNvPr id="5" name="圖片 4">
            <a:extLst>
              <a:ext uri="{FF2B5EF4-FFF2-40B4-BE49-F238E27FC236}">
                <a16:creationId xmlns:a16="http://schemas.microsoft.com/office/drawing/2014/main" id="{872D3F5C-2909-3BA4-0F7C-754A7C0F478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2600" y="2836428"/>
            <a:ext cx="10043160" cy="3792972"/>
          </a:xfrm>
          <a:prstGeom prst="rect">
            <a:avLst/>
          </a:prstGeom>
        </p:spPr>
      </p:pic>
    </p:spTree>
    <p:extLst>
      <p:ext uri="{BB962C8B-B14F-4D97-AF65-F5344CB8AC3E}">
        <p14:creationId xmlns:p14="http://schemas.microsoft.com/office/powerpoint/2010/main" val="6440548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859F16E-6B9A-6128-1820-BDCCF0713EDE}"/>
              </a:ext>
            </a:extLst>
          </p:cNvPr>
          <p:cNvSpPr>
            <a:spLocks noGrp="1"/>
          </p:cNvSpPr>
          <p:nvPr>
            <p:ph type="title"/>
          </p:nvPr>
        </p:nvSpPr>
        <p:spPr/>
        <p:txBody>
          <a:bodyPr/>
          <a:lstStyle/>
          <a:p>
            <a:r>
              <a:rPr lang="en-US" altLang="zh-TW" dirty="0">
                <a:solidFill>
                  <a:srgbClr val="000000"/>
                </a:solidFill>
              </a:rPr>
              <a:t>Architecture</a:t>
            </a:r>
            <a:endParaRPr lang="zh-TW" altLang="en-US" dirty="0">
              <a:solidFill>
                <a:srgbClr val="000000"/>
              </a:solidFill>
            </a:endParaRPr>
          </a:p>
        </p:txBody>
      </p:sp>
      <p:sp>
        <p:nvSpPr>
          <p:cNvPr id="4" name="Outline">
            <a:extLst>
              <a:ext uri="{FF2B5EF4-FFF2-40B4-BE49-F238E27FC236}">
                <a16:creationId xmlns:a16="http://schemas.microsoft.com/office/drawing/2014/main" id="{AD92E049-A2F9-41BF-9D1F-B0B2AC8EB8DA}"/>
              </a:ext>
            </a:extLst>
          </p:cNvPr>
          <p:cNvSpPr txBox="1"/>
          <p:nvPr/>
        </p:nvSpPr>
        <p:spPr>
          <a:xfrm>
            <a:off x="744354" y="979662"/>
            <a:ext cx="11036300" cy="697627"/>
          </a:xfrm>
          <a:prstGeom prst="rect">
            <a:avLst/>
          </a:prstGeom>
          <a:noFill/>
        </p:spPr>
        <p:txBody>
          <a:bodyPr vertOverflow="overflow" vert="horz" wrap="square" rtlCol="0" anchor="t">
            <a:spAutoFit/>
          </a:bodyPr>
          <a:lstStyle/>
          <a:p>
            <a:pPr marL="228600" indent="-228600">
              <a:spcBef>
                <a:spcPts val="400"/>
              </a:spcBef>
              <a:buFont typeface="Arial" panose="020B0604020202020204" pitchFamily="34" charset="0"/>
              <a:buChar char="•"/>
            </a:pPr>
            <a:r>
              <a:rPr lang="en-US" altLang="zh-TW" sz="1800" dirty="0">
                <a:solidFill>
                  <a:srgbClr val="000000"/>
                </a:solidFill>
                <a:latin typeface="Calibri" panose="020F0502020204030204" pitchFamily="34" charset="0"/>
                <a:ea typeface="微軟正黑體"/>
                <a:cs typeface="Calibri" panose="020F0502020204030204" pitchFamily="34" charset="0"/>
              </a:rPr>
              <a:t>Each node holds one compute tile and its local memory, so it is both an AXI master and an AXI slave</a:t>
            </a:r>
          </a:p>
          <a:p>
            <a:pPr marL="228600" indent="-228600">
              <a:spcBef>
                <a:spcPts val="400"/>
              </a:spcBef>
              <a:buFont typeface="Arial" panose="020B0604020202020204" pitchFamily="34" charset="0"/>
              <a:buChar char="•"/>
            </a:pPr>
            <a:r>
              <a:rPr lang="en-US" altLang="zh-TW" sz="1800" dirty="0">
                <a:solidFill>
                  <a:srgbClr val="000000"/>
                </a:solidFill>
                <a:latin typeface="Calibri" panose="020F0502020204030204" pitchFamily="34" charset="0"/>
                <a:ea typeface="微軟正黑體"/>
                <a:cs typeface="Calibri" panose="020F0502020204030204" pitchFamily="34" charset="0"/>
              </a:rPr>
              <a:t>XY routing fixes the path a multicast takes, its merged response retraces that path in reverse</a:t>
            </a:r>
          </a:p>
        </p:txBody>
      </p:sp>
      <p:pic>
        <p:nvPicPr>
          <p:cNvPr id="7" name="圖片 6">
            <a:extLst>
              <a:ext uri="{FF2B5EF4-FFF2-40B4-BE49-F238E27FC236}">
                <a16:creationId xmlns:a16="http://schemas.microsoft.com/office/drawing/2014/main" id="{0BFB0FC0-C26F-0DA5-BF49-223335A1A30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51958" y="1970247"/>
            <a:ext cx="4609246" cy="4622833"/>
          </a:xfrm>
          <a:prstGeom prst="rect">
            <a:avLst/>
          </a:prstGeom>
        </p:spPr>
      </p:pic>
      <p:pic>
        <p:nvPicPr>
          <p:cNvPr id="9" name="圖片 8">
            <a:extLst>
              <a:ext uri="{FF2B5EF4-FFF2-40B4-BE49-F238E27FC236}">
                <a16:creationId xmlns:a16="http://schemas.microsoft.com/office/drawing/2014/main" id="{1EDC85CD-67CA-0DB2-467A-B11C8A6A5B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64856" y="2592829"/>
            <a:ext cx="3895517" cy="3136549"/>
          </a:xfrm>
          <a:prstGeom prst="rect">
            <a:avLst/>
          </a:prstGeom>
        </p:spPr>
      </p:pic>
    </p:spTree>
    <p:extLst>
      <p:ext uri="{BB962C8B-B14F-4D97-AF65-F5344CB8AC3E}">
        <p14:creationId xmlns:p14="http://schemas.microsoft.com/office/powerpoint/2010/main" val="205667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EDC3573-9AF7-F2D5-ECE7-5229C7D6B097}"/>
              </a:ext>
            </a:extLst>
          </p:cNvPr>
          <p:cNvSpPr>
            <a:spLocks noGrp="1"/>
          </p:cNvSpPr>
          <p:nvPr>
            <p:ph type="title"/>
          </p:nvPr>
        </p:nvSpPr>
        <p:spPr>
          <a:xfrm>
            <a:off x="512675" y="491588"/>
            <a:ext cx="4076910" cy="584200"/>
          </a:xfrm>
        </p:spPr>
        <p:txBody>
          <a:bodyPr/>
          <a:lstStyle/>
          <a:p>
            <a:pPr marL="0" indent="0" algn="l">
              <a:buNone/>
            </a:pPr>
            <a:r>
              <a:rPr lang="en-US" altLang="zh-TW" sz="3200" dirty="0">
                <a:solidFill>
                  <a:srgbClr val="000000"/>
                </a:solidFill>
                <a:latin typeface="Calibri"/>
                <a:ea typeface="Calibri"/>
                <a:cs typeface="Calibri"/>
              </a:rPr>
              <a:t>NI</a:t>
            </a:r>
            <a:r>
              <a:rPr lang="zh-TW" altLang="en-US" sz="3200" dirty="0">
                <a:solidFill>
                  <a:srgbClr val="000000"/>
                </a:solidFill>
                <a:latin typeface="Calibri"/>
                <a:ea typeface="Calibri"/>
                <a:cs typeface="Calibri"/>
              </a:rPr>
              <a:t> </a:t>
            </a:r>
            <a:r>
              <a:rPr lang="en-US" altLang="zh-TW" sz="3200" dirty="0">
                <a:solidFill>
                  <a:srgbClr val="000000"/>
                </a:solidFill>
                <a:latin typeface="Calibri"/>
                <a:ea typeface="Calibri"/>
                <a:cs typeface="Calibri"/>
              </a:rPr>
              <a:t>&amp;</a:t>
            </a:r>
            <a:r>
              <a:rPr lang="zh-TW" altLang="en-US" sz="3200" dirty="0">
                <a:solidFill>
                  <a:srgbClr val="000000"/>
                </a:solidFill>
                <a:latin typeface="Calibri"/>
                <a:ea typeface="Calibri"/>
                <a:cs typeface="Calibri"/>
              </a:rPr>
              <a:t> </a:t>
            </a:r>
            <a:r>
              <a:rPr lang="en-US" altLang="zh-TW" sz="3200" dirty="0">
                <a:solidFill>
                  <a:srgbClr val="000000"/>
                </a:solidFill>
                <a:latin typeface="Calibri"/>
                <a:ea typeface="Calibri"/>
                <a:cs typeface="Calibri"/>
              </a:rPr>
              <a:t>Router Interfaces</a:t>
            </a:r>
          </a:p>
        </p:txBody>
      </p:sp>
      <p:pic>
        <p:nvPicPr>
          <p:cNvPr id="15" name="圖片 14">
            <a:extLst>
              <a:ext uri="{FF2B5EF4-FFF2-40B4-BE49-F238E27FC236}">
                <a16:creationId xmlns:a16="http://schemas.microsoft.com/office/drawing/2014/main" id="{D01AD521-8A69-514A-C0DB-CF1332C755B4}"/>
              </a:ext>
            </a:extLst>
          </p:cNvPr>
          <p:cNvPicPr>
            <a:picLocks noChangeAspect="1"/>
          </p:cNvPicPr>
          <p:nvPr/>
        </p:nvPicPr>
        <p:blipFill>
          <a:blip r:embed="rId2"/>
          <a:stretch>
            <a:fillRect/>
          </a:stretch>
        </p:blipFill>
        <p:spPr>
          <a:xfrm>
            <a:off x="6326562" y="355338"/>
            <a:ext cx="2551710" cy="6327755"/>
          </a:xfrm>
          <a:prstGeom prst="rect">
            <a:avLst/>
          </a:prstGeom>
        </p:spPr>
      </p:pic>
      <p:pic>
        <p:nvPicPr>
          <p:cNvPr id="17" name="圖片 16">
            <a:extLst>
              <a:ext uri="{FF2B5EF4-FFF2-40B4-BE49-F238E27FC236}">
                <a16:creationId xmlns:a16="http://schemas.microsoft.com/office/drawing/2014/main" id="{0069EC03-C838-B7B1-B1BE-97CCD2FB0402}"/>
              </a:ext>
            </a:extLst>
          </p:cNvPr>
          <p:cNvPicPr>
            <a:picLocks noChangeAspect="1"/>
          </p:cNvPicPr>
          <p:nvPr/>
        </p:nvPicPr>
        <p:blipFill>
          <a:blip r:embed="rId3"/>
          <a:stretch>
            <a:fillRect/>
          </a:stretch>
        </p:blipFill>
        <p:spPr>
          <a:xfrm>
            <a:off x="9108834" y="301921"/>
            <a:ext cx="2685934" cy="6249048"/>
          </a:xfrm>
          <a:prstGeom prst="rect">
            <a:avLst/>
          </a:prstGeom>
        </p:spPr>
      </p:pic>
      <p:pic>
        <p:nvPicPr>
          <p:cNvPr id="19" name="圖片 18">
            <a:extLst>
              <a:ext uri="{FF2B5EF4-FFF2-40B4-BE49-F238E27FC236}">
                <a16:creationId xmlns:a16="http://schemas.microsoft.com/office/drawing/2014/main" id="{ADE87DA0-E7B2-955F-BCE4-404D8AC0FA85}"/>
              </a:ext>
            </a:extLst>
          </p:cNvPr>
          <p:cNvPicPr>
            <a:picLocks noChangeAspect="1"/>
          </p:cNvPicPr>
          <p:nvPr/>
        </p:nvPicPr>
        <p:blipFill>
          <a:blip r:embed="rId4"/>
          <a:stretch>
            <a:fillRect/>
          </a:stretch>
        </p:blipFill>
        <p:spPr>
          <a:xfrm>
            <a:off x="193433" y="3323770"/>
            <a:ext cx="4076910" cy="3359323"/>
          </a:xfrm>
          <a:prstGeom prst="rect">
            <a:avLst/>
          </a:prstGeom>
        </p:spPr>
      </p:pic>
      <p:graphicFrame>
        <p:nvGraphicFramePr>
          <p:cNvPr id="21" name="表格 20">
            <a:extLst>
              <a:ext uri="{FF2B5EF4-FFF2-40B4-BE49-F238E27FC236}">
                <a16:creationId xmlns:a16="http://schemas.microsoft.com/office/drawing/2014/main" id="{287033ED-5608-0BC7-096F-4D72E9EBF5A6}"/>
              </a:ext>
            </a:extLst>
          </p:cNvPr>
          <p:cNvGraphicFramePr>
            <a:graphicFrameLocks noGrp="1"/>
          </p:cNvGraphicFramePr>
          <p:nvPr>
            <p:extLst>
              <p:ext uri="{D42A27DB-BD31-4B8C-83A1-F6EECF244321}">
                <p14:modId xmlns:p14="http://schemas.microsoft.com/office/powerpoint/2010/main" val="492954354"/>
              </p:ext>
            </p:extLst>
          </p:nvPr>
        </p:nvGraphicFramePr>
        <p:xfrm>
          <a:off x="193433" y="1305251"/>
          <a:ext cx="5902567" cy="1593009"/>
        </p:xfrm>
        <a:graphic>
          <a:graphicData uri="http://schemas.openxmlformats.org/drawingml/2006/table">
            <a:tbl>
              <a:tblPr firstRow="1" bandRow="1">
                <a:tableStyleId>{5C22544A-7EE6-4342-B048-85BDC9FD1C3A}</a:tableStyleId>
              </a:tblPr>
              <a:tblGrid>
                <a:gridCol w="755674">
                  <a:extLst>
                    <a:ext uri="{9D8B030D-6E8A-4147-A177-3AD203B41FA5}">
                      <a16:colId xmlns:a16="http://schemas.microsoft.com/office/drawing/2014/main" val="1559844773"/>
                    </a:ext>
                  </a:extLst>
                </a:gridCol>
                <a:gridCol w="1997920">
                  <a:extLst>
                    <a:ext uri="{9D8B030D-6E8A-4147-A177-3AD203B41FA5}">
                      <a16:colId xmlns:a16="http://schemas.microsoft.com/office/drawing/2014/main" val="4007415790"/>
                    </a:ext>
                  </a:extLst>
                </a:gridCol>
                <a:gridCol w="3148973">
                  <a:extLst>
                    <a:ext uri="{9D8B030D-6E8A-4147-A177-3AD203B41FA5}">
                      <a16:colId xmlns:a16="http://schemas.microsoft.com/office/drawing/2014/main" val="3091916261"/>
                    </a:ext>
                  </a:extLst>
                </a:gridCol>
              </a:tblGrid>
              <a:tr h="250818">
                <a:tc>
                  <a:txBody>
                    <a:bodyPr/>
                    <a:lstStyle/>
                    <a:p>
                      <a:pPr algn="l">
                        <a:buNone/>
                      </a:pPr>
                      <a:r>
                        <a:rPr lang="zh-TW" sz="1600" b="1" i="0">
                          <a:solidFill>
                            <a:schemeClr val="bg1"/>
                          </a:solidFill>
                          <a:effectLst/>
                          <a:latin typeface="-apple-system"/>
                        </a:rPr>
                        <a:t>Unit</a:t>
                      </a:r>
                    </a:p>
                  </a:txBody>
                  <a:tcPr marL="63500" marR="63500" marT="31750" marB="31750" anchor="ctr"/>
                </a:tc>
                <a:tc>
                  <a:txBody>
                    <a:bodyPr/>
                    <a:lstStyle/>
                    <a:p>
                      <a:pPr algn="l">
                        <a:buNone/>
                      </a:pPr>
                      <a:r>
                        <a:rPr lang="zh-TW" sz="1600" b="1" i="0">
                          <a:solidFill>
                            <a:schemeClr val="bg1"/>
                          </a:solidFill>
                          <a:effectLst/>
                          <a:latin typeface="-apple-system"/>
                        </a:rPr>
                        <a:t>AXI interface</a:t>
                      </a:r>
                    </a:p>
                  </a:txBody>
                  <a:tcPr marL="63500" marR="63500" marT="31750" marB="31750" anchor="ctr"/>
                </a:tc>
                <a:tc>
                  <a:txBody>
                    <a:bodyPr/>
                    <a:lstStyle/>
                    <a:p>
                      <a:pPr algn="l">
                        <a:buNone/>
                      </a:pPr>
                      <a:r>
                        <a:rPr lang="zh-TW" sz="1600" b="1" i="0" dirty="0">
                          <a:solidFill>
                            <a:schemeClr val="bg1"/>
                          </a:solidFill>
                          <a:effectLst/>
                          <a:latin typeface="-apple-system"/>
                        </a:rPr>
                        <a:t>NoC interface</a:t>
                      </a:r>
                    </a:p>
                  </a:txBody>
                  <a:tcPr marL="63500" marR="63500" marT="31750" marB="31750" anchor="ctr"/>
                </a:tc>
                <a:extLst>
                  <a:ext uri="{0D108BD9-81ED-4DB2-BD59-A6C34878D82A}">
                    <a16:rowId xmlns:a16="http://schemas.microsoft.com/office/drawing/2014/main" val="2129446417"/>
                  </a:ext>
                </a:extLst>
              </a:tr>
              <a:tr h="328436">
                <a:tc>
                  <a:txBody>
                    <a:bodyPr/>
                    <a:lstStyle/>
                    <a:p>
                      <a:pPr algn="l">
                        <a:buNone/>
                      </a:pPr>
                      <a:r>
                        <a:rPr lang="zh-TW" sz="1600" b="0" i="0">
                          <a:solidFill>
                            <a:srgbClr val="000000"/>
                          </a:solidFill>
                          <a:effectLst/>
                          <a:latin typeface="Calibri" panose="020F0502020204030204" pitchFamily="34" charset="0"/>
                          <a:cs typeface="Calibri" panose="020F0502020204030204" pitchFamily="34" charset="0"/>
                        </a:rPr>
                        <a:t>NMU</a:t>
                      </a:r>
                    </a:p>
                  </a:txBody>
                  <a:tcPr marL="63500" marR="63500" marT="31750" marB="31750" anchor="ctr"/>
                </a:tc>
                <a:tc>
                  <a:txBody>
                    <a:bodyPr/>
                    <a:lstStyle/>
                    <a:p>
                      <a:pPr algn="l">
                        <a:buNone/>
                      </a:pPr>
                      <a:r>
                        <a:rPr lang="zh-TW" sz="1600" b="0" i="0">
                          <a:solidFill>
                            <a:srgbClr val="000000"/>
                          </a:solidFill>
                          <a:effectLst/>
                          <a:latin typeface="Calibri" panose="020F0502020204030204" pitchFamily="34" charset="0"/>
                          <a:cs typeface="Calibri" panose="020F0502020204030204" pitchFamily="34" charset="0"/>
                        </a:rPr>
                        <a:t>AXI slave interface</a:t>
                      </a:r>
                    </a:p>
                  </a:txBody>
                  <a:tcPr marL="63500" marR="63500" marT="31750" marB="31750" anchor="ctr"/>
                </a:tc>
                <a:tc>
                  <a:txBody>
                    <a:bodyPr/>
                    <a:lstStyle/>
                    <a:p>
                      <a:pPr algn="l">
                        <a:buNone/>
                      </a:pPr>
                      <a:r>
                        <a:rPr lang="zh-TW" sz="1600" b="0" i="0" dirty="0">
                          <a:solidFill>
                            <a:srgbClr val="000000"/>
                          </a:solidFill>
                          <a:effectLst/>
                          <a:latin typeface="Calibri" panose="020F0502020204030204" pitchFamily="34" charset="0"/>
                          <a:cs typeface="Calibri" panose="020F0502020204030204" pitchFamily="34" charset="0"/>
                        </a:rPr>
                        <a:t>NoC initiator interface</a:t>
                      </a:r>
                    </a:p>
                  </a:txBody>
                  <a:tcPr marL="63500" marR="63500" marT="31750" marB="31750" anchor="ctr"/>
                </a:tc>
                <a:extLst>
                  <a:ext uri="{0D108BD9-81ED-4DB2-BD59-A6C34878D82A}">
                    <a16:rowId xmlns:a16="http://schemas.microsoft.com/office/drawing/2014/main" val="3045110143"/>
                  </a:ext>
                </a:extLst>
              </a:tr>
              <a:tr h="406053">
                <a:tc>
                  <a:txBody>
                    <a:bodyPr/>
                    <a:lstStyle/>
                    <a:p>
                      <a:pPr algn="l">
                        <a:buNone/>
                      </a:pPr>
                      <a:r>
                        <a:rPr lang="zh-TW" sz="1600" b="0" i="0">
                          <a:solidFill>
                            <a:srgbClr val="000000"/>
                          </a:solidFill>
                          <a:effectLst/>
                          <a:latin typeface="Calibri" panose="020F0502020204030204" pitchFamily="34" charset="0"/>
                          <a:cs typeface="Calibri" panose="020F0502020204030204" pitchFamily="34" charset="0"/>
                        </a:rPr>
                        <a:t>NSU</a:t>
                      </a:r>
                    </a:p>
                  </a:txBody>
                  <a:tcPr marL="63500" marR="63500" marT="31750" marB="31750" anchor="ctr"/>
                </a:tc>
                <a:tc>
                  <a:txBody>
                    <a:bodyPr/>
                    <a:lstStyle/>
                    <a:p>
                      <a:pPr algn="l">
                        <a:buNone/>
                      </a:pPr>
                      <a:r>
                        <a:rPr lang="zh-TW" sz="1600" b="0" i="0">
                          <a:solidFill>
                            <a:srgbClr val="000000"/>
                          </a:solidFill>
                          <a:effectLst/>
                          <a:latin typeface="Calibri" panose="020F0502020204030204" pitchFamily="34" charset="0"/>
                          <a:cs typeface="Calibri" panose="020F0502020204030204" pitchFamily="34" charset="0"/>
                        </a:rPr>
                        <a:t>AXI master interface</a:t>
                      </a:r>
                    </a:p>
                  </a:txBody>
                  <a:tcPr marL="63500" marR="63500" marT="31750" marB="31750" anchor="ctr"/>
                </a:tc>
                <a:tc>
                  <a:txBody>
                    <a:bodyPr/>
                    <a:lstStyle/>
                    <a:p>
                      <a:pPr algn="l">
                        <a:buNone/>
                      </a:pPr>
                      <a:r>
                        <a:rPr lang="zh-TW" sz="1600" b="0" i="0" dirty="0">
                          <a:solidFill>
                            <a:srgbClr val="000000"/>
                          </a:solidFill>
                          <a:effectLst/>
                          <a:latin typeface="Calibri" panose="020F0502020204030204" pitchFamily="34" charset="0"/>
                          <a:cs typeface="Calibri" panose="020F0502020204030204" pitchFamily="34" charset="0"/>
                        </a:rPr>
                        <a:t>NoC target interface</a:t>
                      </a:r>
                    </a:p>
                  </a:txBody>
                  <a:tcPr marL="63500" marR="63500" marT="31750" marB="31750" anchor="ctr"/>
                </a:tc>
                <a:extLst>
                  <a:ext uri="{0D108BD9-81ED-4DB2-BD59-A6C34878D82A}">
                    <a16:rowId xmlns:a16="http://schemas.microsoft.com/office/drawing/2014/main" val="1317108197"/>
                  </a:ext>
                </a:extLst>
              </a:tr>
              <a:tr h="480982">
                <a:tc>
                  <a:txBody>
                    <a:bodyPr/>
                    <a:lstStyle/>
                    <a:p>
                      <a:pPr algn="l">
                        <a:buNone/>
                      </a:pPr>
                      <a:r>
                        <a:rPr lang="zh-TW" sz="1600" b="0" i="0">
                          <a:solidFill>
                            <a:srgbClr val="000000"/>
                          </a:solidFill>
                          <a:effectLst/>
                          <a:latin typeface="Calibri" panose="020F0502020204030204" pitchFamily="34" charset="0"/>
                          <a:cs typeface="Calibri" panose="020F0502020204030204" pitchFamily="34" charset="0"/>
                        </a:rPr>
                        <a:t>Router</a:t>
                      </a:r>
                    </a:p>
                  </a:txBody>
                  <a:tcPr marL="63500" marR="63500" marT="31750" marB="31750" anchor="ctr"/>
                </a:tc>
                <a:tc>
                  <a:txBody>
                    <a:bodyPr/>
                    <a:lstStyle/>
                    <a:p>
                      <a:pPr algn="l">
                        <a:buNone/>
                      </a:pPr>
                      <a:r>
                        <a:rPr lang="zh-TW" sz="1600" b="0" i="0" dirty="0">
                          <a:solidFill>
                            <a:srgbClr val="000000"/>
                          </a:solidFill>
                          <a:effectLst/>
                          <a:latin typeface="Calibri" panose="020F0502020204030204" pitchFamily="34" charset="0"/>
                          <a:cs typeface="Calibri" panose="020F0502020204030204" pitchFamily="34" charset="0"/>
                        </a:rPr>
                        <a:t>-</a:t>
                      </a:r>
                    </a:p>
                  </a:txBody>
                  <a:tcPr marL="63500" marR="63500" marT="31750" marB="31750" anchor="ctr"/>
                </a:tc>
                <a:tc>
                  <a:txBody>
                    <a:bodyPr/>
                    <a:lstStyle/>
                    <a:p>
                      <a:pPr algn="l">
                        <a:buNone/>
                      </a:pPr>
                      <a:r>
                        <a:rPr lang="zh-TW" sz="1600" b="0" i="0" dirty="0">
                          <a:solidFill>
                            <a:srgbClr val="000000"/>
                          </a:solidFill>
                          <a:effectLst/>
                          <a:latin typeface="Calibri" panose="020F0502020204030204" pitchFamily="34" charset="0"/>
                          <a:cs typeface="Calibri" panose="020F0502020204030204" pitchFamily="34" charset="0"/>
                        </a:rPr>
                        <a:t>NoC link interface per port, one local and four directional (N, E, S, W)</a:t>
                      </a:r>
                    </a:p>
                  </a:txBody>
                  <a:tcPr marL="63500" marR="63500" marT="31750" marB="31750" anchor="ctr"/>
                </a:tc>
                <a:extLst>
                  <a:ext uri="{0D108BD9-81ED-4DB2-BD59-A6C34878D82A}">
                    <a16:rowId xmlns:a16="http://schemas.microsoft.com/office/drawing/2014/main" val="1337979364"/>
                  </a:ext>
                </a:extLst>
              </a:tr>
            </a:tbl>
          </a:graphicData>
        </a:graphic>
      </p:graphicFrame>
    </p:spTree>
    <p:extLst>
      <p:ext uri="{BB962C8B-B14F-4D97-AF65-F5344CB8AC3E}">
        <p14:creationId xmlns:p14="http://schemas.microsoft.com/office/powerpoint/2010/main" val="23524252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AB503CE-7460-7EC3-B3B5-90EDB115CA8D}"/>
              </a:ext>
            </a:extLst>
          </p:cNvPr>
          <p:cNvSpPr>
            <a:spLocks noGrp="1"/>
          </p:cNvSpPr>
          <p:nvPr>
            <p:ph type="title"/>
          </p:nvPr>
        </p:nvSpPr>
        <p:spPr>
          <a:xfrm>
            <a:off x="533400" y="228600"/>
            <a:ext cx="11176000" cy="584200"/>
          </a:xfrm>
        </p:spPr>
        <p:txBody>
          <a:bodyPr/>
          <a:lstStyle/>
          <a:p>
            <a:pPr marL="0" indent="0" algn="l">
              <a:buNone/>
            </a:pPr>
            <a:r>
              <a:rPr lang="en-US" altLang="zh-TW" sz="3200">
                <a:solidFill>
                  <a:srgbClr val="000000"/>
                </a:solidFill>
                <a:latin typeface="Calibri"/>
                <a:ea typeface="Calibri"/>
                <a:cs typeface="Calibri"/>
              </a:rPr>
              <a:t>AXI channel signals</a:t>
            </a:r>
            <a:endParaRPr lang="en-US" altLang="zh-TW" sz="3200" dirty="0">
              <a:solidFill>
                <a:srgbClr val="000000"/>
              </a:solidFill>
              <a:latin typeface="Calibri"/>
              <a:ea typeface="Calibri"/>
              <a:cs typeface="Calibri"/>
            </a:endParaRPr>
          </a:p>
        </p:txBody>
      </p:sp>
      <p:sp>
        <p:nvSpPr>
          <p:cNvPr id="6" name="文字方塊 5">
            <a:extLst>
              <a:ext uri="{FF2B5EF4-FFF2-40B4-BE49-F238E27FC236}">
                <a16:creationId xmlns:a16="http://schemas.microsoft.com/office/drawing/2014/main" id="{97FDFAC6-931E-4B7D-8D90-CF2B05D7729A}"/>
              </a:ext>
            </a:extLst>
          </p:cNvPr>
          <p:cNvSpPr txBox="1"/>
          <p:nvPr/>
        </p:nvSpPr>
        <p:spPr>
          <a:xfrm>
            <a:off x="609600" y="1117600"/>
            <a:ext cx="10972800" cy="355600"/>
          </a:xfrm>
          <a:prstGeom prst="rect">
            <a:avLst/>
          </a:prstGeom>
          <a:noFill/>
        </p:spPr>
        <p:txBody>
          <a:bodyPr vertOverflow="overflow" vert="horz" wrap="square" rtlCol="0" anchor="t">
            <a:spAutoFit/>
          </a:bodyPr>
          <a:lstStyle/>
          <a:p>
            <a:pPr algn="l"/>
            <a:r>
              <a:rPr lang="en-US" altLang="zh-TW">
                <a:solidFill>
                  <a:srgbClr val="000000"/>
                </a:solidFill>
                <a:latin typeface="Calibri"/>
                <a:ea typeface="Calibri"/>
                <a:cs typeface="Calibri"/>
              </a:rPr>
              <a:t>One AXI4 channel set for NMU and NSU, widths per the spec.</a:t>
            </a:r>
            <a:endParaRPr lang="zh-TW" altLang="en-US">
              <a:solidFill>
                <a:srgbClr val="000000"/>
              </a:solidFill>
              <a:latin typeface="Calibri"/>
              <a:cs typeface="Calibri"/>
            </a:endParaRPr>
          </a:p>
        </p:txBody>
      </p:sp>
      <p:graphicFrame>
        <p:nvGraphicFramePr>
          <p:cNvPr id="10" name="表格 9">
            <a:extLst>
              <a:ext uri="{FF2B5EF4-FFF2-40B4-BE49-F238E27FC236}">
                <a16:creationId xmlns:a16="http://schemas.microsoft.com/office/drawing/2014/main" id="{101F8294-9519-4A6C-95AA-BF965377597A}"/>
              </a:ext>
            </a:extLst>
          </p:cNvPr>
          <p:cNvGraphicFramePr>
            <a:graphicFrameLocks noGrp="1"/>
          </p:cNvGraphicFramePr>
          <p:nvPr>
            <p:extLst>
              <p:ext uri="{D42A27DB-BD31-4B8C-83A1-F6EECF244321}">
                <p14:modId xmlns:p14="http://schemas.microsoft.com/office/powerpoint/2010/main" val="1272093"/>
              </p:ext>
            </p:extLst>
          </p:nvPr>
        </p:nvGraphicFramePr>
        <p:xfrm>
          <a:off x="609600" y="1625600"/>
          <a:ext cx="10972800" cy="3327400"/>
        </p:xfrm>
        <a:graphic>
          <a:graphicData uri="http://schemas.openxmlformats.org/drawingml/2006/table">
            <a:tbl>
              <a:tblPr firstRow="1" bandRow="1">
                <a:tableStyleId>{5C22544A-7EE6-4342-B048-85BDC9FD1C3A}</a:tableStyleId>
              </a:tblPr>
              <a:tblGrid>
                <a:gridCol w="2235200">
                  <a:extLst>
                    <a:ext uri="{9D8B030D-6E8A-4147-A177-3AD203B41FA5}">
                      <a16:colId xmlns:a16="http://schemas.microsoft.com/office/drawing/2014/main" val="2410427613"/>
                    </a:ext>
                  </a:extLst>
                </a:gridCol>
                <a:gridCol w="5537200">
                  <a:extLst>
                    <a:ext uri="{9D8B030D-6E8A-4147-A177-3AD203B41FA5}">
                      <a16:colId xmlns:a16="http://schemas.microsoft.com/office/drawing/2014/main" val="361495624"/>
                    </a:ext>
                  </a:extLst>
                </a:gridCol>
                <a:gridCol w="3200400">
                  <a:extLst>
                    <a:ext uri="{9D8B030D-6E8A-4147-A177-3AD203B41FA5}">
                      <a16:colId xmlns:a16="http://schemas.microsoft.com/office/drawing/2014/main" val="4099909308"/>
                    </a:ext>
                  </a:extLst>
                </a:gridCol>
              </a:tblGrid>
              <a:tr h="406400">
                <a:tc>
                  <a:txBody>
                    <a:bodyPr/>
                    <a:lstStyle/>
                    <a:p>
                      <a:pPr algn="l"/>
                      <a:r>
                        <a:rPr lang="zh-TW" altLang="en-US" sz="1700" b="1">
                          <a:solidFill>
                            <a:srgbClr val="FFFFFF"/>
                          </a:solidFill>
                          <a:latin typeface="Calibri"/>
                          <a:cs typeface="Calibri"/>
                        </a:rPr>
                        <a:t>Channel</a:t>
                      </a:r>
                    </a:p>
                  </a:txBody>
                  <a:tcPr anchor="ctr"/>
                </a:tc>
                <a:tc>
                  <a:txBody>
                    <a:bodyPr/>
                    <a:lstStyle/>
                    <a:p>
                      <a:pPr algn="l"/>
                      <a:r>
                        <a:rPr lang="zh-TW" altLang="en-US" sz="1700" b="1">
                          <a:solidFill>
                            <a:srgbClr val="FFFFFF"/>
                          </a:solidFill>
                          <a:latin typeface="Calibri"/>
                          <a:cs typeface="Calibri"/>
                        </a:rPr>
                        <a:t>Signals</a:t>
                      </a:r>
                    </a:p>
                  </a:txBody>
                  <a:tcPr anchor="ctr"/>
                </a:tc>
                <a:tc>
                  <a:txBody>
                    <a:bodyPr/>
                    <a:lstStyle/>
                    <a:p>
                      <a:pPr algn="l"/>
                      <a:r>
                        <a:rPr lang="zh-TW" altLang="en-US" sz="1700" b="1">
                          <a:solidFill>
                            <a:srgbClr val="FFFFFF"/>
                          </a:solidFill>
                          <a:latin typeface="Calibri"/>
                          <a:cs typeface="Calibri"/>
                        </a:rPr>
                        <a:t>Key widths</a:t>
                      </a:r>
                    </a:p>
                  </a:txBody>
                  <a:tcPr anchor="ctr"/>
                </a:tc>
                <a:extLst>
                  <a:ext uri="{0D108BD9-81ED-4DB2-BD59-A6C34878D82A}">
                    <a16:rowId xmlns:a16="http://schemas.microsoft.com/office/drawing/2014/main" val="848870836"/>
                  </a:ext>
                </a:extLst>
              </a:tr>
              <a:tr h="584200">
                <a:tc>
                  <a:txBody>
                    <a:bodyPr/>
                    <a:lstStyle/>
                    <a:p>
                      <a:pPr algn="l"/>
                      <a:r>
                        <a:rPr lang="zh-TW" altLang="en-US" sz="1500" b="0">
                          <a:solidFill>
                            <a:srgbClr val="000000"/>
                          </a:solidFill>
                          <a:latin typeface="Calibri"/>
                          <a:cs typeface="Calibri"/>
                        </a:rPr>
                        <a:t>Write address AW</a:t>
                      </a:r>
                    </a:p>
                  </a:txBody>
                  <a:tcPr anchor="ctr"/>
                </a:tc>
                <a:tc>
                  <a:txBody>
                    <a:bodyPr/>
                    <a:lstStyle/>
                    <a:p>
                      <a:pPr algn="l"/>
                      <a:r>
                        <a:rPr lang="zh-TW" altLang="en-US" sz="1500" b="0">
                          <a:solidFill>
                            <a:srgbClr val="000000"/>
                          </a:solidFill>
                          <a:latin typeface="Calibri"/>
                          <a:cs typeface="Calibri"/>
                        </a:rPr>
                        <a:t>AWID, AWADDR, AWLEN, AWSIZE, AWBURST, AWLOCK, AWCACHE, AWPROT, AWQOS, AWREGION, AWUSER, AWVALID, AWREADY</a:t>
                      </a:r>
                    </a:p>
                  </a:txBody>
                  <a:tcPr anchor="ctr"/>
                </a:tc>
                <a:tc>
                  <a:txBody>
                    <a:bodyPr/>
                    <a:lstStyle/>
                    <a:p>
                      <a:pPr algn="l"/>
                      <a:r>
                        <a:rPr lang="zh-TW" altLang="en-US" sz="1500" b="0">
                          <a:solidFill>
                            <a:srgbClr val="000000"/>
                          </a:solidFill>
                          <a:latin typeface="Calibri"/>
                          <a:cs typeface="Calibri"/>
                        </a:rPr>
                        <a:t>AWADDR 48, AWID 8, AWUSER 58</a:t>
                      </a:r>
                    </a:p>
                  </a:txBody>
                  <a:tcPr anchor="ctr"/>
                </a:tc>
                <a:extLst>
                  <a:ext uri="{0D108BD9-81ED-4DB2-BD59-A6C34878D82A}">
                    <a16:rowId xmlns:a16="http://schemas.microsoft.com/office/drawing/2014/main" val="4004212660"/>
                  </a:ext>
                </a:extLst>
              </a:tr>
              <a:tr h="584200">
                <a:tc>
                  <a:txBody>
                    <a:bodyPr/>
                    <a:lstStyle/>
                    <a:p>
                      <a:pPr algn="l"/>
                      <a:r>
                        <a:rPr lang="zh-TW" altLang="en-US" sz="1500" b="0">
                          <a:solidFill>
                            <a:srgbClr val="000000"/>
                          </a:solidFill>
                          <a:latin typeface="Calibri"/>
                          <a:cs typeface="Calibri"/>
                        </a:rPr>
                        <a:t>Write data W</a:t>
                      </a:r>
                    </a:p>
                  </a:txBody>
                  <a:tcPr anchor="ctr"/>
                </a:tc>
                <a:tc>
                  <a:txBody>
                    <a:bodyPr/>
                    <a:lstStyle/>
                    <a:p>
                      <a:pPr algn="l"/>
                      <a:r>
                        <a:rPr lang="zh-TW" altLang="en-US" sz="1500" b="0">
                          <a:solidFill>
                            <a:srgbClr val="000000"/>
                          </a:solidFill>
                          <a:latin typeface="Calibri"/>
                          <a:cs typeface="Calibri"/>
                        </a:rPr>
                        <a:t>WDATA, WSTRB, WLAST, WUSER, WVALID, WREADY</a:t>
                      </a:r>
                    </a:p>
                  </a:txBody>
                  <a:tcPr anchor="ctr"/>
                </a:tc>
                <a:tc>
                  <a:txBody>
                    <a:bodyPr/>
                    <a:lstStyle/>
                    <a:p>
                      <a:pPr algn="l"/>
                      <a:r>
                        <a:rPr lang="zh-TW" altLang="en-US" sz="1500" b="0">
                          <a:solidFill>
                            <a:srgbClr val="000000"/>
                          </a:solidFill>
                          <a:latin typeface="Calibri"/>
                          <a:cs typeface="Calibri"/>
                        </a:rPr>
                        <a:t>WDATA 64 or 512, WSTRB 8 or 64</a:t>
                      </a:r>
                    </a:p>
                  </a:txBody>
                  <a:tcPr anchor="ctr"/>
                </a:tc>
                <a:extLst>
                  <a:ext uri="{0D108BD9-81ED-4DB2-BD59-A6C34878D82A}">
                    <a16:rowId xmlns:a16="http://schemas.microsoft.com/office/drawing/2014/main" val="3685211459"/>
                  </a:ext>
                </a:extLst>
              </a:tr>
              <a:tr h="584200">
                <a:tc>
                  <a:txBody>
                    <a:bodyPr/>
                    <a:lstStyle/>
                    <a:p>
                      <a:pPr algn="l"/>
                      <a:r>
                        <a:rPr lang="zh-TW" altLang="en-US" sz="1500" b="0">
                          <a:solidFill>
                            <a:srgbClr val="000000"/>
                          </a:solidFill>
                          <a:latin typeface="Calibri"/>
                          <a:cs typeface="Calibri"/>
                        </a:rPr>
                        <a:t>Write response B</a:t>
                      </a:r>
                    </a:p>
                  </a:txBody>
                  <a:tcPr anchor="ctr"/>
                </a:tc>
                <a:tc>
                  <a:txBody>
                    <a:bodyPr/>
                    <a:lstStyle/>
                    <a:p>
                      <a:pPr algn="l"/>
                      <a:r>
                        <a:rPr lang="zh-TW" altLang="en-US" sz="1500" b="0">
                          <a:solidFill>
                            <a:srgbClr val="000000"/>
                          </a:solidFill>
                          <a:latin typeface="Calibri"/>
                          <a:cs typeface="Calibri"/>
                        </a:rPr>
                        <a:t>BID, BRESP, BUSER, BVALID, BREADY</a:t>
                      </a:r>
                    </a:p>
                  </a:txBody>
                  <a:tcPr anchor="ctr"/>
                </a:tc>
                <a:tc>
                  <a:txBody>
                    <a:bodyPr/>
                    <a:lstStyle/>
                    <a:p>
                      <a:pPr algn="l"/>
                      <a:r>
                        <a:rPr lang="zh-TW" altLang="en-US" sz="1500" b="0">
                          <a:solidFill>
                            <a:srgbClr val="000000"/>
                          </a:solidFill>
                          <a:latin typeface="Calibri"/>
                          <a:cs typeface="Calibri"/>
                        </a:rPr>
                        <a:t>BID 8, BRESP 2, BUSER 8</a:t>
                      </a:r>
                    </a:p>
                  </a:txBody>
                  <a:tcPr anchor="ctr"/>
                </a:tc>
                <a:extLst>
                  <a:ext uri="{0D108BD9-81ED-4DB2-BD59-A6C34878D82A}">
                    <a16:rowId xmlns:a16="http://schemas.microsoft.com/office/drawing/2014/main" val="2867955927"/>
                  </a:ext>
                </a:extLst>
              </a:tr>
              <a:tr h="584200">
                <a:tc>
                  <a:txBody>
                    <a:bodyPr/>
                    <a:lstStyle/>
                    <a:p>
                      <a:pPr algn="l"/>
                      <a:r>
                        <a:rPr lang="zh-TW" altLang="en-US" sz="1500" b="0">
                          <a:solidFill>
                            <a:srgbClr val="000000"/>
                          </a:solidFill>
                          <a:latin typeface="Calibri"/>
                          <a:cs typeface="Calibri"/>
                        </a:rPr>
                        <a:t>Read address AR</a:t>
                      </a:r>
                    </a:p>
                  </a:txBody>
                  <a:tcPr anchor="ctr"/>
                </a:tc>
                <a:tc>
                  <a:txBody>
                    <a:bodyPr/>
                    <a:lstStyle/>
                    <a:p>
                      <a:pPr algn="l"/>
                      <a:r>
                        <a:rPr lang="zh-TW" altLang="en-US" sz="1500" b="0">
                          <a:solidFill>
                            <a:srgbClr val="000000"/>
                          </a:solidFill>
                          <a:latin typeface="Calibri"/>
                          <a:cs typeface="Calibri"/>
                        </a:rPr>
                        <a:t>ARID, ARADDR, ARLEN, ARSIZE, ARBURST, ARLOCK, ARCACHE, ARPROT, ARQOS, ARREGION, ARUSER, ARVALID, ARREADY</a:t>
                      </a:r>
                    </a:p>
                  </a:txBody>
                  <a:tcPr anchor="ctr"/>
                </a:tc>
                <a:tc>
                  <a:txBody>
                    <a:bodyPr/>
                    <a:lstStyle/>
                    <a:p>
                      <a:pPr algn="l"/>
                      <a:r>
                        <a:rPr lang="zh-TW" altLang="en-US" sz="1500" b="0">
                          <a:solidFill>
                            <a:srgbClr val="000000"/>
                          </a:solidFill>
                          <a:latin typeface="Calibri"/>
                          <a:cs typeface="Calibri"/>
                        </a:rPr>
                        <a:t>ARADDR 48, ARID 8, ARUSER 8</a:t>
                      </a:r>
                    </a:p>
                  </a:txBody>
                  <a:tcPr anchor="ctr"/>
                </a:tc>
                <a:extLst>
                  <a:ext uri="{0D108BD9-81ED-4DB2-BD59-A6C34878D82A}">
                    <a16:rowId xmlns:a16="http://schemas.microsoft.com/office/drawing/2014/main" val="3207053233"/>
                  </a:ext>
                </a:extLst>
              </a:tr>
              <a:tr h="584200">
                <a:tc>
                  <a:txBody>
                    <a:bodyPr/>
                    <a:lstStyle/>
                    <a:p>
                      <a:pPr algn="l"/>
                      <a:r>
                        <a:rPr lang="zh-TW" altLang="en-US" sz="1500" b="0">
                          <a:solidFill>
                            <a:srgbClr val="000000"/>
                          </a:solidFill>
                          <a:latin typeface="Calibri"/>
                          <a:cs typeface="Calibri"/>
                        </a:rPr>
                        <a:t>Read data R</a:t>
                      </a:r>
                    </a:p>
                  </a:txBody>
                  <a:tcPr anchor="ctr"/>
                </a:tc>
                <a:tc>
                  <a:txBody>
                    <a:bodyPr/>
                    <a:lstStyle/>
                    <a:p>
                      <a:pPr algn="l"/>
                      <a:r>
                        <a:rPr lang="zh-TW" altLang="en-US" sz="1500" b="0">
                          <a:solidFill>
                            <a:srgbClr val="000000"/>
                          </a:solidFill>
                          <a:latin typeface="Calibri"/>
                          <a:cs typeface="Calibri"/>
                        </a:rPr>
                        <a:t>RID, RDATA, RRESP, RLAST, RUSER, RVALID, RREADY</a:t>
                      </a:r>
                    </a:p>
                  </a:txBody>
                  <a:tcPr anchor="ctr"/>
                </a:tc>
                <a:tc>
                  <a:txBody>
                    <a:bodyPr/>
                    <a:lstStyle/>
                    <a:p>
                      <a:pPr algn="l"/>
                      <a:r>
                        <a:rPr lang="zh-TW" altLang="en-US" sz="1500" b="0" dirty="0">
                          <a:solidFill>
                            <a:srgbClr val="000000"/>
                          </a:solidFill>
                          <a:latin typeface="Calibri"/>
                          <a:cs typeface="Calibri"/>
                        </a:rPr>
                        <a:t>RDATA 64 or 512, RRESP 2</a:t>
                      </a:r>
                    </a:p>
                  </a:txBody>
                  <a:tcPr anchor="ctr"/>
                </a:tc>
                <a:extLst>
                  <a:ext uri="{0D108BD9-81ED-4DB2-BD59-A6C34878D82A}">
                    <a16:rowId xmlns:a16="http://schemas.microsoft.com/office/drawing/2014/main" val="1157134373"/>
                  </a:ext>
                </a:extLst>
              </a:tr>
            </a:tbl>
          </a:graphicData>
        </a:graphic>
      </p:graphicFrame>
    </p:spTree>
    <p:extLst>
      <p:ext uri="{BB962C8B-B14F-4D97-AF65-F5344CB8AC3E}">
        <p14:creationId xmlns:p14="http://schemas.microsoft.com/office/powerpoint/2010/main" val="22097660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A2DA440-3EA5-240E-EDFC-A98FC60EB305}"/>
              </a:ext>
            </a:extLst>
          </p:cNvPr>
          <p:cNvSpPr>
            <a:spLocks noGrp="1"/>
          </p:cNvSpPr>
          <p:nvPr>
            <p:ph type="title"/>
          </p:nvPr>
        </p:nvSpPr>
        <p:spPr>
          <a:xfrm>
            <a:off x="533400" y="228600"/>
            <a:ext cx="11176000" cy="584200"/>
          </a:xfrm>
        </p:spPr>
        <p:txBody>
          <a:bodyPr/>
          <a:lstStyle/>
          <a:p>
            <a:pPr marL="0" indent="0" algn="l">
              <a:buNone/>
            </a:pPr>
            <a:r>
              <a:rPr lang="en-US" altLang="zh-TW" sz="3200">
                <a:solidFill>
                  <a:srgbClr val="000000"/>
                </a:solidFill>
                <a:latin typeface="Calibri"/>
                <a:ea typeface="Calibri"/>
                <a:cs typeface="Calibri"/>
              </a:rPr>
              <a:t>NoC link interface</a:t>
            </a:r>
            <a:endParaRPr lang="en-US" altLang="zh-TW" sz="3200" dirty="0">
              <a:solidFill>
                <a:srgbClr val="000000"/>
              </a:solidFill>
              <a:latin typeface="Calibri"/>
              <a:ea typeface="Calibri"/>
              <a:cs typeface="Calibri"/>
            </a:endParaRPr>
          </a:p>
        </p:txBody>
      </p:sp>
      <p:graphicFrame>
        <p:nvGraphicFramePr>
          <p:cNvPr id="9" name="表格 8">
            <a:extLst>
              <a:ext uri="{FF2B5EF4-FFF2-40B4-BE49-F238E27FC236}">
                <a16:creationId xmlns:a16="http://schemas.microsoft.com/office/drawing/2014/main" id="{74965A2C-65E7-4483-945A-3D2453D4778D}"/>
              </a:ext>
            </a:extLst>
          </p:cNvPr>
          <p:cNvGraphicFramePr>
            <a:graphicFrameLocks noGrp="1"/>
          </p:cNvGraphicFramePr>
          <p:nvPr>
            <p:extLst>
              <p:ext uri="{D42A27DB-BD31-4B8C-83A1-F6EECF244321}">
                <p14:modId xmlns:p14="http://schemas.microsoft.com/office/powerpoint/2010/main" val="596657829"/>
              </p:ext>
            </p:extLst>
          </p:nvPr>
        </p:nvGraphicFramePr>
        <p:xfrm>
          <a:off x="1777307" y="2522096"/>
          <a:ext cx="7543801" cy="1625600"/>
        </p:xfrm>
        <a:graphic>
          <a:graphicData uri="http://schemas.openxmlformats.org/drawingml/2006/table">
            <a:tbl>
              <a:tblPr firstRow="1" bandRow="1">
                <a:tableStyleId>{5C22544A-7EE6-4342-B048-85BDC9FD1C3A}</a:tableStyleId>
              </a:tblPr>
              <a:tblGrid>
                <a:gridCol w="1109133">
                  <a:extLst>
                    <a:ext uri="{9D8B030D-6E8A-4147-A177-3AD203B41FA5}">
                      <a16:colId xmlns:a16="http://schemas.microsoft.com/office/drawing/2014/main" val="1559844773"/>
                    </a:ext>
                  </a:extLst>
                </a:gridCol>
                <a:gridCol w="1083734">
                  <a:extLst>
                    <a:ext uri="{9D8B030D-6E8A-4147-A177-3AD203B41FA5}">
                      <a16:colId xmlns:a16="http://schemas.microsoft.com/office/drawing/2014/main" val="4007415790"/>
                    </a:ext>
                  </a:extLst>
                </a:gridCol>
                <a:gridCol w="5350934">
                  <a:extLst>
                    <a:ext uri="{9D8B030D-6E8A-4147-A177-3AD203B41FA5}">
                      <a16:colId xmlns:a16="http://schemas.microsoft.com/office/drawing/2014/main" val="3091916261"/>
                    </a:ext>
                  </a:extLst>
                </a:gridCol>
              </a:tblGrid>
              <a:tr h="406400">
                <a:tc>
                  <a:txBody>
                    <a:bodyPr/>
                    <a:lstStyle/>
                    <a:p>
                      <a:pPr algn="l"/>
                      <a:r>
                        <a:rPr lang="zh-TW" altLang="en-US" sz="1700" b="1" dirty="0">
                          <a:solidFill>
                            <a:srgbClr val="FFFFFF"/>
                          </a:solidFill>
                          <a:latin typeface="Calibri"/>
                          <a:cs typeface="Calibri"/>
                        </a:rPr>
                        <a:t>Network</a:t>
                      </a:r>
                    </a:p>
                  </a:txBody>
                  <a:tcPr anchor="ctr"/>
                </a:tc>
                <a:tc>
                  <a:txBody>
                    <a:bodyPr/>
                    <a:lstStyle/>
                    <a:p>
                      <a:pPr algn="l"/>
                      <a:r>
                        <a:rPr lang="zh-TW" altLang="en-US" sz="1700" b="1">
                          <a:solidFill>
                            <a:srgbClr val="FFFFFF"/>
                          </a:solidFill>
                          <a:latin typeface="Calibri"/>
                          <a:cs typeface="Calibri"/>
                        </a:rPr>
                        <a:t>Flit width</a:t>
                      </a:r>
                    </a:p>
                  </a:txBody>
                  <a:tcPr anchor="ctr"/>
                </a:tc>
                <a:tc>
                  <a:txBody>
                    <a:bodyPr/>
                    <a:lstStyle/>
                    <a:p>
                      <a:pPr algn="l"/>
                      <a:r>
                        <a:rPr lang="zh-TW" altLang="en-US" sz="1700" b="1">
                          <a:solidFill>
                            <a:srgbClr val="FFFFFF"/>
                          </a:solidFill>
                          <a:latin typeface="Calibri"/>
                          <a:cs typeface="Calibri"/>
                        </a:rPr>
                        <a:t>Flow control</a:t>
                      </a:r>
                    </a:p>
                  </a:txBody>
                  <a:tcPr anchor="ctr"/>
                </a:tc>
                <a:extLst>
                  <a:ext uri="{0D108BD9-81ED-4DB2-BD59-A6C34878D82A}">
                    <a16:rowId xmlns:a16="http://schemas.microsoft.com/office/drawing/2014/main" val="2129446417"/>
                  </a:ext>
                </a:extLst>
              </a:tr>
              <a:tr h="406400">
                <a:tc>
                  <a:txBody>
                    <a:bodyPr/>
                    <a:lstStyle/>
                    <a:p>
                      <a:pPr algn="l"/>
                      <a:r>
                        <a:rPr lang="zh-TW" altLang="en-US" sz="1600" b="0">
                          <a:solidFill>
                            <a:srgbClr val="000000"/>
                          </a:solidFill>
                          <a:latin typeface="Calibri"/>
                          <a:cs typeface="Calibri"/>
                        </a:rPr>
                        <a:t>REQ</a:t>
                      </a:r>
                    </a:p>
                  </a:txBody>
                  <a:tcPr anchor="ctr"/>
                </a:tc>
                <a:tc>
                  <a:txBody>
                    <a:bodyPr/>
                    <a:lstStyle/>
                    <a:p>
                      <a:pPr algn="l"/>
                      <a:r>
                        <a:rPr lang="zh-TW" altLang="en-US" sz="1600" b="0">
                          <a:solidFill>
                            <a:srgbClr val="000000"/>
                          </a:solidFill>
                          <a:latin typeface="Calibri"/>
                          <a:cs typeface="Calibri"/>
                        </a:rPr>
                        <a:t>137</a:t>
                      </a:r>
                    </a:p>
                  </a:txBody>
                  <a:tcPr anchor="ctr"/>
                </a:tc>
                <a:tc>
                  <a:txBody>
                    <a:bodyPr/>
                    <a:lstStyle/>
                    <a:p>
                      <a:pPr algn="l"/>
                      <a:r>
                        <a:rPr lang="zh-TW" altLang="en-US" sz="1600" b="0">
                          <a:solidFill>
                            <a:srgbClr val="000000"/>
                          </a:solidFill>
                          <a:latin typeface="Calibri"/>
                          <a:cs typeface="Calibri"/>
                        </a:rPr>
                        <a:t>valid and ready, one instance per direction</a:t>
                      </a:r>
                    </a:p>
                  </a:txBody>
                  <a:tcPr anchor="ctr"/>
                </a:tc>
                <a:extLst>
                  <a:ext uri="{0D108BD9-81ED-4DB2-BD59-A6C34878D82A}">
                    <a16:rowId xmlns:a16="http://schemas.microsoft.com/office/drawing/2014/main" val="3045110143"/>
                  </a:ext>
                </a:extLst>
              </a:tr>
              <a:tr h="406400">
                <a:tc>
                  <a:txBody>
                    <a:bodyPr/>
                    <a:lstStyle/>
                    <a:p>
                      <a:pPr algn="l"/>
                      <a:r>
                        <a:rPr lang="zh-TW" altLang="en-US" sz="1600" b="0">
                          <a:solidFill>
                            <a:srgbClr val="000000"/>
                          </a:solidFill>
                          <a:latin typeface="Calibri"/>
                          <a:cs typeface="Calibri"/>
                        </a:rPr>
                        <a:t>RSP</a:t>
                      </a:r>
                    </a:p>
                  </a:txBody>
                  <a:tcPr anchor="ctr"/>
                </a:tc>
                <a:tc>
                  <a:txBody>
                    <a:bodyPr/>
                    <a:lstStyle/>
                    <a:p>
                      <a:pPr algn="l"/>
                      <a:r>
                        <a:rPr lang="zh-TW" altLang="en-US" sz="1600" b="0" dirty="0">
                          <a:solidFill>
                            <a:srgbClr val="000000"/>
                          </a:solidFill>
                          <a:latin typeface="Calibri"/>
                          <a:cs typeface="Calibri"/>
                        </a:rPr>
                        <a:t>127</a:t>
                      </a:r>
                    </a:p>
                  </a:txBody>
                  <a:tcPr anchor="ctr"/>
                </a:tc>
                <a:tc>
                  <a:txBody>
                    <a:bodyPr/>
                    <a:lstStyle/>
                    <a:p>
                      <a:pPr algn="l"/>
                      <a:r>
                        <a:rPr lang="zh-TW" altLang="en-US" sz="1600" b="0" dirty="0">
                          <a:solidFill>
                            <a:srgbClr val="000000"/>
                          </a:solidFill>
                          <a:latin typeface="Calibri"/>
                          <a:cs typeface="Calibri"/>
                        </a:rPr>
                        <a:t>valid and ready, one instance per direction</a:t>
                      </a:r>
                    </a:p>
                  </a:txBody>
                  <a:tcPr anchor="ctr"/>
                </a:tc>
                <a:extLst>
                  <a:ext uri="{0D108BD9-81ED-4DB2-BD59-A6C34878D82A}">
                    <a16:rowId xmlns:a16="http://schemas.microsoft.com/office/drawing/2014/main" val="1317108197"/>
                  </a:ext>
                </a:extLst>
              </a:tr>
              <a:tr h="406400">
                <a:tc>
                  <a:txBody>
                    <a:bodyPr/>
                    <a:lstStyle/>
                    <a:p>
                      <a:pPr algn="l"/>
                      <a:r>
                        <a:rPr lang="zh-TW" altLang="en-US" sz="1600" b="0">
                          <a:solidFill>
                            <a:srgbClr val="000000"/>
                          </a:solidFill>
                          <a:latin typeface="Calibri"/>
                          <a:cs typeface="Calibri"/>
                        </a:rPr>
                        <a:t>DAT</a:t>
                      </a:r>
                    </a:p>
                  </a:txBody>
                  <a:tcPr anchor="ctr"/>
                </a:tc>
                <a:tc>
                  <a:txBody>
                    <a:bodyPr/>
                    <a:lstStyle/>
                    <a:p>
                      <a:pPr algn="l"/>
                      <a:r>
                        <a:rPr lang="zh-TW" altLang="en-US" sz="1600" b="0" dirty="0">
                          <a:solidFill>
                            <a:srgbClr val="000000"/>
                          </a:solidFill>
                          <a:latin typeface="Calibri"/>
                          <a:cs typeface="Calibri"/>
                        </a:rPr>
                        <a:t>629</a:t>
                      </a:r>
                    </a:p>
                  </a:txBody>
                  <a:tcPr anchor="ctr"/>
                </a:tc>
                <a:tc>
                  <a:txBody>
                    <a:bodyPr/>
                    <a:lstStyle/>
                    <a:p>
                      <a:pPr algn="l"/>
                      <a:r>
                        <a:rPr lang="zh-TW" altLang="en-US" sz="1600" b="0" dirty="0">
                          <a:solidFill>
                            <a:srgbClr val="000000"/>
                          </a:solidFill>
                          <a:latin typeface="Calibri"/>
                          <a:cs typeface="Calibri"/>
                        </a:rPr>
                        <a:t>valid plus per-virtual-channel credit return, no ready</a:t>
                      </a:r>
                    </a:p>
                  </a:txBody>
                  <a:tcPr anchor="ctr"/>
                </a:tc>
                <a:extLst>
                  <a:ext uri="{0D108BD9-81ED-4DB2-BD59-A6C34878D82A}">
                    <a16:rowId xmlns:a16="http://schemas.microsoft.com/office/drawing/2014/main" val="1337979364"/>
                  </a:ext>
                </a:extLst>
              </a:tr>
            </a:tbl>
          </a:graphicData>
        </a:graphic>
      </p:graphicFrame>
      <p:sp>
        <p:nvSpPr>
          <p:cNvPr id="3" name="內容版面配置區 2">
            <a:extLst>
              <a:ext uri="{FF2B5EF4-FFF2-40B4-BE49-F238E27FC236}">
                <a16:creationId xmlns:a16="http://schemas.microsoft.com/office/drawing/2014/main" id="{DEBB3F8E-164C-7E1B-4563-DF105948FB53}"/>
              </a:ext>
            </a:extLst>
          </p:cNvPr>
          <p:cNvSpPr txBox="1">
            <a:spLocks/>
          </p:cNvSpPr>
          <p:nvPr/>
        </p:nvSpPr>
        <p:spPr>
          <a:xfrm>
            <a:off x="931334" y="1634900"/>
            <a:ext cx="9779000" cy="448733"/>
          </a:xfrm>
          <a:prstGeom prst="rect">
            <a:avLst/>
          </a:prstGeom>
        </p:spPr>
        <p:txBody>
          <a:bodyPr>
            <a:noAutofit/>
          </a:bodyPr>
          <a:lstStyle>
            <a:lvl1pPr marL="342900" indent="-342900" algn="l" rtl="0" eaLnBrk="0" fontAlgn="base" hangingPunct="0">
              <a:spcBef>
                <a:spcPct val="20000"/>
              </a:spcBef>
              <a:spcAft>
                <a:spcPct val="0"/>
              </a:spcAft>
              <a:buChar char="•"/>
              <a:defRPr kumimoji="1" sz="1800">
                <a:solidFill>
                  <a:srgbClr val="1B2A4A"/>
                </a:solidFill>
                <a:latin typeface="Arial"/>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a:spcBef>
                <a:spcPts val="250"/>
              </a:spcBef>
            </a:pPr>
            <a:r>
              <a:rPr lang="en-US" altLang="zh-TW" kern="0" dirty="0">
                <a:solidFill>
                  <a:srgbClr val="000000"/>
                </a:solidFill>
                <a:latin typeface="Calibri" panose="020F0502020204030204" pitchFamily="34" charset="0"/>
                <a:ea typeface="微軟正黑體"/>
                <a:cs typeface="Calibri" panose="020F0502020204030204" pitchFamily="34" charset="0"/>
              </a:rPr>
              <a:t>Each link carries the three physical networks, each an independent signal group per direction</a:t>
            </a:r>
          </a:p>
        </p:txBody>
      </p:sp>
    </p:spTree>
    <p:extLst>
      <p:ext uri="{BB962C8B-B14F-4D97-AF65-F5344CB8AC3E}">
        <p14:creationId xmlns:p14="http://schemas.microsoft.com/office/powerpoint/2010/main" val="19953992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8B6B82B-F48A-3C9B-8E58-F28396D41EDF}"/>
              </a:ext>
            </a:extLst>
          </p:cNvPr>
          <p:cNvSpPr>
            <a:spLocks noGrp="1"/>
          </p:cNvSpPr>
          <p:nvPr>
            <p:ph type="title"/>
          </p:nvPr>
        </p:nvSpPr>
        <p:spPr>
          <a:xfrm>
            <a:off x="508000" y="140442"/>
            <a:ext cx="11176000" cy="584200"/>
          </a:xfrm>
        </p:spPr>
        <p:txBody>
          <a:bodyPr/>
          <a:lstStyle/>
          <a:p>
            <a:pPr algn="l"/>
            <a:r>
              <a:rPr lang="fr-FR" altLang="zh-TW" sz="3200" dirty="0">
                <a:solidFill>
                  <a:srgbClr val="000000"/>
                </a:solidFill>
                <a:latin typeface="Calibri"/>
                <a:ea typeface="Calibri"/>
                <a:cs typeface="Calibri"/>
              </a:rPr>
              <a:t>NoC Communication Protocol – Flit </a:t>
            </a:r>
            <a:r>
              <a:rPr lang="en-US" altLang="zh-TW" sz="3200" dirty="0">
                <a:solidFill>
                  <a:srgbClr val="000000"/>
                </a:solidFill>
                <a:latin typeface="Calibri"/>
                <a:ea typeface="Calibri"/>
                <a:cs typeface="Calibri"/>
              </a:rPr>
              <a:t>header</a:t>
            </a:r>
          </a:p>
        </p:txBody>
      </p:sp>
      <p:graphicFrame>
        <p:nvGraphicFramePr>
          <p:cNvPr id="7" name="表格 6">
            <a:extLst>
              <a:ext uri="{FF2B5EF4-FFF2-40B4-BE49-F238E27FC236}">
                <a16:creationId xmlns:a16="http://schemas.microsoft.com/office/drawing/2014/main" id="{28804019-9F7C-4F7A-8839-53B2AED95467}"/>
              </a:ext>
            </a:extLst>
          </p:cNvPr>
          <p:cNvGraphicFramePr>
            <a:graphicFrameLocks noGrp="1"/>
          </p:cNvGraphicFramePr>
          <p:nvPr>
            <p:extLst>
              <p:ext uri="{D42A27DB-BD31-4B8C-83A1-F6EECF244321}">
                <p14:modId xmlns:p14="http://schemas.microsoft.com/office/powerpoint/2010/main" val="2196097687"/>
              </p:ext>
            </p:extLst>
          </p:nvPr>
        </p:nvGraphicFramePr>
        <p:xfrm>
          <a:off x="339524" y="724642"/>
          <a:ext cx="10078892" cy="6067988"/>
        </p:xfrm>
        <a:graphic>
          <a:graphicData uri="http://schemas.openxmlformats.org/drawingml/2006/table">
            <a:tbl>
              <a:tblPr firstRow="1" bandRow="1">
                <a:tableStyleId>{5C22544A-7EE6-4342-B048-85BDC9FD1C3A}</a:tableStyleId>
              </a:tblPr>
              <a:tblGrid>
                <a:gridCol w="1365197">
                  <a:extLst>
                    <a:ext uri="{9D8B030D-6E8A-4147-A177-3AD203B41FA5}">
                      <a16:colId xmlns:a16="http://schemas.microsoft.com/office/drawing/2014/main" val="20000"/>
                    </a:ext>
                  </a:extLst>
                </a:gridCol>
                <a:gridCol w="991211">
                  <a:extLst>
                    <a:ext uri="{9D8B030D-6E8A-4147-A177-3AD203B41FA5}">
                      <a16:colId xmlns:a16="http://schemas.microsoft.com/office/drawing/2014/main" val="20001"/>
                    </a:ext>
                  </a:extLst>
                </a:gridCol>
                <a:gridCol w="676592">
                  <a:extLst>
                    <a:ext uri="{9D8B030D-6E8A-4147-A177-3AD203B41FA5}">
                      <a16:colId xmlns:a16="http://schemas.microsoft.com/office/drawing/2014/main" val="20002"/>
                    </a:ext>
                  </a:extLst>
                </a:gridCol>
                <a:gridCol w="7045892">
                  <a:extLst>
                    <a:ext uri="{9D8B030D-6E8A-4147-A177-3AD203B41FA5}">
                      <a16:colId xmlns:a16="http://schemas.microsoft.com/office/drawing/2014/main" val="20003"/>
                    </a:ext>
                  </a:extLst>
                </a:gridCol>
              </a:tblGrid>
              <a:tr h="342530">
                <a:tc>
                  <a:txBody>
                    <a:bodyPr/>
                    <a:lstStyle/>
                    <a:p>
                      <a:pPr marL="0" indent="0" algn="l">
                        <a:buNone/>
                      </a:pPr>
                      <a:r>
                        <a:rPr lang="en-US" altLang="zh-TW" sz="1400" b="1" dirty="0">
                          <a:solidFill>
                            <a:srgbClr val="FFFFFF"/>
                          </a:solidFill>
                          <a:latin typeface="Calibri" panose="020F0502020204030204" pitchFamily="34" charset="0"/>
                          <a:ea typeface="Calibri" panose="020F0502020204030204" pitchFamily="34" charset="0"/>
                          <a:cs typeface="Calibri" panose="020F0502020204030204" pitchFamily="34" charset="0"/>
                        </a:rPr>
                        <a:t>Field</a:t>
                      </a:r>
                    </a:p>
                  </a:txBody>
                  <a:tcPr marL="63500" marR="63500" marT="25400" marB="25400" anchor="ctr"/>
                </a:tc>
                <a:tc>
                  <a:txBody>
                    <a:bodyPr/>
                    <a:lstStyle/>
                    <a:p>
                      <a:pPr marL="0" indent="0" algn="ctr">
                        <a:buNone/>
                      </a:pPr>
                      <a:r>
                        <a:rPr lang="en-US" altLang="zh-TW" sz="1400" b="1" dirty="0">
                          <a:solidFill>
                            <a:srgbClr val="FFFFFF"/>
                          </a:solidFill>
                          <a:latin typeface="Calibri" panose="020F0502020204030204" pitchFamily="34" charset="0"/>
                          <a:ea typeface="Calibri" panose="020F0502020204030204" pitchFamily="34" charset="0"/>
                          <a:cs typeface="Calibri" panose="020F0502020204030204" pitchFamily="34" charset="0"/>
                        </a:rPr>
                        <a:t>Bits</a:t>
                      </a:r>
                    </a:p>
                  </a:txBody>
                  <a:tcPr marL="63500" marR="63500" marT="25400" marB="25400" anchor="ctr"/>
                </a:tc>
                <a:tc>
                  <a:txBody>
                    <a:bodyPr/>
                    <a:lstStyle/>
                    <a:p>
                      <a:pPr marL="0" indent="0" algn="ctr">
                        <a:buNone/>
                      </a:pPr>
                      <a:r>
                        <a:rPr lang="en-US" altLang="zh-TW" sz="1400" b="1" dirty="0">
                          <a:solidFill>
                            <a:srgbClr val="FFFFFF"/>
                          </a:solidFill>
                          <a:latin typeface="Calibri" panose="020F0502020204030204" pitchFamily="34" charset="0"/>
                          <a:ea typeface="Calibri" panose="020F0502020204030204" pitchFamily="34" charset="0"/>
                          <a:cs typeface="Calibri" panose="020F0502020204030204" pitchFamily="34" charset="0"/>
                        </a:rPr>
                        <a:t>Width</a:t>
                      </a:r>
                    </a:p>
                  </a:txBody>
                  <a:tcPr marL="63500" marR="63500" marT="25400" marB="25400" anchor="ctr"/>
                </a:tc>
                <a:tc>
                  <a:txBody>
                    <a:bodyPr/>
                    <a:lstStyle/>
                    <a:p>
                      <a:pPr marL="0" indent="0" algn="l">
                        <a:buNone/>
                      </a:pPr>
                      <a:r>
                        <a:rPr lang="en-US" altLang="zh-TW" sz="1400" b="1" dirty="0">
                          <a:solidFill>
                            <a:srgbClr val="FFFFFF"/>
                          </a:solidFill>
                          <a:latin typeface="Calibri" panose="020F0502020204030204" pitchFamily="34" charset="0"/>
                          <a:ea typeface="Calibri" panose="020F0502020204030204" pitchFamily="34" charset="0"/>
                          <a:cs typeface="Calibri" panose="020F0502020204030204" pitchFamily="34" charset="0"/>
                        </a:rPr>
                        <a:t>Description</a:t>
                      </a:r>
                    </a:p>
                  </a:txBody>
                  <a:tcPr marL="63500" marR="63500" marT="25400" marB="25400" anchor="ctr"/>
                </a:tc>
                <a:extLst>
                  <a:ext uri="{0D108BD9-81ED-4DB2-BD59-A6C34878D82A}">
                    <a16:rowId xmlns:a16="http://schemas.microsoft.com/office/drawing/2014/main" val="10000"/>
                  </a:ext>
                </a:extLst>
              </a:tr>
              <a:tr h="1739771">
                <a:tc>
                  <a:txBody>
                    <a:bodyPr/>
                    <a:lstStyle/>
                    <a:p>
                      <a:pPr marL="0" indent="0" algn="l">
                        <a:buNone/>
                      </a:pPr>
                      <a:r>
                        <a:rPr lang="en-US" altLang="zh-TW" sz="1400" dirty="0">
                          <a:solidFill>
                            <a:srgbClr val="000000"/>
                          </a:solidFill>
                          <a:latin typeface="Calibri" panose="020F0502020204030204" pitchFamily="34" charset="0"/>
                          <a:ea typeface="Calibri" panose="020F0502020204030204" pitchFamily="34" charset="0"/>
                          <a:cs typeface="Calibri" panose="020F0502020204030204" pitchFamily="34" charset="0"/>
                        </a:rPr>
                        <a:t>axi_ch</a:t>
                      </a:r>
                    </a:p>
                  </a:txBody>
                  <a:tcPr marL="63500" marR="63500" marT="25400" marB="25400" anchor="ctr"/>
                </a:tc>
                <a:tc>
                  <a:txBody>
                    <a:bodyPr/>
                    <a:lstStyle/>
                    <a:p>
                      <a:pPr marL="0" indent="0" algn="l">
                        <a:buNone/>
                      </a:pPr>
                      <a:r>
                        <a:rPr lang="en-US" altLang="zh-TW" sz="1400" dirty="0">
                          <a:solidFill>
                            <a:srgbClr val="000000"/>
                          </a:solidFill>
                          <a:latin typeface="Calibri" panose="020F0502020204030204" pitchFamily="34" charset="0"/>
                          <a:ea typeface="Calibri" panose="020F0502020204030204" pitchFamily="34" charset="0"/>
                          <a:cs typeface="Calibri" panose="020F0502020204030204" pitchFamily="34" charset="0"/>
                        </a:rPr>
                        <a:t>[3:0]</a:t>
                      </a:r>
                    </a:p>
                  </a:txBody>
                  <a:tcPr marL="63500" marR="63500" marT="25400" marB="25400" anchor="ctr"/>
                </a:tc>
                <a:tc>
                  <a:txBody>
                    <a:bodyPr/>
                    <a:lstStyle/>
                    <a:p>
                      <a:pPr marL="0" indent="0" algn="l">
                        <a:buNone/>
                      </a:pPr>
                      <a:r>
                        <a:rPr lang="en-US" altLang="zh-TW" sz="1400" dirty="0">
                          <a:solidFill>
                            <a:srgbClr val="000000"/>
                          </a:solidFill>
                          <a:latin typeface="Calibri" panose="020F0502020204030204" pitchFamily="34" charset="0"/>
                          <a:ea typeface="Calibri" panose="020F0502020204030204" pitchFamily="34" charset="0"/>
                          <a:cs typeface="Calibri" panose="020F0502020204030204" pitchFamily="34" charset="0"/>
                        </a:rPr>
                        <a:t>4</a:t>
                      </a:r>
                    </a:p>
                  </a:txBody>
                  <a:tcPr marL="63500" marR="63500" marT="25400" marB="25400" anchor="ctr"/>
                </a:tc>
                <a:tc>
                  <a:txBody>
                    <a:bodyPr/>
                    <a:lstStyle/>
                    <a:p>
                      <a:pPr marL="0" indent="0" algn="l">
                        <a:buNone/>
                      </a:pPr>
                      <a:r>
                        <a:rPr lang="en-US" altLang="zh-TW" sz="1400" dirty="0">
                          <a:solidFill>
                            <a:srgbClr val="000000"/>
                          </a:solidFill>
                          <a:latin typeface="Calibri" panose="020F0502020204030204" pitchFamily="34" charset="0"/>
                          <a:ea typeface="Calibri" panose="020F0502020204030204" pitchFamily="34" charset="0"/>
                          <a:cs typeface="Calibri" panose="020F0502020204030204" pitchFamily="34" charset="0"/>
                        </a:rPr>
                        <a:t>AXI channel of the flit.</a:t>
                      </a:r>
                    </a:p>
                    <a:p>
                      <a:pPr marL="0" indent="0" algn="l">
                        <a:buNone/>
                      </a:pPr>
                      <a:r>
                        <a:rPr lang="en-US" altLang="zh-TW" sz="1400" dirty="0">
                          <a:solidFill>
                            <a:srgbClr val="000000"/>
                          </a:solidFill>
                          <a:latin typeface="Calibri" panose="020F0502020204030204" pitchFamily="34" charset="0"/>
                          <a:ea typeface="Calibri" panose="020F0502020204030204" pitchFamily="34" charset="0"/>
                          <a:cs typeface="Calibri" panose="020F0502020204030204" pitchFamily="34" charset="0"/>
                        </a:rPr>
                        <a:t>0: NarrowAw, on REQ</a:t>
                      </a:r>
                      <a:r>
                        <a:rPr lang="zh-TW" altLang="en-US" sz="1400" dirty="0">
                          <a:solidFill>
                            <a:srgbClr val="000000"/>
                          </a:solidFill>
                          <a:latin typeface="Calibri" panose="020F0502020204030204" pitchFamily="34" charset="0"/>
                          <a:ea typeface="微軟正黑體"/>
                          <a:cs typeface="Calibri" panose="020F0502020204030204" pitchFamily="34" charset="0"/>
                        </a:rPr>
                        <a:t>  </a:t>
                      </a:r>
                      <a:r>
                        <a:rPr lang="en-US" altLang="zh-TW" sz="1400" dirty="0">
                          <a:solidFill>
                            <a:srgbClr val="000000"/>
                          </a:solidFill>
                          <a:latin typeface="Calibri" panose="020F0502020204030204" pitchFamily="34" charset="0"/>
                          <a:ea typeface="Calibri" panose="020F0502020204030204" pitchFamily="34" charset="0"/>
                          <a:cs typeface="Calibri" panose="020F0502020204030204" pitchFamily="34" charset="0"/>
                        </a:rPr>
                        <a:t>1: NarrowW, on REQ</a:t>
                      </a:r>
                      <a:r>
                        <a:rPr lang="zh-TW" altLang="en-US" sz="1400" dirty="0">
                          <a:solidFill>
                            <a:srgbClr val="000000"/>
                          </a:solidFill>
                          <a:latin typeface="Calibri" panose="020F0502020204030204" pitchFamily="34" charset="0"/>
                          <a:ea typeface="微軟正黑體"/>
                          <a:cs typeface="Calibri" panose="020F0502020204030204" pitchFamily="34" charset="0"/>
                        </a:rPr>
                        <a:t>  </a:t>
                      </a:r>
                      <a:r>
                        <a:rPr lang="en-US" altLang="zh-TW" sz="1400" dirty="0">
                          <a:solidFill>
                            <a:srgbClr val="000000"/>
                          </a:solidFill>
                          <a:latin typeface="Calibri" panose="020F0502020204030204" pitchFamily="34" charset="0"/>
                          <a:ea typeface="Calibri" panose="020F0502020204030204" pitchFamily="34" charset="0"/>
                          <a:cs typeface="Calibri" panose="020F0502020204030204" pitchFamily="34" charset="0"/>
                        </a:rPr>
                        <a:t>2: NarrowAr, on REQ</a:t>
                      </a:r>
                      <a:r>
                        <a:rPr lang="zh-TW" altLang="en-US" sz="1400" dirty="0">
                          <a:solidFill>
                            <a:srgbClr val="000000"/>
                          </a:solidFill>
                          <a:latin typeface="Calibri" panose="020F0502020204030204" pitchFamily="34" charset="0"/>
                          <a:ea typeface="微軟正黑體"/>
                          <a:cs typeface="Calibri" panose="020F0502020204030204" pitchFamily="34" charset="0"/>
                        </a:rPr>
                        <a:t>  </a:t>
                      </a:r>
                      <a:r>
                        <a:rPr lang="en-US" altLang="zh-TW" sz="1400" dirty="0">
                          <a:solidFill>
                            <a:srgbClr val="000000"/>
                          </a:solidFill>
                          <a:latin typeface="Calibri" panose="020F0502020204030204" pitchFamily="34" charset="0"/>
                          <a:ea typeface="Calibri" panose="020F0502020204030204" pitchFamily="34" charset="0"/>
                          <a:cs typeface="Calibri" panose="020F0502020204030204" pitchFamily="34" charset="0"/>
                        </a:rPr>
                        <a:t>3: NarrowB, on RSP</a:t>
                      </a:r>
                    </a:p>
                    <a:p>
                      <a:pPr marL="0" indent="0" algn="l">
                        <a:buNone/>
                      </a:pPr>
                      <a:r>
                        <a:rPr lang="en-US" altLang="zh-TW" sz="1400" dirty="0">
                          <a:solidFill>
                            <a:srgbClr val="000000"/>
                          </a:solidFill>
                          <a:latin typeface="Calibri" panose="020F0502020204030204" pitchFamily="34" charset="0"/>
                          <a:ea typeface="Calibri" panose="020F0502020204030204" pitchFamily="34" charset="0"/>
                          <a:cs typeface="Calibri" panose="020F0502020204030204" pitchFamily="34" charset="0"/>
                        </a:rPr>
                        <a:t>4: NarrowR, on RSP</a:t>
                      </a:r>
                    </a:p>
                    <a:p>
                      <a:pPr marL="0" indent="0" algn="l">
                        <a:buNone/>
                      </a:pPr>
                      <a:r>
                        <a:rPr lang="en-US" altLang="zh-TW" sz="1400" dirty="0">
                          <a:solidFill>
                            <a:srgbClr val="000000"/>
                          </a:solidFill>
                          <a:latin typeface="Calibri" panose="020F0502020204030204" pitchFamily="34" charset="0"/>
                          <a:ea typeface="Calibri" panose="020F0502020204030204" pitchFamily="34" charset="0"/>
                          <a:cs typeface="Calibri" panose="020F0502020204030204" pitchFamily="34" charset="0"/>
                        </a:rPr>
                        <a:t>5: DataAw, on DAT</a:t>
                      </a:r>
                    </a:p>
                    <a:p>
                      <a:pPr marL="0" indent="0" algn="l">
                        <a:buNone/>
                      </a:pPr>
                      <a:r>
                        <a:rPr lang="en-US" altLang="zh-TW" sz="1400" dirty="0">
                          <a:solidFill>
                            <a:srgbClr val="000000"/>
                          </a:solidFill>
                          <a:latin typeface="Calibri" panose="020F0502020204030204" pitchFamily="34" charset="0"/>
                          <a:ea typeface="Calibri" panose="020F0502020204030204" pitchFamily="34" charset="0"/>
                          <a:cs typeface="Calibri" panose="020F0502020204030204" pitchFamily="34" charset="0"/>
                        </a:rPr>
                        <a:t>6: DataW, on DAT</a:t>
                      </a:r>
                    </a:p>
                    <a:p>
                      <a:pPr marL="0" indent="0" algn="l">
                        <a:buNone/>
                      </a:pPr>
                      <a:r>
                        <a:rPr lang="en-US" altLang="zh-TW" sz="1400" dirty="0">
                          <a:solidFill>
                            <a:srgbClr val="000000"/>
                          </a:solidFill>
                          <a:latin typeface="Calibri" panose="020F0502020204030204" pitchFamily="34" charset="0"/>
                          <a:ea typeface="Calibri" panose="020F0502020204030204" pitchFamily="34" charset="0"/>
                          <a:cs typeface="Calibri" panose="020F0502020204030204" pitchFamily="34" charset="0"/>
                        </a:rPr>
                        <a:t>7: DataAr, on REQ</a:t>
                      </a:r>
                    </a:p>
                    <a:p>
                      <a:pPr marL="0" indent="0" algn="l">
                        <a:buNone/>
                      </a:pPr>
                      <a:r>
                        <a:rPr lang="en-US" altLang="zh-TW" sz="1400" dirty="0">
                          <a:solidFill>
                            <a:srgbClr val="000000"/>
                          </a:solidFill>
                          <a:latin typeface="Calibri" panose="020F0502020204030204" pitchFamily="34" charset="0"/>
                          <a:ea typeface="Calibri" panose="020F0502020204030204" pitchFamily="34" charset="0"/>
                          <a:cs typeface="Calibri" panose="020F0502020204030204" pitchFamily="34" charset="0"/>
                        </a:rPr>
                        <a:t>8: DataB, on RSP</a:t>
                      </a:r>
                    </a:p>
                    <a:p>
                      <a:pPr marL="0" indent="0" algn="l">
                        <a:buNone/>
                      </a:pPr>
                      <a:r>
                        <a:rPr lang="en-US" altLang="zh-TW" sz="1400" dirty="0">
                          <a:solidFill>
                            <a:srgbClr val="000000"/>
                          </a:solidFill>
                          <a:latin typeface="Calibri" panose="020F0502020204030204" pitchFamily="34" charset="0"/>
                          <a:ea typeface="Calibri" panose="020F0502020204030204" pitchFamily="34" charset="0"/>
                          <a:cs typeface="Calibri" panose="020F0502020204030204" pitchFamily="34" charset="0"/>
                        </a:rPr>
                        <a:t>9: DataR, on DAT</a:t>
                      </a:r>
                    </a:p>
                  </a:txBody>
                  <a:tcPr marL="63500" marR="63500" marT="25400" marB="25400" anchor="ctr"/>
                </a:tc>
                <a:extLst>
                  <a:ext uri="{0D108BD9-81ED-4DB2-BD59-A6C34878D82A}">
                    <a16:rowId xmlns:a16="http://schemas.microsoft.com/office/drawing/2014/main" val="10001"/>
                  </a:ext>
                </a:extLst>
              </a:tr>
              <a:tr h="282126">
                <a:tc>
                  <a:txBody>
                    <a:bodyPr/>
                    <a:lstStyle/>
                    <a:p>
                      <a:pPr marL="0" indent="0" algn="l">
                        <a:buNone/>
                      </a:pPr>
                      <a:r>
                        <a:rPr lang="en-US" altLang="zh-TW" sz="1400" dirty="0">
                          <a:solidFill>
                            <a:srgbClr val="000000"/>
                          </a:solidFill>
                          <a:latin typeface="Calibri" panose="020F0502020204030204" pitchFamily="34" charset="0"/>
                          <a:ea typeface="Calibri" panose="020F0502020204030204" pitchFamily="34" charset="0"/>
                          <a:cs typeface="Calibri" panose="020F0502020204030204" pitchFamily="34" charset="0"/>
                        </a:rPr>
                        <a:t>src_id</a:t>
                      </a:r>
                    </a:p>
                  </a:txBody>
                  <a:tcPr marL="63500" marR="63500" marT="25400" marB="25400" anchor="ctr"/>
                </a:tc>
                <a:tc>
                  <a:txBody>
                    <a:bodyPr/>
                    <a:lstStyle/>
                    <a:p>
                      <a:pPr marL="0" indent="0" algn="l">
                        <a:buNone/>
                      </a:pPr>
                      <a:r>
                        <a:rPr lang="en-US" altLang="zh-TW" sz="1400" dirty="0">
                          <a:solidFill>
                            <a:srgbClr val="000000"/>
                          </a:solidFill>
                          <a:latin typeface="Calibri" panose="020F0502020204030204" pitchFamily="34" charset="0"/>
                          <a:ea typeface="Calibri" panose="020F0502020204030204" pitchFamily="34" charset="0"/>
                          <a:cs typeface="Calibri" panose="020F0502020204030204" pitchFamily="34" charset="0"/>
                        </a:rPr>
                        <a:t>[11:4]</a:t>
                      </a:r>
                    </a:p>
                  </a:txBody>
                  <a:tcPr marL="63500" marR="63500" marT="25400" marB="25400" anchor="ctr"/>
                </a:tc>
                <a:tc>
                  <a:txBody>
                    <a:bodyPr/>
                    <a:lstStyle/>
                    <a:p>
                      <a:pPr marL="0" indent="0" algn="l">
                        <a:buNone/>
                      </a:pPr>
                      <a:r>
                        <a:rPr lang="en-US" altLang="zh-TW" sz="1400" dirty="0">
                          <a:solidFill>
                            <a:srgbClr val="000000"/>
                          </a:solidFill>
                          <a:latin typeface="Calibri" panose="020F0502020204030204" pitchFamily="34" charset="0"/>
                          <a:ea typeface="Calibri" panose="020F0502020204030204" pitchFamily="34" charset="0"/>
                          <a:cs typeface="Calibri" panose="020F0502020204030204" pitchFamily="34" charset="0"/>
                        </a:rPr>
                        <a:t>8</a:t>
                      </a:r>
                    </a:p>
                  </a:txBody>
                  <a:tcPr marL="63500" marR="63500" marT="25400" marB="25400" anchor="ctr"/>
                </a:tc>
                <a:tc>
                  <a:txBody>
                    <a:bodyPr/>
                    <a:lstStyle/>
                    <a:p>
                      <a:pPr marL="0" indent="0" algn="l">
                        <a:buNone/>
                      </a:pPr>
                      <a:r>
                        <a:rPr lang="en-US" altLang="zh-TW" sz="1400" dirty="0">
                          <a:solidFill>
                            <a:srgbClr val="000000"/>
                          </a:solidFill>
                          <a:latin typeface="Calibri" panose="020F0502020204030204" pitchFamily="34" charset="0"/>
                          <a:ea typeface="Calibri" panose="020F0502020204030204" pitchFamily="34" charset="0"/>
                          <a:cs typeface="Calibri" panose="020F0502020204030204" pitchFamily="34" charset="0"/>
                        </a:rPr>
                        <a:t>Source node id, composed as {y[3:0], x[3:0]}</a:t>
                      </a:r>
                    </a:p>
                  </a:txBody>
                  <a:tcPr marL="63500" marR="63500" marT="25400" marB="25400" anchor="ctr"/>
                </a:tc>
                <a:extLst>
                  <a:ext uri="{0D108BD9-81ED-4DB2-BD59-A6C34878D82A}">
                    <a16:rowId xmlns:a16="http://schemas.microsoft.com/office/drawing/2014/main" val="10002"/>
                  </a:ext>
                </a:extLst>
              </a:tr>
              <a:tr h="282126">
                <a:tc>
                  <a:txBody>
                    <a:bodyPr/>
                    <a:lstStyle/>
                    <a:p>
                      <a:pPr marL="0" indent="0" algn="l">
                        <a:buNone/>
                      </a:pPr>
                      <a:r>
                        <a:rPr lang="en-US" altLang="zh-TW" sz="1400" dirty="0">
                          <a:solidFill>
                            <a:srgbClr val="000000"/>
                          </a:solidFill>
                          <a:latin typeface="Calibri" panose="020F0502020204030204" pitchFamily="34" charset="0"/>
                          <a:ea typeface="Calibri" panose="020F0502020204030204" pitchFamily="34" charset="0"/>
                          <a:cs typeface="Calibri" panose="020F0502020204030204" pitchFamily="34" charset="0"/>
                        </a:rPr>
                        <a:t>dst_id</a:t>
                      </a:r>
                    </a:p>
                  </a:txBody>
                  <a:tcPr marL="63500" marR="63500" marT="25400" marB="25400" anchor="ctr"/>
                </a:tc>
                <a:tc>
                  <a:txBody>
                    <a:bodyPr/>
                    <a:lstStyle/>
                    <a:p>
                      <a:pPr marL="0" indent="0" algn="l">
                        <a:buNone/>
                      </a:pPr>
                      <a:r>
                        <a:rPr lang="en-US" altLang="zh-TW" sz="1400" dirty="0">
                          <a:solidFill>
                            <a:srgbClr val="000000"/>
                          </a:solidFill>
                          <a:latin typeface="Calibri" panose="020F0502020204030204" pitchFamily="34" charset="0"/>
                          <a:ea typeface="Calibri" panose="020F0502020204030204" pitchFamily="34" charset="0"/>
                          <a:cs typeface="Calibri" panose="020F0502020204030204" pitchFamily="34" charset="0"/>
                        </a:rPr>
                        <a:t>[19:12]</a:t>
                      </a:r>
                    </a:p>
                  </a:txBody>
                  <a:tcPr marL="63500" marR="63500" marT="25400" marB="25400" anchor="ctr"/>
                </a:tc>
                <a:tc>
                  <a:txBody>
                    <a:bodyPr/>
                    <a:lstStyle/>
                    <a:p>
                      <a:pPr marL="0" indent="0" algn="l">
                        <a:buNone/>
                      </a:pPr>
                      <a:r>
                        <a:rPr lang="en-US" altLang="zh-TW" sz="1400" dirty="0">
                          <a:solidFill>
                            <a:srgbClr val="000000"/>
                          </a:solidFill>
                          <a:latin typeface="Calibri" panose="020F0502020204030204" pitchFamily="34" charset="0"/>
                          <a:ea typeface="Calibri" panose="020F0502020204030204" pitchFamily="34" charset="0"/>
                          <a:cs typeface="Calibri" panose="020F0502020204030204" pitchFamily="34" charset="0"/>
                        </a:rPr>
                        <a:t>8</a:t>
                      </a:r>
                    </a:p>
                  </a:txBody>
                  <a:tcPr marL="63500" marR="63500" marT="25400" marB="25400" anchor="ctr"/>
                </a:tc>
                <a:tc>
                  <a:txBody>
                    <a:bodyPr/>
                    <a:lstStyle/>
                    <a:p>
                      <a:pPr marL="0" indent="0" algn="l">
                        <a:buNone/>
                      </a:pPr>
                      <a:r>
                        <a:rPr lang="en-US" altLang="zh-TW" sz="1400" dirty="0">
                          <a:solidFill>
                            <a:srgbClr val="000000"/>
                          </a:solidFill>
                          <a:latin typeface="Calibri" panose="020F0502020204030204" pitchFamily="34" charset="0"/>
                          <a:ea typeface="Calibri" panose="020F0502020204030204" pitchFamily="34" charset="0"/>
                          <a:cs typeface="Calibri" panose="020F0502020204030204" pitchFamily="34" charset="0"/>
                        </a:rPr>
                        <a:t>Destination node id, same composition</a:t>
                      </a:r>
                    </a:p>
                  </a:txBody>
                  <a:tcPr marL="63500" marR="63500" marT="25400" marB="25400" anchor="ctr"/>
                </a:tc>
                <a:extLst>
                  <a:ext uri="{0D108BD9-81ED-4DB2-BD59-A6C34878D82A}">
                    <a16:rowId xmlns:a16="http://schemas.microsoft.com/office/drawing/2014/main" val="10003"/>
                  </a:ext>
                </a:extLst>
              </a:tr>
              <a:tr h="282126">
                <a:tc>
                  <a:txBody>
                    <a:bodyPr/>
                    <a:lstStyle/>
                    <a:p>
                      <a:pPr marL="0" indent="0" algn="l">
                        <a:buNone/>
                      </a:pPr>
                      <a:r>
                        <a:rPr sz="1400" b="0">
                          <a:latin typeface="Calibri" panose="020F0502020204030204" pitchFamily="34" charset="0"/>
                          <a:ea typeface="Calibri" panose="020F0502020204030204" pitchFamily="34" charset="0"/>
                          <a:cs typeface="Calibri" panose="020F0502020204030204" pitchFamily="34" charset="0"/>
                        </a:rPr>
                        <a:t>fixed_vc</a:t>
                      </a:r>
                    </a:p>
                  </a:txBody>
                  <a:tcPr marL="63500" marR="63500" marT="25400" marB="25400" anchor="ctr"/>
                </a:tc>
                <a:tc>
                  <a:txBody>
                    <a:bodyPr/>
                    <a:lstStyle/>
                    <a:p>
                      <a:pPr marL="0" indent="0" algn="l">
                        <a:buNone/>
                      </a:pPr>
                      <a:r>
                        <a:rPr sz="1400" b="0">
                          <a:latin typeface="Calibri" panose="020F0502020204030204" pitchFamily="34" charset="0"/>
                          <a:ea typeface="Calibri" panose="020F0502020204030204" pitchFamily="34" charset="0"/>
                          <a:cs typeface="Calibri" panose="020F0502020204030204" pitchFamily="34" charset="0"/>
                        </a:rPr>
                        <a:t>[20]</a:t>
                      </a:r>
                    </a:p>
                  </a:txBody>
                  <a:tcPr marL="63500" marR="63500" marT="25400" marB="25400" anchor="ctr"/>
                </a:tc>
                <a:tc>
                  <a:txBody>
                    <a:bodyPr/>
                    <a:lstStyle/>
                    <a:p>
                      <a:pPr marL="0" indent="0" algn="l">
                        <a:buNone/>
                      </a:pPr>
                      <a:r>
                        <a:rPr sz="1400" b="0">
                          <a:latin typeface="Calibri" panose="020F0502020204030204" pitchFamily="34" charset="0"/>
                          <a:ea typeface="Calibri" panose="020F0502020204030204" pitchFamily="34" charset="0"/>
                          <a:cs typeface="Calibri" panose="020F0502020204030204" pitchFamily="34" charset="0"/>
                        </a:rPr>
                        <a:t>1</a:t>
                      </a:r>
                    </a:p>
                  </a:txBody>
                  <a:tcPr marL="63500" marR="63500" marT="25400" marB="25400" anchor="ctr"/>
                </a:tc>
                <a:tc>
                  <a:txBody>
                    <a:bodyPr/>
                    <a:lstStyle/>
                    <a:p>
                      <a:pPr marL="0" indent="0" algn="l">
                        <a:buNone/>
                      </a:pPr>
                      <a:r>
                        <a:rPr sz="1400" b="0" dirty="0">
                          <a:latin typeface="Calibri" panose="020F0502020204030204" pitchFamily="34" charset="0"/>
                          <a:ea typeface="Calibri" panose="020F0502020204030204" pitchFamily="34" charset="0"/>
                          <a:cs typeface="Calibri" panose="020F0502020204030204" pitchFamily="34" charset="0"/>
                        </a:rPr>
                        <a:t>Holds </a:t>
                      </a:r>
                      <a:r>
                        <a:rPr sz="1400" b="0" dirty="0" err="1">
                          <a:latin typeface="Calibri" panose="020F0502020204030204" pitchFamily="34" charset="0"/>
                          <a:ea typeface="Calibri" panose="020F0502020204030204" pitchFamily="34" charset="0"/>
                          <a:cs typeface="Calibri" panose="020F0502020204030204" pitchFamily="34" charset="0"/>
                        </a:rPr>
                        <a:t>vc_id</a:t>
                      </a:r>
                      <a:r>
                        <a:rPr sz="1400" b="0" dirty="0">
                          <a:latin typeface="Calibri" panose="020F0502020204030204" pitchFamily="34" charset="0"/>
                          <a:ea typeface="Calibri" panose="020F0502020204030204" pitchFamily="34" charset="0"/>
                          <a:cs typeface="Calibri" panose="020F0502020204030204" pitchFamily="34" charset="0"/>
                        </a:rPr>
                        <a:t> end to end, no per-hop reallocation.</a:t>
                      </a:r>
                    </a:p>
                  </a:txBody>
                  <a:tcPr marL="63500" marR="63500" marT="25400" marB="25400" anchor="ctr"/>
                </a:tc>
                <a:extLst>
                  <a:ext uri="{0D108BD9-81ED-4DB2-BD59-A6C34878D82A}">
                    <a16:rowId xmlns:a16="http://schemas.microsoft.com/office/drawing/2014/main" val="10004"/>
                  </a:ext>
                </a:extLst>
              </a:tr>
              <a:tr h="282126">
                <a:tc>
                  <a:txBody>
                    <a:bodyPr/>
                    <a:lstStyle/>
                    <a:p>
                      <a:pPr marL="0" indent="0" algn="l">
                        <a:buNone/>
                      </a:pPr>
                      <a:r>
                        <a:rPr lang="en-US" altLang="zh-TW" sz="1400" dirty="0">
                          <a:solidFill>
                            <a:srgbClr val="000000"/>
                          </a:solidFill>
                          <a:latin typeface="Calibri" panose="020F0502020204030204" pitchFamily="34" charset="0"/>
                          <a:ea typeface="Calibri" panose="020F0502020204030204" pitchFamily="34" charset="0"/>
                          <a:cs typeface="Calibri" panose="020F0502020204030204" pitchFamily="34" charset="0"/>
                        </a:rPr>
                        <a:t>vc_id</a:t>
                      </a:r>
                    </a:p>
                  </a:txBody>
                  <a:tcPr marL="63500" marR="63500" marT="25400" marB="25400" anchor="ctr"/>
                </a:tc>
                <a:tc>
                  <a:txBody>
                    <a:bodyPr/>
                    <a:lstStyle/>
                    <a:p>
                      <a:pPr marL="0" indent="0" algn="l">
                        <a:buNone/>
                      </a:pPr>
                      <a:r>
                        <a:rPr sz="1400" b="0" dirty="0">
                          <a:latin typeface="Calibri" panose="020F0502020204030204" pitchFamily="34" charset="0"/>
                          <a:ea typeface="Calibri" panose="020F0502020204030204" pitchFamily="34" charset="0"/>
                          <a:cs typeface="Calibri" panose="020F0502020204030204" pitchFamily="34" charset="0"/>
                        </a:rPr>
                        <a:t>[23:21]</a:t>
                      </a:r>
                    </a:p>
                  </a:txBody>
                  <a:tcPr marL="63500" marR="63500" marT="25400" marB="25400" anchor="ctr"/>
                </a:tc>
                <a:tc>
                  <a:txBody>
                    <a:bodyPr/>
                    <a:lstStyle/>
                    <a:p>
                      <a:pPr marL="0" indent="0" algn="l">
                        <a:buNone/>
                      </a:pPr>
                      <a:r>
                        <a:rPr lang="en-US" altLang="zh-TW" sz="1400" dirty="0">
                          <a:solidFill>
                            <a:srgbClr val="000000"/>
                          </a:solidFill>
                          <a:latin typeface="Calibri" panose="020F0502020204030204" pitchFamily="34" charset="0"/>
                          <a:ea typeface="Calibri" panose="020F0502020204030204" pitchFamily="34" charset="0"/>
                          <a:cs typeface="Calibri" panose="020F0502020204030204" pitchFamily="34" charset="0"/>
                        </a:rPr>
                        <a:t>3</a:t>
                      </a:r>
                    </a:p>
                  </a:txBody>
                  <a:tcPr marL="63500" marR="63500" marT="25400" marB="25400" anchor="ctr"/>
                </a:tc>
                <a:tc>
                  <a:txBody>
                    <a:bodyPr/>
                    <a:lstStyle/>
                    <a:p>
                      <a:pPr marL="0" indent="0" algn="l">
                        <a:buNone/>
                      </a:pPr>
                      <a:r>
                        <a:rPr lang="en-US" altLang="zh-TW" sz="1400" dirty="0">
                          <a:solidFill>
                            <a:srgbClr val="000000"/>
                          </a:solidFill>
                          <a:latin typeface="Calibri" panose="020F0502020204030204" pitchFamily="34" charset="0"/>
                          <a:ea typeface="Calibri" panose="020F0502020204030204" pitchFamily="34" charset="0"/>
                          <a:cs typeface="Calibri" panose="020F0502020204030204" pitchFamily="34" charset="0"/>
                        </a:rPr>
                        <a:t>Virtual channel index, 0 to the configured VC count minus one</a:t>
                      </a:r>
                    </a:p>
                  </a:txBody>
                  <a:tcPr marL="63500" marR="63500" marT="25400" marB="25400" anchor="ctr"/>
                </a:tc>
                <a:extLst>
                  <a:ext uri="{0D108BD9-81ED-4DB2-BD59-A6C34878D82A}">
                    <a16:rowId xmlns:a16="http://schemas.microsoft.com/office/drawing/2014/main" val="1503523265"/>
                  </a:ext>
                </a:extLst>
              </a:tr>
              <a:tr h="282126">
                <a:tc>
                  <a:txBody>
                    <a:bodyPr/>
                    <a:lstStyle/>
                    <a:p>
                      <a:pPr marL="0" indent="0" algn="l">
                        <a:buNone/>
                      </a:pPr>
                      <a:r>
                        <a:rPr lang="en-US" altLang="zh-TW" sz="1400" dirty="0">
                          <a:solidFill>
                            <a:srgbClr val="000000"/>
                          </a:solidFill>
                          <a:latin typeface="Calibri" panose="020F0502020204030204" pitchFamily="34" charset="0"/>
                          <a:ea typeface="Calibri" panose="020F0502020204030204" pitchFamily="34" charset="0"/>
                          <a:cs typeface="Calibri" panose="020F0502020204030204" pitchFamily="34" charset="0"/>
                        </a:rPr>
                        <a:t>flit_tail</a:t>
                      </a:r>
                    </a:p>
                  </a:txBody>
                  <a:tcPr marL="63500" marR="63500" marT="25400" marB="25400" anchor="ctr"/>
                </a:tc>
                <a:tc>
                  <a:txBody>
                    <a:bodyPr/>
                    <a:lstStyle/>
                    <a:p>
                      <a:pPr marL="0" indent="0" algn="l">
                        <a:buNone/>
                      </a:pPr>
                      <a:r>
                        <a:rPr sz="1400" b="0" dirty="0">
                          <a:latin typeface="Calibri" panose="020F0502020204030204" pitchFamily="34" charset="0"/>
                          <a:ea typeface="Calibri" panose="020F0502020204030204" pitchFamily="34" charset="0"/>
                          <a:cs typeface="Calibri" panose="020F0502020204030204" pitchFamily="34" charset="0"/>
                        </a:rPr>
                        <a:t>[24]</a:t>
                      </a:r>
                    </a:p>
                  </a:txBody>
                  <a:tcPr marL="63500" marR="63500" marT="25400" marB="25400" anchor="ctr"/>
                </a:tc>
                <a:tc>
                  <a:txBody>
                    <a:bodyPr/>
                    <a:lstStyle/>
                    <a:p>
                      <a:pPr marL="0" indent="0" algn="l">
                        <a:buNone/>
                      </a:pPr>
                      <a:r>
                        <a:rPr lang="en-US" altLang="zh-TW" sz="14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marL="63500" marR="63500" marT="25400" marB="25400" anchor="ctr"/>
                </a:tc>
                <a:tc>
                  <a:txBody>
                    <a:bodyPr/>
                    <a:lstStyle/>
                    <a:p>
                      <a:pPr marL="0" indent="0" algn="l">
                        <a:buNone/>
                      </a:pPr>
                      <a:r>
                        <a:rPr lang="en-US" altLang="zh-TW" sz="1400" dirty="0">
                          <a:solidFill>
                            <a:srgbClr val="000000"/>
                          </a:solidFill>
                          <a:latin typeface="Calibri" panose="020F0502020204030204" pitchFamily="34" charset="0"/>
                          <a:ea typeface="Calibri" panose="020F0502020204030204" pitchFamily="34" charset="0"/>
                          <a:cs typeface="Calibri" panose="020F0502020204030204" pitchFamily="34" charset="0"/>
                        </a:rPr>
                        <a:t>Indicates the last flit of a packet</a:t>
                      </a:r>
                    </a:p>
                  </a:txBody>
                  <a:tcPr marL="63500" marR="63500" marT="25400" marB="25400" anchor="ctr"/>
                </a:tc>
                <a:extLst>
                  <a:ext uri="{0D108BD9-81ED-4DB2-BD59-A6C34878D82A}">
                    <a16:rowId xmlns:a16="http://schemas.microsoft.com/office/drawing/2014/main" val="10005"/>
                  </a:ext>
                </a:extLst>
              </a:tr>
              <a:tr h="282126">
                <a:tc>
                  <a:txBody>
                    <a:bodyPr/>
                    <a:lstStyle/>
                    <a:p>
                      <a:pPr marL="0" indent="0" algn="l">
                        <a:buNone/>
                      </a:pPr>
                      <a:r>
                        <a:rPr lang="en-US" altLang="zh-TW" sz="1400" dirty="0">
                          <a:solidFill>
                            <a:srgbClr val="000000"/>
                          </a:solidFill>
                          <a:latin typeface="Calibri" panose="020F0502020204030204" pitchFamily="34" charset="0"/>
                          <a:ea typeface="Calibri" panose="020F0502020204030204" pitchFamily="34" charset="0"/>
                          <a:cs typeface="Calibri" panose="020F0502020204030204" pitchFamily="34" charset="0"/>
                        </a:rPr>
                        <a:t>ordering_req</a:t>
                      </a:r>
                    </a:p>
                  </a:txBody>
                  <a:tcPr marL="63500" marR="63500" marT="25400" marB="25400" anchor="ctr"/>
                </a:tc>
                <a:tc>
                  <a:txBody>
                    <a:bodyPr/>
                    <a:lstStyle/>
                    <a:p>
                      <a:pPr marL="0" indent="0" algn="l">
                        <a:buNone/>
                      </a:pPr>
                      <a:r>
                        <a:rPr sz="1400" b="0" dirty="0">
                          <a:latin typeface="Calibri" panose="020F0502020204030204" pitchFamily="34" charset="0"/>
                          <a:ea typeface="Calibri" panose="020F0502020204030204" pitchFamily="34" charset="0"/>
                          <a:cs typeface="Calibri" panose="020F0502020204030204" pitchFamily="34" charset="0"/>
                        </a:rPr>
                        <a:t>[25]</a:t>
                      </a:r>
                    </a:p>
                  </a:txBody>
                  <a:tcPr marL="63500" marR="63500" marT="25400" marB="25400" anchor="ctr"/>
                </a:tc>
                <a:tc>
                  <a:txBody>
                    <a:bodyPr/>
                    <a:lstStyle/>
                    <a:p>
                      <a:pPr marL="0" indent="0" algn="l">
                        <a:buNone/>
                      </a:pPr>
                      <a:r>
                        <a:rPr lang="en-US" altLang="zh-TW" sz="14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marL="63500" marR="63500" marT="25400" marB="25400" anchor="ctr"/>
                </a:tc>
                <a:tc>
                  <a:txBody>
                    <a:bodyPr/>
                    <a:lstStyle/>
                    <a:p>
                      <a:pPr marL="0" indent="0" algn="l">
                        <a:buNone/>
                      </a:pPr>
                      <a:r>
                        <a:rPr lang="en-US" altLang="zh-TW" sz="1400" dirty="0">
                          <a:solidFill>
                            <a:srgbClr val="000000"/>
                          </a:solidFill>
                          <a:latin typeface="Calibri" panose="020F0502020204030204" pitchFamily="34" charset="0"/>
                          <a:ea typeface="Calibri" panose="020F0502020204030204" pitchFamily="34" charset="0"/>
                          <a:cs typeface="Calibri" panose="020F0502020204030204" pitchFamily="34" charset="0"/>
                        </a:rPr>
                        <a:t>When asserted, ordering_tag is valid</a:t>
                      </a:r>
                    </a:p>
                  </a:txBody>
                  <a:tcPr marL="63500" marR="63500" marT="25400" marB="25400" anchor="ctr"/>
                </a:tc>
                <a:extLst>
                  <a:ext uri="{0D108BD9-81ED-4DB2-BD59-A6C34878D82A}">
                    <a16:rowId xmlns:a16="http://schemas.microsoft.com/office/drawing/2014/main" val="10006"/>
                  </a:ext>
                </a:extLst>
              </a:tr>
              <a:tr h="282126">
                <a:tc>
                  <a:txBody>
                    <a:bodyPr/>
                    <a:lstStyle/>
                    <a:p>
                      <a:pPr marL="0" indent="0" algn="l">
                        <a:buNone/>
                      </a:pPr>
                      <a:r>
                        <a:rPr lang="en-US" altLang="zh-TW" sz="1400" dirty="0">
                          <a:solidFill>
                            <a:srgbClr val="000000"/>
                          </a:solidFill>
                          <a:latin typeface="Calibri" panose="020F0502020204030204" pitchFamily="34" charset="0"/>
                          <a:ea typeface="Calibri" panose="020F0502020204030204" pitchFamily="34" charset="0"/>
                          <a:cs typeface="Calibri" panose="020F0502020204030204" pitchFamily="34" charset="0"/>
                        </a:rPr>
                        <a:t>ordering_tag</a:t>
                      </a:r>
                    </a:p>
                  </a:txBody>
                  <a:tcPr marL="63500" marR="63500" marT="25400" marB="25400" anchor="ctr"/>
                </a:tc>
                <a:tc>
                  <a:txBody>
                    <a:bodyPr/>
                    <a:lstStyle/>
                    <a:p>
                      <a:pPr marL="0" indent="0" algn="l">
                        <a:buNone/>
                      </a:pPr>
                      <a:r>
                        <a:rPr sz="1400" b="0" dirty="0">
                          <a:latin typeface="Calibri" panose="020F0502020204030204" pitchFamily="34" charset="0"/>
                          <a:ea typeface="Calibri" panose="020F0502020204030204" pitchFamily="34" charset="0"/>
                          <a:cs typeface="Calibri" panose="020F0502020204030204" pitchFamily="34" charset="0"/>
                        </a:rPr>
                        <a:t>[33:26]</a:t>
                      </a:r>
                    </a:p>
                  </a:txBody>
                  <a:tcPr marL="63500" marR="63500" marT="25400" marB="25400" anchor="ctr"/>
                </a:tc>
                <a:tc>
                  <a:txBody>
                    <a:bodyPr/>
                    <a:lstStyle/>
                    <a:p>
                      <a:pPr marL="0" indent="0" algn="l">
                        <a:buNone/>
                      </a:pPr>
                      <a:r>
                        <a:rPr lang="en-US" altLang="zh-TW" sz="1400" dirty="0">
                          <a:solidFill>
                            <a:srgbClr val="000000"/>
                          </a:solidFill>
                          <a:latin typeface="Calibri" panose="020F0502020204030204" pitchFamily="34" charset="0"/>
                          <a:ea typeface="Calibri" panose="020F0502020204030204" pitchFamily="34" charset="0"/>
                          <a:cs typeface="Calibri" panose="020F0502020204030204" pitchFamily="34" charset="0"/>
                        </a:rPr>
                        <a:t>8</a:t>
                      </a:r>
                    </a:p>
                  </a:txBody>
                  <a:tcPr marL="63500" marR="63500" marT="25400" marB="25400" anchor="ctr"/>
                </a:tc>
                <a:tc>
                  <a:txBody>
                    <a:bodyPr/>
                    <a:lstStyle/>
                    <a:p>
                      <a:pPr marL="0" indent="0" algn="l">
                        <a:buNone/>
                      </a:pPr>
                      <a:r>
                        <a:rPr lang="en-US" altLang="zh-TW" sz="1400" dirty="0">
                          <a:solidFill>
                            <a:srgbClr val="000000"/>
                          </a:solidFill>
                          <a:latin typeface="Calibri" panose="020F0502020204030204" pitchFamily="34" charset="0"/>
                          <a:ea typeface="Calibri" panose="020F0502020204030204" pitchFamily="34" charset="0"/>
                          <a:cs typeface="Calibri" panose="020F0502020204030204" pitchFamily="34" charset="0"/>
                        </a:rPr>
                        <a:t>Reorder slot handle, allocated per transaction. Bounds a master to 256 outstanding transactions</a:t>
                      </a:r>
                    </a:p>
                  </a:txBody>
                  <a:tcPr marL="63500" marR="63500" marT="25400" marB="25400" anchor="ctr"/>
                </a:tc>
                <a:extLst>
                  <a:ext uri="{0D108BD9-81ED-4DB2-BD59-A6C34878D82A}">
                    <a16:rowId xmlns:a16="http://schemas.microsoft.com/office/drawing/2014/main" val="10007"/>
                  </a:ext>
                </a:extLst>
              </a:tr>
              <a:tr h="1243949">
                <a:tc>
                  <a:txBody>
                    <a:bodyPr/>
                    <a:lstStyle/>
                    <a:p>
                      <a:pPr algn="l">
                        <a:buNone/>
                      </a:pPr>
                      <a:r>
                        <a:rPr lang="zh-TW" sz="1400" b="0" i="0">
                          <a:solidFill>
                            <a:srgbClr val="000000"/>
                          </a:solidFill>
                          <a:effectLst/>
                          <a:latin typeface="Calibri" panose="020F0502020204030204" pitchFamily="34" charset="0"/>
                          <a:cs typeface="Calibri" panose="020F0502020204030204" pitchFamily="34" charset="0"/>
                        </a:rPr>
                        <a:t>collective_op</a:t>
                      </a:r>
                    </a:p>
                  </a:txBody>
                  <a:tcPr marL="63500" marR="63500" marT="31750" marB="31750" anchor="ctr"/>
                </a:tc>
                <a:tc>
                  <a:txBody>
                    <a:bodyPr/>
                    <a:lstStyle/>
                    <a:p>
                      <a:pPr algn="l">
                        <a:buNone/>
                      </a:pPr>
                      <a:r>
                        <a:rPr sz="1400" b="0">
                          <a:latin typeface="Calibri" panose="020F0502020204030204" pitchFamily="34" charset="0"/>
                          <a:ea typeface="Calibri" panose="020F0502020204030204" pitchFamily="34" charset="0"/>
                          <a:cs typeface="Calibri" panose="020F0502020204030204" pitchFamily="34" charset="0"/>
                        </a:rPr>
                        <a:t>[35:34]</a:t>
                      </a:r>
                    </a:p>
                  </a:txBody>
                  <a:tcPr marL="63500" marR="63500" marT="31750" marB="31750" anchor="ctr"/>
                </a:tc>
                <a:tc>
                  <a:txBody>
                    <a:bodyPr/>
                    <a:lstStyle/>
                    <a:p>
                      <a:pPr algn="l">
                        <a:buNone/>
                      </a:pPr>
                      <a:r>
                        <a:rPr lang="zh-TW" sz="1400" b="0" i="0" dirty="0">
                          <a:solidFill>
                            <a:srgbClr val="000000"/>
                          </a:solidFill>
                          <a:effectLst/>
                          <a:latin typeface="Calibri" panose="020F0502020204030204" pitchFamily="34" charset="0"/>
                          <a:cs typeface="Calibri" panose="020F0502020204030204" pitchFamily="34" charset="0"/>
                        </a:rPr>
                        <a:t>2</a:t>
                      </a:r>
                    </a:p>
                  </a:txBody>
                  <a:tcPr marL="63500" marR="63500" marT="31750" marB="31750" anchor="ctr"/>
                </a:tc>
                <a:tc>
                  <a:txBody>
                    <a:bodyPr/>
                    <a:lstStyle/>
                    <a:p>
                      <a:pPr algn="l">
                        <a:buNone/>
                      </a:pPr>
                      <a:r>
                        <a:rPr lang="zh-TW" sz="1400" b="0" i="0" dirty="0">
                          <a:solidFill>
                            <a:srgbClr val="000000"/>
                          </a:solidFill>
                          <a:effectLst/>
                          <a:latin typeface="Calibri" panose="020F0502020204030204" pitchFamily="34" charset="0"/>
                          <a:cs typeface="Calibri" panose="020F0502020204030204" pitchFamily="34" charset="0"/>
                        </a:rPr>
                        <a:t>Collective operation.</a:t>
                      </a:r>
                      <a:br>
                        <a:rPr lang="zh-TW" sz="1400" b="0" i="0" dirty="0">
                          <a:solidFill>
                            <a:srgbClr val="000000"/>
                          </a:solidFill>
                          <a:effectLst/>
                          <a:latin typeface="Calibri" panose="020F0502020204030204" pitchFamily="34" charset="0"/>
                          <a:cs typeface="Calibri" panose="020F0502020204030204" pitchFamily="34" charset="0"/>
                        </a:rPr>
                      </a:br>
                      <a:r>
                        <a:rPr lang="zh-TW" sz="1400" b="0" i="0" dirty="0">
                          <a:solidFill>
                            <a:srgbClr val="000000"/>
                          </a:solidFill>
                          <a:effectLst/>
                          <a:latin typeface="Calibri" panose="020F0502020204030204" pitchFamily="34" charset="0"/>
                          <a:cs typeface="Calibri" panose="020F0502020204030204" pitchFamily="34" charset="0"/>
                        </a:rPr>
                        <a:t>0: UNICAST, single destination, collective_mask zero</a:t>
                      </a:r>
                      <a:br>
                        <a:rPr lang="zh-TW" sz="1400" b="0" i="0" dirty="0">
                          <a:solidFill>
                            <a:srgbClr val="000000"/>
                          </a:solidFill>
                          <a:effectLst/>
                          <a:latin typeface="Calibri" panose="020F0502020204030204" pitchFamily="34" charset="0"/>
                          <a:cs typeface="Calibri" panose="020F0502020204030204" pitchFamily="34" charset="0"/>
                        </a:rPr>
                      </a:br>
                      <a:r>
                        <a:rPr lang="zh-TW" sz="1400" b="0" i="0" dirty="0">
                          <a:solidFill>
                            <a:srgbClr val="000000"/>
                          </a:solidFill>
                          <a:effectLst/>
                          <a:latin typeface="Calibri" panose="020F0502020204030204" pitchFamily="34" charset="0"/>
                          <a:cs typeface="Calibri" panose="020F0502020204030204" pitchFamily="34" charset="0"/>
                        </a:rPr>
                        <a:t>1: MULTICAST, replicate a request to the node set of collective_mask, merge its responses, error BRESP first</a:t>
                      </a:r>
                      <a:br>
                        <a:rPr lang="zh-TW" sz="1400" b="0" i="0" dirty="0">
                          <a:solidFill>
                            <a:srgbClr val="000000"/>
                          </a:solidFill>
                          <a:effectLst/>
                          <a:latin typeface="Calibri" panose="020F0502020204030204" pitchFamily="34" charset="0"/>
                          <a:cs typeface="Calibri" panose="020F0502020204030204" pitchFamily="34" charset="0"/>
                        </a:rPr>
                      </a:br>
                      <a:r>
                        <a:rPr lang="zh-TW" sz="1400" b="0" i="0" dirty="0">
                          <a:solidFill>
                            <a:srgbClr val="000000"/>
                          </a:solidFill>
                          <a:effectLst/>
                          <a:latin typeface="Calibri" panose="020F0502020204030204" pitchFamily="34" charset="0"/>
                          <a:cs typeface="Calibri" panose="020F0502020204030204" pitchFamily="34" charset="0"/>
                        </a:rPr>
                        <a:t>2-3: reserved</a:t>
                      </a:r>
                      <a:br>
                        <a:rPr lang="zh-TW" sz="1400" b="0" i="0" dirty="0">
                          <a:solidFill>
                            <a:srgbClr val="000000"/>
                          </a:solidFill>
                          <a:effectLst/>
                          <a:latin typeface="Calibri" panose="020F0502020204030204" pitchFamily="34" charset="0"/>
                          <a:cs typeface="Calibri" panose="020F0502020204030204" pitchFamily="34" charset="0"/>
                        </a:rPr>
                      </a:br>
                      <a:r>
                        <a:rPr lang="zh-TW" sz="1400" b="0" i="0" dirty="0">
                          <a:solidFill>
                            <a:srgbClr val="000000"/>
                          </a:solidFill>
                          <a:effectLst/>
                          <a:latin typeface="Calibri" panose="020F0502020204030204" pitchFamily="34" charset="0"/>
                          <a:cs typeface="Calibri" panose="020F0502020204030204" pitchFamily="34" charset="0"/>
                        </a:rPr>
                        <a:t>Write path only</a:t>
                      </a:r>
                    </a:p>
                  </a:txBody>
                  <a:tcPr marL="63500" marR="63500" marT="31750" marB="31750" anchor="ctr"/>
                </a:tc>
                <a:extLst>
                  <a:ext uri="{0D108BD9-81ED-4DB2-BD59-A6C34878D82A}">
                    <a16:rowId xmlns:a16="http://schemas.microsoft.com/office/drawing/2014/main" val="197103597"/>
                  </a:ext>
                </a:extLst>
              </a:tr>
              <a:tr h="453842">
                <a:tc>
                  <a:txBody>
                    <a:bodyPr/>
                    <a:lstStyle/>
                    <a:p>
                      <a:pPr algn="l">
                        <a:buNone/>
                      </a:pPr>
                      <a:r>
                        <a:rPr lang="zh-TW" sz="1400" b="0" i="0" dirty="0">
                          <a:solidFill>
                            <a:srgbClr val="000000"/>
                          </a:solidFill>
                          <a:effectLst/>
                          <a:latin typeface="Calibri" panose="020F0502020204030204" pitchFamily="34" charset="0"/>
                          <a:cs typeface="Calibri" panose="020F0502020204030204" pitchFamily="34" charset="0"/>
                        </a:rPr>
                        <a:t>collective_mask</a:t>
                      </a:r>
                    </a:p>
                  </a:txBody>
                  <a:tcPr marL="63500" marR="63500" marT="31750" marB="31750" anchor="ctr"/>
                </a:tc>
                <a:tc>
                  <a:txBody>
                    <a:bodyPr/>
                    <a:lstStyle/>
                    <a:p>
                      <a:pPr algn="l">
                        <a:buNone/>
                      </a:pPr>
                      <a:r>
                        <a:rPr sz="1400" b="0" dirty="0">
                          <a:latin typeface="Calibri" panose="020F0502020204030204" pitchFamily="34" charset="0"/>
                          <a:ea typeface="Calibri" panose="020F0502020204030204" pitchFamily="34" charset="0"/>
                          <a:cs typeface="Calibri" panose="020F0502020204030204" pitchFamily="34" charset="0"/>
                        </a:rPr>
                        <a:t>[43:36]</a:t>
                      </a:r>
                    </a:p>
                  </a:txBody>
                  <a:tcPr marL="63500" marR="63500" marT="31750" marB="31750" anchor="ctr"/>
                </a:tc>
                <a:tc>
                  <a:txBody>
                    <a:bodyPr/>
                    <a:lstStyle/>
                    <a:p>
                      <a:pPr algn="l">
                        <a:buNone/>
                      </a:pPr>
                      <a:r>
                        <a:rPr lang="zh-TW" sz="1400" b="0" i="0" dirty="0">
                          <a:solidFill>
                            <a:srgbClr val="000000"/>
                          </a:solidFill>
                          <a:effectLst/>
                          <a:latin typeface="Calibri" panose="020F0502020204030204" pitchFamily="34" charset="0"/>
                          <a:cs typeface="Calibri" panose="020F0502020204030204" pitchFamily="34" charset="0"/>
                        </a:rPr>
                        <a:t>8</a:t>
                      </a:r>
                    </a:p>
                  </a:txBody>
                  <a:tcPr marL="63500" marR="63500" marT="31750" marB="31750" anchor="ctr"/>
                </a:tc>
                <a:tc>
                  <a:txBody>
                    <a:bodyPr/>
                    <a:lstStyle/>
                    <a:p>
                      <a:pPr algn="l">
                        <a:buNone/>
                      </a:pPr>
                      <a:r>
                        <a:rPr lang="zh-TW" sz="1400" b="0" i="0" dirty="0">
                          <a:solidFill>
                            <a:srgbClr val="000000"/>
                          </a:solidFill>
                          <a:effectLst/>
                          <a:latin typeface="Calibri" panose="020F0502020204030204" pitchFamily="34" charset="0"/>
                          <a:cs typeface="Calibri" panose="020F0502020204030204" pitchFamily="34" charset="0"/>
                        </a:rPr>
                        <a:t>Derived from the AWUSER address mask</a:t>
                      </a:r>
                    </a:p>
                  </a:txBody>
                  <a:tcPr marL="63500" marR="63500" marT="31750" marB="31750" anchor="ctr"/>
                </a:tc>
                <a:extLst>
                  <a:ext uri="{0D108BD9-81ED-4DB2-BD59-A6C34878D82A}">
                    <a16:rowId xmlns:a16="http://schemas.microsoft.com/office/drawing/2014/main" val="2282285372"/>
                  </a:ext>
                </a:extLst>
              </a:tr>
            </a:tbl>
          </a:graphicData>
        </a:graphic>
      </p:graphicFrame>
    </p:spTree>
    <p:extLst>
      <p:ext uri="{BB962C8B-B14F-4D97-AF65-F5344CB8AC3E}">
        <p14:creationId xmlns:p14="http://schemas.microsoft.com/office/powerpoint/2010/main" val="38865836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字方塊 5">
            <a:extLst>
              <a:ext uri="{FF2B5EF4-FFF2-40B4-BE49-F238E27FC236}">
                <a16:creationId xmlns:a16="http://schemas.microsoft.com/office/drawing/2014/main" id="{4745F108-0931-B509-9436-DAFE3F034861}"/>
              </a:ext>
            </a:extLst>
          </p:cNvPr>
          <p:cNvSpPr txBox="1"/>
          <p:nvPr/>
        </p:nvSpPr>
        <p:spPr>
          <a:xfrm>
            <a:off x="533400" y="228600"/>
            <a:ext cx="11176000" cy="584200"/>
          </a:xfrm>
          <a:prstGeom prst="rect">
            <a:avLst/>
          </a:prstGeom>
          <a:noFill/>
        </p:spPr>
        <p:txBody>
          <a:bodyPr vertOverflow="overflow" vert="horz" wrap="square" rtlCol="0" anchor="t">
            <a:spAutoFit/>
          </a:bodyPr>
          <a:lstStyle/>
          <a:p>
            <a:pPr algn="l"/>
            <a:r>
              <a:rPr lang="en-US" altLang="zh-TW" sz="3200" b="1">
                <a:solidFill>
                  <a:srgbClr val="000000"/>
                </a:solidFill>
                <a:latin typeface="Calibri"/>
                <a:ea typeface="Calibri"/>
                <a:cs typeface="Calibri"/>
              </a:rPr>
              <a:t>Flit payload, requests and write data</a:t>
            </a:r>
            <a:endParaRPr lang="en-US" altLang="zh-TW" sz="3200" b="1" dirty="0">
              <a:solidFill>
                <a:srgbClr val="000000"/>
              </a:solidFill>
              <a:latin typeface="Calibri"/>
              <a:ea typeface="Calibri"/>
              <a:cs typeface="Calibri"/>
            </a:endParaRPr>
          </a:p>
        </p:txBody>
      </p:sp>
      <p:graphicFrame>
        <p:nvGraphicFramePr>
          <p:cNvPr id="3" name="表格 2">
            <a:extLst>
              <a:ext uri="{FF2B5EF4-FFF2-40B4-BE49-F238E27FC236}">
                <a16:creationId xmlns:a16="http://schemas.microsoft.com/office/drawing/2014/main" id="{346A06C1-15E1-43F5-8C9D-9DF0267FB424}"/>
              </a:ext>
            </a:extLst>
          </p:cNvPr>
          <p:cNvGraphicFramePr>
            <a:graphicFrameLocks noGrp="1"/>
          </p:cNvGraphicFramePr>
          <p:nvPr>
            <p:extLst>
              <p:ext uri="{D42A27DB-BD31-4B8C-83A1-F6EECF244321}">
                <p14:modId xmlns:p14="http://schemas.microsoft.com/office/powerpoint/2010/main" val="4042127304"/>
              </p:ext>
            </p:extLst>
          </p:nvPr>
        </p:nvGraphicFramePr>
        <p:xfrm>
          <a:off x="609600" y="1219200"/>
          <a:ext cx="5080000" cy="457200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772897520"/>
                    </a:ext>
                  </a:extLst>
                </a:gridCol>
                <a:gridCol w="1651000">
                  <a:extLst>
                    <a:ext uri="{9D8B030D-6E8A-4147-A177-3AD203B41FA5}">
                      <a16:colId xmlns:a16="http://schemas.microsoft.com/office/drawing/2014/main" val="2414656349"/>
                    </a:ext>
                  </a:extLst>
                </a:gridCol>
                <a:gridCol w="1143000">
                  <a:extLst>
                    <a:ext uri="{9D8B030D-6E8A-4147-A177-3AD203B41FA5}">
                      <a16:colId xmlns:a16="http://schemas.microsoft.com/office/drawing/2014/main" val="406032599"/>
                    </a:ext>
                  </a:extLst>
                </a:gridCol>
              </a:tblGrid>
              <a:tr h="381000">
                <a:tc>
                  <a:txBody>
                    <a:bodyPr/>
                    <a:lstStyle/>
                    <a:p>
                      <a:pPr algn="l"/>
                      <a:r>
                        <a:rPr lang="zh-TW" altLang="en-US" sz="1800" b="1">
                          <a:solidFill>
                            <a:srgbClr val="FFFFFF"/>
                          </a:solidFill>
                          <a:latin typeface="Calibri" panose="020F0502020204030204" pitchFamily="34" charset="0"/>
                          <a:cs typeface="Calibri" panose="020F0502020204030204" pitchFamily="34" charset="0"/>
                        </a:rPr>
                        <a:t>Aw, Ar, 93 b</a:t>
                      </a:r>
                    </a:p>
                  </a:txBody>
                  <a:tcPr anchor="ctr"/>
                </a:tc>
                <a:tc>
                  <a:txBody>
                    <a:bodyPr/>
                    <a:lstStyle/>
                    <a:p>
                      <a:pPr algn="l"/>
                      <a:r>
                        <a:rPr lang="zh-TW" altLang="en-US" sz="1800" b="1">
                          <a:solidFill>
                            <a:srgbClr val="FFFFFF"/>
                          </a:solidFill>
                          <a:latin typeface="Calibri" panose="020F0502020204030204" pitchFamily="34" charset="0"/>
                          <a:cs typeface="Calibri" panose="020F0502020204030204" pitchFamily="34" charset="0"/>
                        </a:rPr>
                        <a:t>Bits</a:t>
                      </a:r>
                    </a:p>
                  </a:txBody>
                  <a:tcPr anchor="ctr"/>
                </a:tc>
                <a:tc>
                  <a:txBody>
                    <a:bodyPr/>
                    <a:lstStyle/>
                    <a:p>
                      <a:pPr algn="l"/>
                      <a:r>
                        <a:rPr lang="zh-TW" altLang="en-US" sz="1800" b="1">
                          <a:solidFill>
                            <a:srgbClr val="FFFFFF"/>
                          </a:solidFill>
                          <a:latin typeface="Calibri" panose="020F0502020204030204" pitchFamily="34" charset="0"/>
                          <a:cs typeface="Calibri" panose="020F0502020204030204" pitchFamily="34" charset="0"/>
                        </a:rPr>
                        <a:t>Width</a:t>
                      </a:r>
                    </a:p>
                  </a:txBody>
                  <a:tcPr anchor="ctr"/>
                </a:tc>
                <a:extLst>
                  <a:ext uri="{0D108BD9-81ED-4DB2-BD59-A6C34878D82A}">
                    <a16:rowId xmlns:a16="http://schemas.microsoft.com/office/drawing/2014/main" val="4265556086"/>
                  </a:ext>
                </a:extLst>
              </a:tr>
              <a:tr h="381000">
                <a:tc>
                  <a:txBody>
                    <a:bodyPr/>
                    <a:lstStyle/>
                    <a:p>
                      <a:pPr algn="l"/>
                      <a:r>
                        <a:rPr lang="zh-TW" altLang="en-US" sz="1800" b="0">
                          <a:solidFill>
                            <a:srgbClr val="000000"/>
                          </a:solidFill>
                          <a:latin typeface="Calibri" panose="020F0502020204030204" pitchFamily="34" charset="0"/>
                          <a:cs typeface="Calibri" panose="020F0502020204030204" pitchFamily="34" charset="0"/>
                        </a:rPr>
                        <a:t>id</a:t>
                      </a:r>
                    </a:p>
                  </a:txBody>
                  <a:tcPr anchor="ctr"/>
                </a:tc>
                <a:tc>
                  <a:txBody>
                    <a:bodyPr/>
                    <a:lstStyle/>
                    <a:p>
                      <a:pPr algn="l"/>
                      <a:r>
                        <a:rPr lang="zh-TW" altLang="en-US" sz="1800" b="0" dirty="0">
                          <a:solidFill>
                            <a:srgbClr val="000000"/>
                          </a:solidFill>
                          <a:latin typeface="Calibri" panose="020F0502020204030204" pitchFamily="34" charset="0"/>
                          <a:cs typeface="Calibri" panose="020F0502020204030204" pitchFamily="34" charset="0"/>
                        </a:rPr>
                        <a:t>[7:0]</a:t>
                      </a:r>
                    </a:p>
                  </a:txBody>
                  <a:tcPr anchor="ctr"/>
                </a:tc>
                <a:tc>
                  <a:txBody>
                    <a:bodyPr/>
                    <a:lstStyle/>
                    <a:p>
                      <a:pPr algn="l"/>
                      <a:r>
                        <a:rPr lang="zh-TW" altLang="en-US" sz="1800" b="0">
                          <a:solidFill>
                            <a:srgbClr val="000000"/>
                          </a:solidFill>
                          <a:latin typeface="Calibri" panose="020F0502020204030204" pitchFamily="34" charset="0"/>
                          <a:cs typeface="Calibri" panose="020F0502020204030204" pitchFamily="34" charset="0"/>
                        </a:rPr>
                        <a:t>8</a:t>
                      </a:r>
                    </a:p>
                  </a:txBody>
                  <a:tcPr anchor="ctr"/>
                </a:tc>
                <a:extLst>
                  <a:ext uri="{0D108BD9-81ED-4DB2-BD59-A6C34878D82A}">
                    <a16:rowId xmlns:a16="http://schemas.microsoft.com/office/drawing/2014/main" val="4055518551"/>
                  </a:ext>
                </a:extLst>
              </a:tr>
              <a:tr h="381000">
                <a:tc>
                  <a:txBody>
                    <a:bodyPr/>
                    <a:lstStyle/>
                    <a:p>
                      <a:pPr algn="l"/>
                      <a:r>
                        <a:rPr lang="zh-TW" altLang="en-US" sz="1800" b="0">
                          <a:solidFill>
                            <a:srgbClr val="000000"/>
                          </a:solidFill>
                          <a:latin typeface="Calibri" panose="020F0502020204030204" pitchFamily="34" charset="0"/>
                          <a:cs typeface="Calibri" panose="020F0502020204030204" pitchFamily="34" charset="0"/>
                        </a:rPr>
                        <a:t>addr</a:t>
                      </a:r>
                    </a:p>
                  </a:txBody>
                  <a:tcPr anchor="ctr"/>
                </a:tc>
                <a:tc>
                  <a:txBody>
                    <a:bodyPr/>
                    <a:lstStyle/>
                    <a:p>
                      <a:pPr algn="l"/>
                      <a:r>
                        <a:rPr lang="zh-TW" altLang="en-US" sz="1800" b="0">
                          <a:solidFill>
                            <a:srgbClr val="000000"/>
                          </a:solidFill>
                          <a:latin typeface="Calibri" panose="020F0502020204030204" pitchFamily="34" charset="0"/>
                          <a:cs typeface="Calibri" panose="020F0502020204030204" pitchFamily="34" charset="0"/>
                        </a:rPr>
                        <a:t>[55:8]</a:t>
                      </a:r>
                    </a:p>
                  </a:txBody>
                  <a:tcPr anchor="ctr"/>
                </a:tc>
                <a:tc>
                  <a:txBody>
                    <a:bodyPr/>
                    <a:lstStyle/>
                    <a:p>
                      <a:pPr algn="l"/>
                      <a:r>
                        <a:rPr lang="zh-TW" altLang="en-US" sz="1800" b="0">
                          <a:solidFill>
                            <a:srgbClr val="000000"/>
                          </a:solidFill>
                          <a:latin typeface="Calibri" panose="020F0502020204030204" pitchFamily="34" charset="0"/>
                          <a:cs typeface="Calibri" panose="020F0502020204030204" pitchFamily="34" charset="0"/>
                        </a:rPr>
                        <a:t>48</a:t>
                      </a:r>
                    </a:p>
                  </a:txBody>
                  <a:tcPr anchor="ctr"/>
                </a:tc>
                <a:extLst>
                  <a:ext uri="{0D108BD9-81ED-4DB2-BD59-A6C34878D82A}">
                    <a16:rowId xmlns:a16="http://schemas.microsoft.com/office/drawing/2014/main" val="2719912781"/>
                  </a:ext>
                </a:extLst>
              </a:tr>
              <a:tr h="381000">
                <a:tc>
                  <a:txBody>
                    <a:bodyPr/>
                    <a:lstStyle/>
                    <a:p>
                      <a:pPr algn="l"/>
                      <a:r>
                        <a:rPr lang="zh-TW" altLang="en-US" sz="1800" b="0">
                          <a:solidFill>
                            <a:srgbClr val="000000"/>
                          </a:solidFill>
                          <a:latin typeface="Calibri" panose="020F0502020204030204" pitchFamily="34" charset="0"/>
                          <a:cs typeface="Calibri" panose="020F0502020204030204" pitchFamily="34" charset="0"/>
                        </a:rPr>
                        <a:t>len</a:t>
                      </a:r>
                    </a:p>
                  </a:txBody>
                  <a:tcPr anchor="ctr"/>
                </a:tc>
                <a:tc>
                  <a:txBody>
                    <a:bodyPr/>
                    <a:lstStyle/>
                    <a:p>
                      <a:pPr algn="l"/>
                      <a:r>
                        <a:rPr lang="zh-TW" altLang="en-US" sz="1800" b="0">
                          <a:solidFill>
                            <a:srgbClr val="000000"/>
                          </a:solidFill>
                          <a:latin typeface="Calibri" panose="020F0502020204030204" pitchFamily="34" charset="0"/>
                          <a:cs typeface="Calibri" panose="020F0502020204030204" pitchFamily="34" charset="0"/>
                        </a:rPr>
                        <a:t>[63:56]</a:t>
                      </a:r>
                    </a:p>
                  </a:txBody>
                  <a:tcPr anchor="ctr"/>
                </a:tc>
                <a:tc>
                  <a:txBody>
                    <a:bodyPr/>
                    <a:lstStyle/>
                    <a:p>
                      <a:pPr algn="l"/>
                      <a:r>
                        <a:rPr lang="zh-TW" altLang="en-US" sz="1800" b="0">
                          <a:solidFill>
                            <a:srgbClr val="000000"/>
                          </a:solidFill>
                          <a:latin typeface="Calibri" panose="020F0502020204030204" pitchFamily="34" charset="0"/>
                          <a:cs typeface="Calibri" panose="020F0502020204030204" pitchFamily="34" charset="0"/>
                        </a:rPr>
                        <a:t>8</a:t>
                      </a:r>
                    </a:p>
                  </a:txBody>
                  <a:tcPr anchor="ctr"/>
                </a:tc>
                <a:extLst>
                  <a:ext uri="{0D108BD9-81ED-4DB2-BD59-A6C34878D82A}">
                    <a16:rowId xmlns:a16="http://schemas.microsoft.com/office/drawing/2014/main" val="1226858939"/>
                  </a:ext>
                </a:extLst>
              </a:tr>
              <a:tr h="381000">
                <a:tc>
                  <a:txBody>
                    <a:bodyPr/>
                    <a:lstStyle/>
                    <a:p>
                      <a:pPr algn="l"/>
                      <a:r>
                        <a:rPr lang="zh-TW" altLang="en-US" sz="1800" b="0">
                          <a:solidFill>
                            <a:srgbClr val="000000"/>
                          </a:solidFill>
                          <a:latin typeface="Calibri" panose="020F0502020204030204" pitchFamily="34" charset="0"/>
                          <a:cs typeface="Calibri" panose="020F0502020204030204" pitchFamily="34" charset="0"/>
                        </a:rPr>
                        <a:t>size</a:t>
                      </a:r>
                    </a:p>
                  </a:txBody>
                  <a:tcPr anchor="ctr"/>
                </a:tc>
                <a:tc>
                  <a:txBody>
                    <a:bodyPr/>
                    <a:lstStyle/>
                    <a:p>
                      <a:pPr algn="l"/>
                      <a:r>
                        <a:rPr lang="zh-TW" altLang="en-US" sz="1800" b="0">
                          <a:solidFill>
                            <a:srgbClr val="000000"/>
                          </a:solidFill>
                          <a:latin typeface="Calibri" panose="020F0502020204030204" pitchFamily="34" charset="0"/>
                          <a:cs typeface="Calibri" panose="020F0502020204030204" pitchFamily="34" charset="0"/>
                        </a:rPr>
                        <a:t>[66:64]</a:t>
                      </a:r>
                    </a:p>
                  </a:txBody>
                  <a:tcPr anchor="ctr"/>
                </a:tc>
                <a:tc>
                  <a:txBody>
                    <a:bodyPr/>
                    <a:lstStyle/>
                    <a:p>
                      <a:pPr algn="l"/>
                      <a:r>
                        <a:rPr lang="zh-TW" altLang="en-US" sz="1800" b="0">
                          <a:solidFill>
                            <a:srgbClr val="000000"/>
                          </a:solidFill>
                          <a:latin typeface="Calibri" panose="020F0502020204030204" pitchFamily="34" charset="0"/>
                          <a:cs typeface="Calibri" panose="020F0502020204030204" pitchFamily="34" charset="0"/>
                        </a:rPr>
                        <a:t>3</a:t>
                      </a:r>
                    </a:p>
                  </a:txBody>
                  <a:tcPr anchor="ctr"/>
                </a:tc>
                <a:extLst>
                  <a:ext uri="{0D108BD9-81ED-4DB2-BD59-A6C34878D82A}">
                    <a16:rowId xmlns:a16="http://schemas.microsoft.com/office/drawing/2014/main" val="3207215664"/>
                  </a:ext>
                </a:extLst>
              </a:tr>
              <a:tr h="381000">
                <a:tc>
                  <a:txBody>
                    <a:bodyPr/>
                    <a:lstStyle/>
                    <a:p>
                      <a:pPr algn="l"/>
                      <a:r>
                        <a:rPr lang="zh-TW" altLang="en-US" sz="1800" b="0">
                          <a:solidFill>
                            <a:srgbClr val="000000"/>
                          </a:solidFill>
                          <a:latin typeface="Calibri" panose="020F0502020204030204" pitchFamily="34" charset="0"/>
                          <a:cs typeface="Calibri" panose="020F0502020204030204" pitchFamily="34" charset="0"/>
                        </a:rPr>
                        <a:t>burst</a:t>
                      </a:r>
                    </a:p>
                  </a:txBody>
                  <a:tcPr anchor="ctr"/>
                </a:tc>
                <a:tc>
                  <a:txBody>
                    <a:bodyPr/>
                    <a:lstStyle/>
                    <a:p>
                      <a:pPr algn="l"/>
                      <a:r>
                        <a:rPr lang="zh-TW" altLang="en-US" sz="1800" b="0">
                          <a:solidFill>
                            <a:srgbClr val="000000"/>
                          </a:solidFill>
                          <a:latin typeface="Calibri" panose="020F0502020204030204" pitchFamily="34" charset="0"/>
                          <a:cs typeface="Calibri" panose="020F0502020204030204" pitchFamily="34" charset="0"/>
                        </a:rPr>
                        <a:t>[68:67]</a:t>
                      </a:r>
                    </a:p>
                  </a:txBody>
                  <a:tcPr anchor="ctr"/>
                </a:tc>
                <a:tc>
                  <a:txBody>
                    <a:bodyPr/>
                    <a:lstStyle/>
                    <a:p>
                      <a:pPr algn="l"/>
                      <a:r>
                        <a:rPr lang="zh-TW" altLang="en-US" sz="1800" b="0">
                          <a:solidFill>
                            <a:srgbClr val="000000"/>
                          </a:solidFill>
                          <a:latin typeface="Calibri" panose="020F0502020204030204" pitchFamily="34" charset="0"/>
                          <a:cs typeface="Calibri" panose="020F0502020204030204" pitchFamily="34" charset="0"/>
                        </a:rPr>
                        <a:t>2</a:t>
                      </a:r>
                    </a:p>
                  </a:txBody>
                  <a:tcPr anchor="ctr"/>
                </a:tc>
                <a:extLst>
                  <a:ext uri="{0D108BD9-81ED-4DB2-BD59-A6C34878D82A}">
                    <a16:rowId xmlns:a16="http://schemas.microsoft.com/office/drawing/2014/main" val="2667357360"/>
                  </a:ext>
                </a:extLst>
              </a:tr>
              <a:tr h="381000">
                <a:tc>
                  <a:txBody>
                    <a:bodyPr/>
                    <a:lstStyle/>
                    <a:p>
                      <a:pPr algn="l"/>
                      <a:r>
                        <a:rPr lang="zh-TW" altLang="en-US" sz="1800" b="0">
                          <a:solidFill>
                            <a:srgbClr val="000000"/>
                          </a:solidFill>
                          <a:latin typeface="Calibri" panose="020F0502020204030204" pitchFamily="34" charset="0"/>
                          <a:cs typeface="Calibri" panose="020F0502020204030204" pitchFamily="34" charset="0"/>
                        </a:rPr>
                        <a:t>cache</a:t>
                      </a:r>
                    </a:p>
                  </a:txBody>
                  <a:tcPr anchor="ctr"/>
                </a:tc>
                <a:tc>
                  <a:txBody>
                    <a:bodyPr/>
                    <a:lstStyle/>
                    <a:p>
                      <a:pPr algn="l"/>
                      <a:r>
                        <a:rPr lang="zh-TW" altLang="en-US" sz="1800" b="0">
                          <a:solidFill>
                            <a:srgbClr val="000000"/>
                          </a:solidFill>
                          <a:latin typeface="Calibri" panose="020F0502020204030204" pitchFamily="34" charset="0"/>
                          <a:cs typeface="Calibri" panose="020F0502020204030204" pitchFamily="34" charset="0"/>
                        </a:rPr>
                        <a:t>[72:69]</a:t>
                      </a:r>
                    </a:p>
                  </a:txBody>
                  <a:tcPr anchor="ctr"/>
                </a:tc>
                <a:tc>
                  <a:txBody>
                    <a:bodyPr/>
                    <a:lstStyle/>
                    <a:p>
                      <a:pPr algn="l"/>
                      <a:r>
                        <a:rPr lang="zh-TW" altLang="en-US" sz="1800" b="0">
                          <a:solidFill>
                            <a:srgbClr val="000000"/>
                          </a:solidFill>
                          <a:latin typeface="Calibri" panose="020F0502020204030204" pitchFamily="34" charset="0"/>
                          <a:cs typeface="Calibri" panose="020F0502020204030204" pitchFamily="34" charset="0"/>
                        </a:rPr>
                        <a:t>4</a:t>
                      </a:r>
                    </a:p>
                  </a:txBody>
                  <a:tcPr anchor="ctr"/>
                </a:tc>
                <a:extLst>
                  <a:ext uri="{0D108BD9-81ED-4DB2-BD59-A6C34878D82A}">
                    <a16:rowId xmlns:a16="http://schemas.microsoft.com/office/drawing/2014/main" val="4250675399"/>
                  </a:ext>
                </a:extLst>
              </a:tr>
              <a:tr h="381000">
                <a:tc>
                  <a:txBody>
                    <a:bodyPr/>
                    <a:lstStyle/>
                    <a:p>
                      <a:pPr algn="l"/>
                      <a:r>
                        <a:rPr lang="zh-TW" altLang="en-US" sz="1800" b="0">
                          <a:solidFill>
                            <a:srgbClr val="000000"/>
                          </a:solidFill>
                          <a:latin typeface="Calibri" panose="020F0502020204030204" pitchFamily="34" charset="0"/>
                          <a:cs typeface="Calibri" panose="020F0502020204030204" pitchFamily="34" charset="0"/>
                        </a:rPr>
                        <a:t>lock</a:t>
                      </a:r>
                    </a:p>
                  </a:txBody>
                  <a:tcPr anchor="ctr"/>
                </a:tc>
                <a:tc>
                  <a:txBody>
                    <a:bodyPr/>
                    <a:lstStyle/>
                    <a:p>
                      <a:pPr algn="l"/>
                      <a:r>
                        <a:rPr lang="zh-TW" altLang="en-US" sz="1800" b="0">
                          <a:solidFill>
                            <a:srgbClr val="000000"/>
                          </a:solidFill>
                          <a:latin typeface="Calibri" panose="020F0502020204030204" pitchFamily="34" charset="0"/>
                          <a:cs typeface="Calibri" panose="020F0502020204030204" pitchFamily="34" charset="0"/>
                        </a:rPr>
                        <a:t>[73]</a:t>
                      </a:r>
                    </a:p>
                  </a:txBody>
                  <a:tcPr anchor="ctr"/>
                </a:tc>
                <a:tc>
                  <a:txBody>
                    <a:bodyPr/>
                    <a:lstStyle/>
                    <a:p>
                      <a:pPr algn="l"/>
                      <a:r>
                        <a:rPr lang="zh-TW" altLang="en-US" sz="1800" b="0">
                          <a:solidFill>
                            <a:srgbClr val="000000"/>
                          </a:solidFill>
                          <a:latin typeface="Calibri" panose="020F0502020204030204" pitchFamily="34" charset="0"/>
                          <a:cs typeface="Calibri" panose="020F0502020204030204" pitchFamily="34" charset="0"/>
                        </a:rPr>
                        <a:t>1</a:t>
                      </a:r>
                    </a:p>
                  </a:txBody>
                  <a:tcPr anchor="ctr"/>
                </a:tc>
                <a:extLst>
                  <a:ext uri="{0D108BD9-81ED-4DB2-BD59-A6C34878D82A}">
                    <a16:rowId xmlns:a16="http://schemas.microsoft.com/office/drawing/2014/main" val="2104597439"/>
                  </a:ext>
                </a:extLst>
              </a:tr>
              <a:tr h="381000">
                <a:tc>
                  <a:txBody>
                    <a:bodyPr/>
                    <a:lstStyle/>
                    <a:p>
                      <a:pPr algn="l"/>
                      <a:r>
                        <a:rPr lang="zh-TW" altLang="en-US" sz="1800" b="0">
                          <a:solidFill>
                            <a:srgbClr val="000000"/>
                          </a:solidFill>
                          <a:latin typeface="Calibri" panose="020F0502020204030204" pitchFamily="34" charset="0"/>
                          <a:cs typeface="Calibri" panose="020F0502020204030204" pitchFamily="34" charset="0"/>
                        </a:rPr>
                        <a:t>prot</a:t>
                      </a:r>
                    </a:p>
                  </a:txBody>
                  <a:tcPr anchor="ctr"/>
                </a:tc>
                <a:tc>
                  <a:txBody>
                    <a:bodyPr/>
                    <a:lstStyle/>
                    <a:p>
                      <a:pPr algn="l"/>
                      <a:r>
                        <a:rPr lang="zh-TW" altLang="en-US" sz="1800" b="0">
                          <a:solidFill>
                            <a:srgbClr val="000000"/>
                          </a:solidFill>
                          <a:latin typeface="Calibri" panose="020F0502020204030204" pitchFamily="34" charset="0"/>
                          <a:cs typeface="Calibri" panose="020F0502020204030204" pitchFamily="34" charset="0"/>
                        </a:rPr>
                        <a:t>[76:74]</a:t>
                      </a:r>
                    </a:p>
                  </a:txBody>
                  <a:tcPr anchor="ctr"/>
                </a:tc>
                <a:tc>
                  <a:txBody>
                    <a:bodyPr/>
                    <a:lstStyle/>
                    <a:p>
                      <a:pPr algn="l"/>
                      <a:r>
                        <a:rPr lang="zh-TW" altLang="en-US" sz="1800" b="0">
                          <a:solidFill>
                            <a:srgbClr val="000000"/>
                          </a:solidFill>
                          <a:latin typeface="Calibri" panose="020F0502020204030204" pitchFamily="34" charset="0"/>
                          <a:cs typeface="Calibri" panose="020F0502020204030204" pitchFamily="34" charset="0"/>
                        </a:rPr>
                        <a:t>3</a:t>
                      </a:r>
                    </a:p>
                  </a:txBody>
                  <a:tcPr anchor="ctr"/>
                </a:tc>
                <a:extLst>
                  <a:ext uri="{0D108BD9-81ED-4DB2-BD59-A6C34878D82A}">
                    <a16:rowId xmlns:a16="http://schemas.microsoft.com/office/drawing/2014/main" val="3053341718"/>
                  </a:ext>
                </a:extLst>
              </a:tr>
              <a:tr h="381000">
                <a:tc>
                  <a:txBody>
                    <a:bodyPr/>
                    <a:lstStyle/>
                    <a:p>
                      <a:pPr algn="l"/>
                      <a:r>
                        <a:rPr lang="zh-TW" altLang="en-US" sz="1800" b="0">
                          <a:solidFill>
                            <a:srgbClr val="000000"/>
                          </a:solidFill>
                          <a:latin typeface="Calibri" panose="020F0502020204030204" pitchFamily="34" charset="0"/>
                          <a:cs typeface="Calibri" panose="020F0502020204030204" pitchFamily="34" charset="0"/>
                        </a:rPr>
                        <a:t>region</a:t>
                      </a:r>
                    </a:p>
                  </a:txBody>
                  <a:tcPr anchor="ctr"/>
                </a:tc>
                <a:tc>
                  <a:txBody>
                    <a:bodyPr/>
                    <a:lstStyle/>
                    <a:p>
                      <a:pPr algn="l"/>
                      <a:r>
                        <a:rPr lang="zh-TW" altLang="en-US" sz="1800" b="0" dirty="0">
                          <a:solidFill>
                            <a:srgbClr val="000000"/>
                          </a:solidFill>
                          <a:latin typeface="Calibri" panose="020F0502020204030204" pitchFamily="34" charset="0"/>
                          <a:cs typeface="Calibri" panose="020F0502020204030204" pitchFamily="34" charset="0"/>
                        </a:rPr>
                        <a:t>[80:77]</a:t>
                      </a:r>
                    </a:p>
                  </a:txBody>
                  <a:tcPr anchor="ctr"/>
                </a:tc>
                <a:tc>
                  <a:txBody>
                    <a:bodyPr/>
                    <a:lstStyle/>
                    <a:p>
                      <a:pPr algn="l"/>
                      <a:r>
                        <a:rPr lang="zh-TW" altLang="en-US" sz="1800" b="0">
                          <a:solidFill>
                            <a:srgbClr val="000000"/>
                          </a:solidFill>
                          <a:latin typeface="Calibri" panose="020F0502020204030204" pitchFamily="34" charset="0"/>
                          <a:cs typeface="Calibri" panose="020F0502020204030204" pitchFamily="34" charset="0"/>
                        </a:rPr>
                        <a:t>4</a:t>
                      </a:r>
                    </a:p>
                  </a:txBody>
                  <a:tcPr anchor="ctr"/>
                </a:tc>
                <a:extLst>
                  <a:ext uri="{0D108BD9-81ED-4DB2-BD59-A6C34878D82A}">
                    <a16:rowId xmlns:a16="http://schemas.microsoft.com/office/drawing/2014/main" val="3214829080"/>
                  </a:ext>
                </a:extLst>
              </a:tr>
              <a:tr h="381000">
                <a:tc>
                  <a:txBody>
                    <a:bodyPr/>
                    <a:lstStyle/>
                    <a:p>
                      <a:pPr algn="l"/>
                      <a:r>
                        <a:rPr lang="zh-TW" altLang="en-US" sz="1800" b="0">
                          <a:solidFill>
                            <a:srgbClr val="000000"/>
                          </a:solidFill>
                          <a:latin typeface="Calibri" panose="020F0502020204030204" pitchFamily="34" charset="0"/>
                          <a:cs typeface="Calibri" panose="020F0502020204030204" pitchFamily="34" charset="0"/>
                        </a:rPr>
                        <a:t>qos</a:t>
                      </a:r>
                    </a:p>
                  </a:txBody>
                  <a:tcPr anchor="ctr"/>
                </a:tc>
                <a:tc>
                  <a:txBody>
                    <a:bodyPr/>
                    <a:lstStyle/>
                    <a:p>
                      <a:pPr algn="l"/>
                      <a:r>
                        <a:rPr lang="zh-TW" altLang="en-US" sz="1800" b="0">
                          <a:solidFill>
                            <a:srgbClr val="000000"/>
                          </a:solidFill>
                          <a:latin typeface="Calibri" panose="020F0502020204030204" pitchFamily="34" charset="0"/>
                          <a:cs typeface="Calibri" panose="020F0502020204030204" pitchFamily="34" charset="0"/>
                        </a:rPr>
                        <a:t>[84:81]</a:t>
                      </a:r>
                    </a:p>
                  </a:txBody>
                  <a:tcPr anchor="ctr"/>
                </a:tc>
                <a:tc>
                  <a:txBody>
                    <a:bodyPr/>
                    <a:lstStyle/>
                    <a:p>
                      <a:pPr algn="l"/>
                      <a:r>
                        <a:rPr lang="zh-TW" altLang="en-US" sz="1800" b="0">
                          <a:solidFill>
                            <a:srgbClr val="000000"/>
                          </a:solidFill>
                          <a:latin typeface="Calibri" panose="020F0502020204030204" pitchFamily="34" charset="0"/>
                          <a:cs typeface="Calibri" panose="020F0502020204030204" pitchFamily="34" charset="0"/>
                        </a:rPr>
                        <a:t>4</a:t>
                      </a:r>
                    </a:p>
                  </a:txBody>
                  <a:tcPr anchor="ctr"/>
                </a:tc>
                <a:extLst>
                  <a:ext uri="{0D108BD9-81ED-4DB2-BD59-A6C34878D82A}">
                    <a16:rowId xmlns:a16="http://schemas.microsoft.com/office/drawing/2014/main" val="1756969350"/>
                  </a:ext>
                </a:extLst>
              </a:tr>
              <a:tr h="381000">
                <a:tc>
                  <a:txBody>
                    <a:bodyPr/>
                    <a:lstStyle/>
                    <a:p>
                      <a:pPr algn="l"/>
                      <a:r>
                        <a:rPr lang="zh-TW" altLang="en-US" sz="1800" b="0" dirty="0">
                          <a:solidFill>
                            <a:srgbClr val="000000"/>
                          </a:solidFill>
                          <a:latin typeface="Calibri" panose="020F0502020204030204" pitchFamily="34" charset="0"/>
                          <a:cs typeface="Calibri" panose="020F0502020204030204" pitchFamily="34" charset="0"/>
                        </a:rPr>
                        <a:t>user</a:t>
                      </a:r>
                    </a:p>
                  </a:txBody>
                  <a:tcPr anchor="ctr"/>
                </a:tc>
                <a:tc>
                  <a:txBody>
                    <a:bodyPr/>
                    <a:lstStyle/>
                    <a:p>
                      <a:pPr algn="l"/>
                      <a:r>
                        <a:rPr lang="zh-TW" altLang="en-US" sz="1800" b="0">
                          <a:solidFill>
                            <a:srgbClr val="000000"/>
                          </a:solidFill>
                          <a:latin typeface="Calibri" panose="020F0502020204030204" pitchFamily="34" charset="0"/>
                          <a:cs typeface="Calibri" panose="020F0502020204030204" pitchFamily="34" charset="0"/>
                        </a:rPr>
                        <a:t>[92:85]</a:t>
                      </a:r>
                    </a:p>
                  </a:txBody>
                  <a:tcPr anchor="ctr"/>
                </a:tc>
                <a:tc>
                  <a:txBody>
                    <a:bodyPr/>
                    <a:lstStyle/>
                    <a:p>
                      <a:pPr algn="l"/>
                      <a:r>
                        <a:rPr lang="zh-TW" altLang="en-US" sz="1800" b="0" dirty="0">
                          <a:solidFill>
                            <a:srgbClr val="000000"/>
                          </a:solidFill>
                          <a:latin typeface="Calibri" panose="020F0502020204030204" pitchFamily="34" charset="0"/>
                          <a:cs typeface="Calibri" panose="020F0502020204030204" pitchFamily="34" charset="0"/>
                        </a:rPr>
                        <a:t>8</a:t>
                      </a:r>
                    </a:p>
                  </a:txBody>
                  <a:tcPr anchor="ctr"/>
                </a:tc>
                <a:extLst>
                  <a:ext uri="{0D108BD9-81ED-4DB2-BD59-A6C34878D82A}">
                    <a16:rowId xmlns:a16="http://schemas.microsoft.com/office/drawing/2014/main" val="3387870291"/>
                  </a:ext>
                </a:extLst>
              </a:tr>
            </a:tbl>
          </a:graphicData>
        </a:graphic>
      </p:graphicFrame>
      <p:graphicFrame>
        <p:nvGraphicFramePr>
          <p:cNvPr id="8" name="表格 7">
            <a:extLst>
              <a:ext uri="{FF2B5EF4-FFF2-40B4-BE49-F238E27FC236}">
                <a16:creationId xmlns:a16="http://schemas.microsoft.com/office/drawing/2014/main" id="{F975E0C3-F0E0-4B62-8972-0E23B1469051}"/>
              </a:ext>
            </a:extLst>
          </p:cNvPr>
          <p:cNvGraphicFramePr>
            <a:graphicFrameLocks noGrp="1"/>
          </p:cNvGraphicFramePr>
          <p:nvPr>
            <p:extLst>
              <p:ext uri="{D42A27DB-BD31-4B8C-83A1-F6EECF244321}">
                <p14:modId xmlns:p14="http://schemas.microsoft.com/office/powerpoint/2010/main" val="4246423076"/>
              </p:ext>
            </p:extLst>
          </p:nvPr>
        </p:nvGraphicFramePr>
        <p:xfrm>
          <a:off x="6223000" y="1219200"/>
          <a:ext cx="5334000" cy="2006600"/>
        </p:xfrm>
        <a:graphic>
          <a:graphicData uri="http://schemas.openxmlformats.org/drawingml/2006/table">
            <a:tbl>
              <a:tblPr firstRow="1" bandRow="1">
                <a:tableStyleId>{5C22544A-7EE6-4342-B048-85BDC9FD1C3A}</a:tableStyleId>
              </a:tblPr>
              <a:tblGrid>
                <a:gridCol w="2413000">
                  <a:extLst>
                    <a:ext uri="{9D8B030D-6E8A-4147-A177-3AD203B41FA5}">
                      <a16:colId xmlns:a16="http://schemas.microsoft.com/office/drawing/2014/main" val="1752147358"/>
                    </a:ext>
                  </a:extLst>
                </a:gridCol>
                <a:gridCol w="1778000">
                  <a:extLst>
                    <a:ext uri="{9D8B030D-6E8A-4147-A177-3AD203B41FA5}">
                      <a16:colId xmlns:a16="http://schemas.microsoft.com/office/drawing/2014/main" val="1553002936"/>
                    </a:ext>
                  </a:extLst>
                </a:gridCol>
                <a:gridCol w="1143000">
                  <a:extLst>
                    <a:ext uri="{9D8B030D-6E8A-4147-A177-3AD203B41FA5}">
                      <a16:colId xmlns:a16="http://schemas.microsoft.com/office/drawing/2014/main" val="501926845"/>
                    </a:ext>
                  </a:extLst>
                </a:gridCol>
              </a:tblGrid>
              <a:tr h="381000">
                <a:tc>
                  <a:txBody>
                    <a:bodyPr/>
                    <a:lstStyle/>
                    <a:p>
                      <a:pPr algn="l"/>
                      <a:r>
                        <a:rPr lang="zh-TW" altLang="en-US" sz="1800" b="1">
                          <a:solidFill>
                            <a:srgbClr val="FFFFFF"/>
                          </a:solidFill>
                          <a:latin typeface="Calibri" panose="020F0502020204030204" pitchFamily="34" charset="0"/>
                          <a:cs typeface="Calibri" panose="020F0502020204030204" pitchFamily="34" charset="0"/>
                        </a:rPr>
                        <a:t>NarrowW, 81 b</a:t>
                      </a:r>
                    </a:p>
                  </a:txBody>
                  <a:tcPr anchor="ctr"/>
                </a:tc>
                <a:tc>
                  <a:txBody>
                    <a:bodyPr/>
                    <a:lstStyle/>
                    <a:p>
                      <a:pPr algn="l"/>
                      <a:r>
                        <a:rPr lang="zh-TW" altLang="en-US" sz="1800" b="1">
                          <a:solidFill>
                            <a:srgbClr val="FFFFFF"/>
                          </a:solidFill>
                          <a:latin typeface="Calibri" panose="020F0502020204030204" pitchFamily="34" charset="0"/>
                          <a:cs typeface="Calibri" panose="020F0502020204030204" pitchFamily="34" charset="0"/>
                        </a:rPr>
                        <a:t>Bits</a:t>
                      </a:r>
                    </a:p>
                  </a:txBody>
                  <a:tcPr anchor="ctr"/>
                </a:tc>
                <a:tc>
                  <a:txBody>
                    <a:bodyPr/>
                    <a:lstStyle/>
                    <a:p>
                      <a:pPr algn="l"/>
                      <a:r>
                        <a:rPr lang="zh-TW" altLang="en-US" sz="1800" b="1">
                          <a:solidFill>
                            <a:srgbClr val="FFFFFF"/>
                          </a:solidFill>
                          <a:latin typeface="Calibri" panose="020F0502020204030204" pitchFamily="34" charset="0"/>
                          <a:cs typeface="Calibri" panose="020F0502020204030204" pitchFamily="34" charset="0"/>
                        </a:rPr>
                        <a:t>Width</a:t>
                      </a:r>
                    </a:p>
                  </a:txBody>
                  <a:tcPr anchor="ctr"/>
                </a:tc>
                <a:extLst>
                  <a:ext uri="{0D108BD9-81ED-4DB2-BD59-A6C34878D82A}">
                    <a16:rowId xmlns:a16="http://schemas.microsoft.com/office/drawing/2014/main" val="2652328722"/>
                  </a:ext>
                </a:extLst>
              </a:tr>
              <a:tr h="406400">
                <a:tc>
                  <a:txBody>
                    <a:bodyPr/>
                    <a:lstStyle/>
                    <a:p>
                      <a:pPr algn="l"/>
                      <a:r>
                        <a:rPr lang="zh-TW" altLang="en-US" sz="1800" b="0">
                          <a:solidFill>
                            <a:srgbClr val="000000"/>
                          </a:solidFill>
                          <a:latin typeface="Calibri" panose="020F0502020204030204" pitchFamily="34" charset="0"/>
                          <a:cs typeface="Calibri" panose="020F0502020204030204" pitchFamily="34" charset="0"/>
                        </a:rPr>
                        <a:t>last</a:t>
                      </a:r>
                    </a:p>
                  </a:txBody>
                  <a:tcPr anchor="ctr"/>
                </a:tc>
                <a:tc>
                  <a:txBody>
                    <a:bodyPr/>
                    <a:lstStyle/>
                    <a:p>
                      <a:pPr algn="l"/>
                      <a:r>
                        <a:rPr lang="zh-TW" altLang="en-US" sz="1800" b="0">
                          <a:solidFill>
                            <a:srgbClr val="000000"/>
                          </a:solidFill>
                          <a:latin typeface="Calibri" panose="020F0502020204030204" pitchFamily="34" charset="0"/>
                          <a:cs typeface="Calibri" panose="020F0502020204030204" pitchFamily="34" charset="0"/>
                        </a:rPr>
                        <a:t>[0]</a:t>
                      </a:r>
                    </a:p>
                  </a:txBody>
                  <a:tcPr anchor="ctr"/>
                </a:tc>
                <a:tc>
                  <a:txBody>
                    <a:bodyPr/>
                    <a:lstStyle/>
                    <a:p>
                      <a:pPr algn="l"/>
                      <a:r>
                        <a:rPr lang="zh-TW" altLang="en-US" sz="1800" b="0">
                          <a:solidFill>
                            <a:srgbClr val="000000"/>
                          </a:solidFill>
                          <a:latin typeface="Calibri" panose="020F0502020204030204" pitchFamily="34" charset="0"/>
                          <a:cs typeface="Calibri" panose="020F0502020204030204" pitchFamily="34" charset="0"/>
                        </a:rPr>
                        <a:t>1</a:t>
                      </a:r>
                    </a:p>
                  </a:txBody>
                  <a:tcPr anchor="ctr"/>
                </a:tc>
                <a:extLst>
                  <a:ext uri="{0D108BD9-81ED-4DB2-BD59-A6C34878D82A}">
                    <a16:rowId xmlns:a16="http://schemas.microsoft.com/office/drawing/2014/main" val="3837083680"/>
                  </a:ext>
                </a:extLst>
              </a:tr>
              <a:tr h="406400">
                <a:tc>
                  <a:txBody>
                    <a:bodyPr/>
                    <a:lstStyle/>
                    <a:p>
                      <a:pPr algn="l"/>
                      <a:r>
                        <a:rPr lang="zh-TW" altLang="en-US" sz="1800" b="0" dirty="0">
                          <a:solidFill>
                            <a:srgbClr val="000000"/>
                          </a:solidFill>
                          <a:latin typeface="Calibri" panose="020F0502020204030204" pitchFamily="34" charset="0"/>
                          <a:cs typeface="Calibri" panose="020F0502020204030204" pitchFamily="34" charset="0"/>
                        </a:rPr>
                        <a:t>user</a:t>
                      </a:r>
                    </a:p>
                  </a:txBody>
                  <a:tcPr anchor="ctr"/>
                </a:tc>
                <a:tc>
                  <a:txBody>
                    <a:bodyPr/>
                    <a:lstStyle/>
                    <a:p>
                      <a:pPr algn="l"/>
                      <a:r>
                        <a:rPr lang="zh-TW" altLang="en-US" sz="1800" b="0">
                          <a:solidFill>
                            <a:srgbClr val="000000"/>
                          </a:solidFill>
                          <a:latin typeface="Calibri" panose="020F0502020204030204" pitchFamily="34" charset="0"/>
                          <a:cs typeface="Calibri" panose="020F0502020204030204" pitchFamily="34" charset="0"/>
                        </a:rPr>
                        <a:t>[8:1]</a:t>
                      </a:r>
                    </a:p>
                  </a:txBody>
                  <a:tcPr anchor="ctr"/>
                </a:tc>
                <a:tc>
                  <a:txBody>
                    <a:bodyPr/>
                    <a:lstStyle/>
                    <a:p>
                      <a:pPr algn="l"/>
                      <a:r>
                        <a:rPr lang="zh-TW" altLang="en-US" sz="1800" b="0">
                          <a:solidFill>
                            <a:srgbClr val="000000"/>
                          </a:solidFill>
                          <a:latin typeface="Calibri" panose="020F0502020204030204" pitchFamily="34" charset="0"/>
                          <a:cs typeface="Calibri" panose="020F0502020204030204" pitchFamily="34" charset="0"/>
                        </a:rPr>
                        <a:t>8</a:t>
                      </a:r>
                    </a:p>
                  </a:txBody>
                  <a:tcPr anchor="ctr"/>
                </a:tc>
                <a:extLst>
                  <a:ext uri="{0D108BD9-81ED-4DB2-BD59-A6C34878D82A}">
                    <a16:rowId xmlns:a16="http://schemas.microsoft.com/office/drawing/2014/main" val="911879530"/>
                  </a:ext>
                </a:extLst>
              </a:tr>
              <a:tr h="406400">
                <a:tc>
                  <a:txBody>
                    <a:bodyPr/>
                    <a:lstStyle/>
                    <a:p>
                      <a:pPr algn="l"/>
                      <a:r>
                        <a:rPr lang="zh-TW" altLang="en-US" sz="1800" b="0">
                          <a:solidFill>
                            <a:srgbClr val="000000"/>
                          </a:solidFill>
                          <a:latin typeface="Calibri" panose="020F0502020204030204" pitchFamily="34" charset="0"/>
                          <a:cs typeface="Calibri" panose="020F0502020204030204" pitchFamily="34" charset="0"/>
                        </a:rPr>
                        <a:t>strb</a:t>
                      </a:r>
                    </a:p>
                  </a:txBody>
                  <a:tcPr anchor="ctr"/>
                </a:tc>
                <a:tc>
                  <a:txBody>
                    <a:bodyPr/>
                    <a:lstStyle/>
                    <a:p>
                      <a:pPr algn="l"/>
                      <a:r>
                        <a:rPr lang="zh-TW" altLang="en-US" sz="1800" b="0">
                          <a:solidFill>
                            <a:srgbClr val="000000"/>
                          </a:solidFill>
                          <a:latin typeface="Calibri" panose="020F0502020204030204" pitchFamily="34" charset="0"/>
                          <a:cs typeface="Calibri" panose="020F0502020204030204" pitchFamily="34" charset="0"/>
                        </a:rPr>
                        <a:t>[16:9]</a:t>
                      </a:r>
                    </a:p>
                  </a:txBody>
                  <a:tcPr anchor="ctr"/>
                </a:tc>
                <a:tc>
                  <a:txBody>
                    <a:bodyPr/>
                    <a:lstStyle/>
                    <a:p>
                      <a:pPr algn="l"/>
                      <a:r>
                        <a:rPr lang="zh-TW" altLang="en-US" sz="1800" b="0">
                          <a:solidFill>
                            <a:srgbClr val="000000"/>
                          </a:solidFill>
                          <a:latin typeface="Calibri" panose="020F0502020204030204" pitchFamily="34" charset="0"/>
                          <a:cs typeface="Calibri" panose="020F0502020204030204" pitchFamily="34" charset="0"/>
                        </a:rPr>
                        <a:t>8</a:t>
                      </a:r>
                    </a:p>
                  </a:txBody>
                  <a:tcPr anchor="ctr"/>
                </a:tc>
                <a:extLst>
                  <a:ext uri="{0D108BD9-81ED-4DB2-BD59-A6C34878D82A}">
                    <a16:rowId xmlns:a16="http://schemas.microsoft.com/office/drawing/2014/main" val="4196359927"/>
                  </a:ext>
                </a:extLst>
              </a:tr>
              <a:tr h="406400">
                <a:tc>
                  <a:txBody>
                    <a:bodyPr/>
                    <a:lstStyle/>
                    <a:p>
                      <a:pPr algn="l"/>
                      <a:r>
                        <a:rPr lang="zh-TW" altLang="en-US" sz="1800" b="0">
                          <a:solidFill>
                            <a:srgbClr val="000000"/>
                          </a:solidFill>
                          <a:latin typeface="Calibri" panose="020F0502020204030204" pitchFamily="34" charset="0"/>
                          <a:cs typeface="Calibri" panose="020F0502020204030204" pitchFamily="34" charset="0"/>
                        </a:rPr>
                        <a:t>data</a:t>
                      </a:r>
                    </a:p>
                  </a:txBody>
                  <a:tcPr anchor="ctr"/>
                </a:tc>
                <a:tc>
                  <a:txBody>
                    <a:bodyPr/>
                    <a:lstStyle/>
                    <a:p>
                      <a:pPr algn="l"/>
                      <a:r>
                        <a:rPr lang="zh-TW" altLang="en-US" sz="1800" b="0">
                          <a:solidFill>
                            <a:srgbClr val="000000"/>
                          </a:solidFill>
                          <a:latin typeface="Calibri" panose="020F0502020204030204" pitchFamily="34" charset="0"/>
                          <a:cs typeface="Calibri" panose="020F0502020204030204" pitchFamily="34" charset="0"/>
                        </a:rPr>
                        <a:t>[80:17]</a:t>
                      </a:r>
                    </a:p>
                  </a:txBody>
                  <a:tcPr anchor="ctr"/>
                </a:tc>
                <a:tc>
                  <a:txBody>
                    <a:bodyPr/>
                    <a:lstStyle/>
                    <a:p>
                      <a:pPr algn="l"/>
                      <a:r>
                        <a:rPr lang="zh-TW" altLang="en-US" sz="1800" b="0" dirty="0">
                          <a:solidFill>
                            <a:srgbClr val="000000"/>
                          </a:solidFill>
                          <a:latin typeface="Calibri" panose="020F0502020204030204" pitchFamily="34" charset="0"/>
                          <a:cs typeface="Calibri" panose="020F0502020204030204" pitchFamily="34" charset="0"/>
                        </a:rPr>
                        <a:t>64</a:t>
                      </a:r>
                    </a:p>
                  </a:txBody>
                  <a:tcPr anchor="ctr"/>
                </a:tc>
                <a:extLst>
                  <a:ext uri="{0D108BD9-81ED-4DB2-BD59-A6C34878D82A}">
                    <a16:rowId xmlns:a16="http://schemas.microsoft.com/office/drawing/2014/main" val="1883688794"/>
                  </a:ext>
                </a:extLst>
              </a:tr>
            </a:tbl>
          </a:graphicData>
        </a:graphic>
      </p:graphicFrame>
      <p:graphicFrame>
        <p:nvGraphicFramePr>
          <p:cNvPr id="12" name="表格 11">
            <a:extLst>
              <a:ext uri="{FF2B5EF4-FFF2-40B4-BE49-F238E27FC236}">
                <a16:creationId xmlns:a16="http://schemas.microsoft.com/office/drawing/2014/main" id="{59204B96-A06E-4917-A44F-39FB4EDDF9C4}"/>
              </a:ext>
            </a:extLst>
          </p:cNvPr>
          <p:cNvGraphicFramePr>
            <a:graphicFrameLocks noGrp="1"/>
          </p:cNvGraphicFramePr>
          <p:nvPr>
            <p:extLst>
              <p:ext uri="{D42A27DB-BD31-4B8C-83A1-F6EECF244321}">
                <p14:modId xmlns:p14="http://schemas.microsoft.com/office/powerpoint/2010/main" val="3841818927"/>
              </p:ext>
            </p:extLst>
          </p:nvPr>
        </p:nvGraphicFramePr>
        <p:xfrm>
          <a:off x="6223000" y="3657600"/>
          <a:ext cx="5334000" cy="2006600"/>
        </p:xfrm>
        <a:graphic>
          <a:graphicData uri="http://schemas.openxmlformats.org/drawingml/2006/table">
            <a:tbl>
              <a:tblPr firstRow="1" bandRow="1">
                <a:tableStyleId>{5C22544A-7EE6-4342-B048-85BDC9FD1C3A}</a:tableStyleId>
              </a:tblPr>
              <a:tblGrid>
                <a:gridCol w="2413000">
                  <a:extLst>
                    <a:ext uri="{9D8B030D-6E8A-4147-A177-3AD203B41FA5}">
                      <a16:colId xmlns:a16="http://schemas.microsoft.com/office/drawing/2014/main" val="3874381190"/>
                    </a:ext>
                  </a:extLst>
                </a:gridCol>
                <a:gridCol w="1778000">
                  <a:extLst>
                    <a:ext uri="{9D8B030D-6E8A-4147-A177-3AD203B41FA5}">
                      <a16:colId xmlns:a16="http://schemas.microsoft.com/office/drawing/2014/main" val="165618768"/>
                    </a:ext>
                  </a:extLst>
                </a:gridCol>
                <a:gridCol w="1143000">
                  <a:extLst>
                    <a:ext uri="{9D8B030D-6E8A-4147-A177-3AD203B41FA5}">
                      <a16:colId xmlns:a16="http://schemas.microsoft.com/office/drawing/2014/main" val="422387455"/>
                    </a:ext>
                  </a:extLst>
                </a:gridCol>
              </a:tblGrid>
              <a:tr h="381000">
                <a:tc>
                  <a:txBody>
                    <a:bodyPr/>
                    <a:lstStyle/>
                    <a:p>
                      <a:pPr algn="l"/>
                      <a:r>
                        <a:rPr lang="zh-TW" altLang="en-US" sz="1800" b="1">
                          <a:solidFill>
                            <a:srgbClr val="FFFFFF"/>
                          </a:solidFill>
                          <a:latin typeface="Calibri" panose="020F0502020204030204" pitchFamily="34" charset="0"/>
                          <a:cs typeface="Calibri" panose="020F0502020204030204" pitchFamily="34" charset="0"/>
                        </a:rPr>
                        <a:t>DataW, 585 b</a:t>
                      </a:r>
                    </a:p>
                  </a:txBody>
                  <a:tcPr anchor="ctr"/>
                </a:tc>
                <a:tc>
                  <a:txBody>
                    <a:bodyPr/>
                    <a:lstStyle/>
                    <a:p>
                      <a:pPr algn="l"/>
                      <a:r>
                        <a:rPr lang="zh-TW" altLang="en-US" sz="1800" b="1">
                          <a:solidFill>
                            <a:srgbClr val="FFFFFF"/>
                          </a:solidFill>
                          <a:latin typeface="Calibri" panose="020F0502020204030204" pitchFamily="34" charset="0"/>
                          <a:cs typeface="Calibri" panose="020F0502020204030204" pitchFamily="34" charset="0"/>
                        </a:rPr>
                        <a:t>Bits</a:t>
                      </a:r>
                    </a:p>
                  </a:txBody>
                  <a:tcPr anchor="ctr"/>
                </a:tc>
                <a:tc>
                  <a:txBody>
                    <a:bodyPr/>
                    <a:lstStyle/>
                    <a:p>
                      <a:pPr algn="l"/>
                      <a:r>
                        <a:rPr lang="zh-TW" altLang="en-US" sz="1800" b="1">
                          <a:solidFill>
                            <a:srgbClr val="FFFFFF"/>
                          </a:solidFill>
                          <a:latin typeface="Calibri" panose="020F0502020204030204" pitchFamily="34" charset="0"/>
                          <a:cs typeface="Calibri" panose="020F0502020204030204" pitchFamily="34" charset="0"/>
                        </a:rPr>
                        <a:t>Width</a:t>
                      </a:r>
                    </a:p>
                  </a:txBody>
                  <a:tcPr anchor="ctr"/>
                </a:tc>
                <a:extLst>
                  <a:ext uri="{0D108BD9-81ED-4DB2-BD59-A6C34878D82A}">
                    <a16:rowId xmlns:a16="http://schemas.microsoft.com/office/drawing/2014/main" val="1340383303"/>
                  </a:ext>
                </a:extLst>
              </a:tr>
              <a:tr h="406400">
                <a:tc>
                  <a:txBody>
                    <a:bodyPr/>
                    <a:lstStyle/>
                    <a:p>
                      <a:pPr algn="l"/>
                      <a:r>
                        <a:rPr lang="zh-TW" altLang="en-US" sz="1800" b="0">
                          <a:solidFill>
                            <a:srgbClr val="000000"/>
                          </a:solidFill>
                          <a:latin typeface="Calibri" panose="020F0502020204030204" pitchFamily="34" charset="0"/>
                          <a:cs typeface="Calibri" panose="020F0502020204030204" pitchFamily="34" charset="0"/>
                        </a:rPr>
                        <a:t>last</a:t>
                      </a:r>
                    </a:p>
                  </a:txBody>
                  <a:tcPr anchor="ctr"/>
                </a:tc>
                <a:tc>
                  <a:txBody>
                    <a:bodyPr/>
                    <a:lstStyle/>
                    <a:p>
                      <a:pPr algn="l"/>
                      <a:r>
                        <a:rPr lang="zh-TW" altLang="en-US" sz="1800" b="0" dirty="0">
                          <a:solidFill>
                            <a:srgbClr val="000000"/>
                          </a:solidFill>
                          <a:latin typeface="Calibri" panose="020F0502020204030204" pitchFamily="34" charset="0"/>
                          <a:cs typeface="Calibri" panose="020F0502020204030204" pitchFamily="34" charset="0"/>
                        </a:rPr>
                        <a:t>[0]</a:t>
                      </a:r>
                    </a:p>
                  </a:txBody>
                  <a:tcPr anchor="ctr"/>
                </a:tc>
                <a:tc>
                  <a:txBody>
                    <a:bodyPr/>
                    <a:lstStyle/>
                    <a:p>
                      <a:pPr algn="l"/>
                      <a:r>
                        <a:rPr lang="zh-TW" altLang="en-US" sz="1800" b="0">
                          <a:solidFill>
                            <a:srgbClr val="000000"/>
                          </a:solidFill>
                          <a:latin typeface="Calibri" panose="020F0502020204030204" pitchFamily="34" charset="0"/>
                          <a:cs typeface="Calibri" panose="020F0502020204030204" pitchFamily="34" charset="0"/>
                        </a:rPr>
                        <a:t>1</a:t>
                      </a:r>
                    </a:p>
                  </a:txBody>
                  <a:tcPr anchor="ctr"/>
                </a:tc>
                <a:extLst>
                  <a:ext uri="{0D108BD9-81ED-4DB2-BD59-A6C34878D82A}">
                    <a16:rowId xmlns:a16="http://schemas.microsoft.com/office/drawing/2014/main" val="2115530854"/>
                  </a:ext>
                </a:extLst>
              </a:tr>
              <a:tr h="406400">
                <a:tc>
                  <a:txBody>
                    <a:bodyPr/>
                    <a:lstStyle/>
                    <a:p>
                      <a:pPr algn="l"/>
                      <a:r>
                        <a:rPr lang="zh-TW" altLang="en-US" sz="1800" b="0">
                          <a:solidFill>
                            <a:srgbClr val="000000"/>
                          </a:solidFill>
                          <a:latin typeface="Calibri" panose="020F0502020204030204" pitchFamily="34" charset="0"/>
                          <a:cs typeface="Calibri" panose="020F0502020204030204" pitchFamily="34" charset="0"/>
                        </a:rPr>
                        <a:t>user</a:t>
                      </a:r>
                    </a:p>
                  </a:txBody>
                  <a:tcPr anchor="ctr"/>
                </a:tc>
                <a:tc>
                  <a:txBody>
                    <a:bodyPr/>
                    <a:lstStyle/>
                    <a:p>
                      <a:pPr algn="l"/>
                      <a:r>
                        <a:rPr lang="zh-TW" altLang="en-US" sz="1800" b="0">
                          <a:solidFill>
                            <a:srgbClr val="000000"/>
                          </a:solidFill>
                          <a:latin typeface="Calibri" panose="020F0502020204030204" pitchFamily="34" charset="0"/>
                          <a:cs typeface="Calibri" panose="020F0502020204030204" pitchFamily="34" charset="0"/>
                        </a:rPr>
                        <a:t>[8:1]</a:t>
                      </a:r>
                    </a:p>
                  </a:txBody>
                  <a:tcPr anchor="ctr"/>
                </a:tc>
                <a:tc>
                  <a:txBody>
                    <a:bodyPr/>
                    <a:lstStyle/>
                    <a:p>
                      <a:pPr algn="l"/>
                      <a:r>
                        <a:rPr lang="zh-TW" altLang="en-US" sz="1800" b="0">
                          <a:solidFill>
                            <a:srgbClr val="000000"/>
                          </a:solidFill>
                          <a:latin typeface="Calibri" panose="020F0502020204030204" pitchFamily="34" charset="0"/>
                          <a:cs typeface="Calibri" panose="020F0502020204030204" pitchFamily="34" charset="0"/>
                        </a:rPr>
                        <a:t>8</a:t>
                      </a:r>
                    </a:p>
                  </a:txBody>
                  <a:tcPr anchor="ctr"/>
                </a:tc>
                <a:extLst>
                  <a:ext uri="{0D108BD9-81ED-4DB2-BD59-A6C34878D82A}">
                    <a16:rowId xmlns:a16="http://schemas.microsoft.com/office/drawing/2014/main" val="3254622528"/>
                  </a:ext>
                </a:extLst>
              </a:tr>
              <a:tr h="406400">
                <a:tc>
                  <a:txBody>
                    <a:bodyPr/>
                    <a:lstStyle/>
                    <a:p>
                      <a:pPr algn="l"/>
                      <a:r>
                        <a:rPr lang="zh-TW" altLang="en-US" sz="1800" b="0">
                          <a:solidFill>
                            <a:srgbClr val="000000"/>
                          </a:solidFill>
                          <a:latin typeface="Calibri" panose="020F0502020204030204" pitchFamily="34" charset="0"/>
                          <a:cs typeface="Calibri" panose="020F0502020204030204" pitchFamily="34" charset="0"/>
                        </a:rPr>
                        <a:t>strb</a:t>
                      </a:r>
                    </a:p>
                  </a:txBody>
                  <a:tcPr anchor="ctr"/>
                </a:tc>
                <a:tc>
                  <a:txBody>
                    <a:bodyPr/>
                    <a:lstStyle/>
                    <a:p>
                      <a:pPr algn="l"/>
                      <a:r>
                        <a:rPr lang="zh-TW" altLang="en-US" sz="1800" b="0">
                          <a:solidFill>
                            <a:srgbClr val="000000"/>
                          </a:solidFill>
                          <a:latin typeface="Calibri" panose="020F0502020204030204" pitchFamily="34" charset="0"/>
                          <a:cs typeface="Calibri" panose="020F0502020204030204" pitchFamily="34" charset="0"/>
                        </a:rPr>
                        <a:t>[72:9]</a:t>
                      </a:r>
                    </a:p>
                  </a:txBody>
                  <a:tcPr anchor="ctr"/>
                </a:tc>
                <a:tc>
                  <a:txBody>
                    <a:bodyPr/>
                    <a:lstStyle/>
                    <a:p>
                      <a:pPr algn="l"/>
                      <a:r>
                        <a:rPr lang="zh-TW" altLang="en-US" sz="1800" b="0">
                          <a:solidFill>
                            <a:srgbClr val="000000"/>
                          </a:solidFill>
                          <a:latin typeface="Calibri" panose="020F0502020204030204" pitchFamily="34" charset="0"/>
                          <a:cs typeface="Calibri" panose="020F0502020204030204" pitchFamily="34" charset="0"/>
                        </a:rPr>
                        <a:t>64</a:t>
                      </a:r>
                    </a:p>
                  </a:txBody>
                  <a:tcPr anchor="ctr"/>
                </a:tc>
                <a:extLst>
                  <a:ext uri="{0D108BD9-81ED-4DB2-BD59-A6C34878D82A}">
                    <a16:rowId xmlns:a16="http://schemas.microsoft.com/office/drawing/2014/main" val="2206497865"/>
                  </a:ext>
                </a:extLst>
              </a:tr>
              <a:tr h="406400">
                <a:tc>
                  <a:txBody>
                    <a:bodyPr/>
                    <a:lstStyle/>
                    <a:p>
                      <a:pPr algn="l"/>
                      <a:r>
                        <a:rPr lang="zh-TW" altLang="en-US" sz="1800" b="0">
                          <a:solidFill>
                            <a:srgbClr val="000000"/>
                          </a:solidFill>
                          <a:latin typeface="Calibri" panose="020F0502020204030204" pitchFamily="34" charset="0"/>
                          <a:cs typeface="Calibri" panose="020F0502020204030204" pitchFamily="34" charset="0"/>
                        </a:rPr>
                        <a:t>data</a:t>
                      </a:r>
                    </a:p>
                  </a:txBody>
                  <a:tcPr anchor="ctr"/>
                </a:tc>
                <a:tc>
                  <a:txBody>
                    <a:bodyPr/>
                    <a:lstStyle/>
                    <a:p>
                      <a:pPr algn="l"/>
                      <a:r>
                        <a:rPr lang="zh-TW" altLang="en-US" sz="1800" b="0">
                          <a:solidFill>
                            <a:srgbClr val="000000"/>
                          </a:solidFill>
                          <a:latin typeface="Calibri" panose="020F0502020204030204" pitchFamily="34" charset="0"/>
                          <a:cs typeface="Calibri" panose="020F0502020204030204" pitchFamily="34" charset="0"/>
                        </a:rPr>
                        <a:t>[584:73]</a:t>
                      </a:r>
                    </a:p>
                  </a:txBody>
                  <a:tcPr anchor="ctr"/>
                </a:tc>
                <a:tc>
                  <a:txBody>
                    <a:bodyPr/>
                    <a:lstStyle/>
                    <a:p>
                      <a:pPr algn="l"/>
                      <a:r>
                        <a:rPr lang="zh-TW" altLang="en-US" sz="1800" b="0" dirty="0">
                          <a:solidFill>
                            <a:srgbClr val="000000"/>
                          </a:solidFill>
                          <a:latin typeface="Calibri" panose="020F0502020204030204" pitchFamily="34" charset="0"/>
                          <a:cs typeface="Calibri" panose="020F0502020204030204" pitchFamily="34" charset="0"/>
                        </a:rPr>
                        <a:t>512</a:t>
                      </a:r>
                    </a:p>
                  </a:txBody>
                  <a:tcPr anchor="ctr"/>
                </a:tc>
                <a:extLst>
                  <a:ext uri="{0D108BD9-81ED-4DB2-BD59-A6C34878D82A}">
                    <a16:rowId xmlns:a16="http://schemas.microsoft.com/office/drawing/2014/main" val="1622520751"/>
                  </a:ext>
                </a:extLst>
              </a:tr>
            </a:tbl>
          </a:graphicData>
        </a:graphic>
      </p:graphicFrame>
    </p:spTree>
    <p:extLst>
      <p:ext uri="{BB962C8B-B14F-4D97-AF65-F5344CB8AC3E}">
        <p14:creationId xmlns:p14="http://schemas.microsoft.com/office/powerpoint/2010/main" val="23594308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字方塊 5">
            <a:extLst>
              <a:ext uri="{FF2B5EF4-FFF2-40B4-BE49-F238E27FC236}">
                <a16:creationId xmlns:a16="http://schemas.microsoft.com/office/drawing/2014/main" id="{2A851102-0207-8CF0-1713-D82A68097798}"/>
              </a:ext>
            </a:extLst>
          </p:cNvPr>
          <p:cNvSpPr txBox="1"/>
          <p:nvPr/>
        </p:nvSpPr>
        <p:spPr>
          <a:xfrm>
            <a:off x="533400" y="228600"/>
            <a:ext cx="11176000" cy="584200"/>
          </a:xfrm>
          <a:prstGeom prst="rect">
            <a:avLst/>
          </a:prstGeom>
          <a:noFill/>
        </p:spPr>
        <p:txBody>
          <a:bodyPr vertOverflow="overflow" vert="horz" wrap="square" rtlCol="0" anchor="t">
            <a:spAutoFit/>
          </a:bodyPr>
          <a:lstStyle/>
          <a:p>
            <a:pPr marL="0" indent="0" algn="l">
              <a:buNone/>
            </a:pPr>
            <a:r>
              <a:rPr lang="en-US" altLang="zh-TW" sz="3200" b="1">
                <a:solidFill>
                  <a:srgbClr val="000000"/>
                </a:solidFill>
                <a:latin typeface="Calibri"/>
                <a:ea typeface="Calibri"/>
                <a:cs typeface="Calibri"/>
              </a:rPr>
              <a:t>Flit payload, responses and AWUSER</a:t>
            </a:r>
            <a:endParaRPr lang="en-US" altLang="zh-TW" sz="3200" b="1" dirty="0">
              <a:solidFill>
                <a:srgbClr val="000000"/>
              </a:solidFill>
              <a:latin typeface="Calibri"/>
              <a:ea typeface="Calibri"/>
              <a:cs typeface="Calibri"/>
            </a:endParaRPr>
          </a:p>
        </p:txBody>
      </p:sp>
      <p:graphicFrame>
        <p:nvGraphicFramePr>
          <p:cNvPr id="8" name="表格 7">
            <a:extLst>
              <a:ext uri="{FF2B5EF4-FFF2-40B4-BE49-F238E27FC236}">
                <a16:creationId xmlns:a16="http://schemas.microsoft.com/office/drawing/2014/main" id="{BA2388D1-B2E9-4FBF-ADF7-1D8F09738AD6}"/>
              </a:ext>
            </a:extLst>
          </p:cNvPr>
          <p:cNvGraphicFramePr>
            <a:graphicFrameLocks noGrp="1"/>
          </p:cNvGraphicFramePr>
          <p:nvPr>
            <p:extLst>
              <p:ext uri="{D42A27DB-BD31-4B8C-83A1-F6EECF244321}">
                <p14:modId xmlns:p14="http://schemas.microsoft.com/office/powerpoint/2010/main" val="310809238"/>
              </p:ext>
            </p:extLst>
          </p:nvPr>
        </p:nvGraphicFramePr>
        <p:xfrm>
          <a:off x="6248400" y="1219200"/>
          <a:ext cx="5334000" cy="2413000"/>
        </p:xfrm>
        <a:graphic>
          <a:graphicData uri="http://schemas.openxmlformats.org/drawingml/2006/table">
            <a:tbl>
              <a:tblPr firstRow="1" bandRow="1">
                <a:tableStyleId>{5C22544A-7EE6-4342-B048-85BDC9FD1C3A}</a:tableStyleId>
              </a:tblPr>
              <a:tblGrid>
                <a:gridCol w="2413000">
                  <a:extLst>
                    <a:ext uri="{9D8B030D-6E8A-4147-A177-3AD203B41FA5}">
                      <a16:colId xmlns:a16="http://schemas.microsoft.com/office/drawing/2014/main" val="18995202"/>
                    </a:ext>
                  </a:extLst>
                </a:gridCol>
                <a:gridCol w="1778000">
                  <a:extLst>
                    <a:ext uri="{9D8B030D-6E8A-4147-A177-3AD203B41FA5}">
                      <a16:colId xmlns:a16="http://schemas.microsoft.com/office/drawing/2014/main" val="4122526066"/>
                    </a:ext>
                  </a:extLst>
                </a:gridCol>
                <a:gridCol w="1143000">
                  <a:extLst>
                    <a:ext uri="{9D8B030D-6E8A-4147-A177-3AD203B41FA5}">
                      <a16:colId xmlns:a16="http://schemas.microsoft.com/office/drawing/2014/main" val="3385571287"/>
                    </a:ext>
                  </a:extLst>
                </a:gridCol>
              </a:tblGrid>
              <a:tr h="381000">
                <a:tc>
                  <a:txBody>
                    <a:bodyPr/>
                    <a:lstStyle/>
                    <a:p>
                      <a:pPr algn="l"/>
                      <a:r>
                        <a:rPr lang="zh-TW" altLang="en-US" sz="1800" b="1">
                          <a:solidFill>
                            <a:srgbClr val="FFFFFF"/>
                          </a:solidFill>
                          <a:latin typeface="Calibri" panose="020F0502020204030204" pitchFamily="34" charset="0"/>
                          <a:cs typeface="Calibri" panose="020F0502020204030204" pitchFamily="34" charset="0"/>
                        </a:rPr>
                        <a:t>NarrowR, 83 b</a:t>
                      </a:r>
                    </a:p>
                  </a:txBody>
                  <a:tcPr anchor="ctr"/>
                </a:tc>
                <a:tc>
                  <a:txBody>
                    <a:bodyPr/>
                    <a:lstStyle/>
                    <a:p>
                      <a:pPr algn="l"/>
                      <a:r>
                        <a:rPr lang="zh-TW" altLang="en-US" sz="1800" b="1">
                          <a:solidFill>
                            <a:srgbClr val="FFFFFF"/>
                          </a:solidFill>
                          <a:latin typeface="Calibri" panose="020F0502020204030204" pitchFamily="34" charset="0"/>
                          <a:cs typeface="Calibri" panose="020F0502020204030204" pitchFamily="34" charset="0"/>
                        </a:rPr>
                        <a:t>Bits</a:t>
                      </a:r>
                    </a:p>
                  </a:txBody>
                  <a:tcPr anchor="ctr"/>
                </a:tc>
                <a:tc>
                  <a:txBody>
                    <a:bodyPr/>
                    <a:lstStyle/>
                    <a:p>
                      <a:pPr algn="l"/>
                      <a:r>
                        <a:rPr lang="zh-TW" altLang="en-US" sz="1800" b="1">
                          <a:solidFill>
                            <a:srgbClr val="FFFFFF"/>
                          </a:solidFill>
                          <a:latin typeface="Calibri" panose="020F0502020204030204" pitchFamily="34" charset="0"/>
                          <a:cs typeface="Calibri" panose="020F0502020204030204" pitchFamily="34" charset="0"/>
                        </a:rPr>
                        <a:t>Width</a:t>
                      </a:r>
                    </a:p>
                  </a:txBody>
                  <a:tcPr anchor="ctr"/>
                </a:tc>
                <a:extLst>
                  <a:ext uri="{0D108BD9-81ED-4DB2-BD59-A6C34878D82A}">
                    <a16:rowId xmlns:a16="http://schemas.microsoft.com/office/drawing/2014/main" val="1077630897"/>
                  </a:ext>
                </a:extLst>
              </a:tr>
              <a:tr h="406400">
                <a:tc>
                  <a:txBody>
                    <a:bodyPr/>
                    <a:lstStyle/>
                    <a:p>
                      <a:pPr algn="l"/>
                      <a:r>
                        <a:rPr lang="zh-TW" altLang="en-US" sz="1800" b="0" dirty="0">
                          <a:solidFill>
                            <a:srgbClr val="000000"/>
                          </a:solidFill>
                          <a:latin typeface="Calibri" panose="020F0502020204030204" pitchFamily="34" charset="0"/>
                          <a:cs typeface="Calibri" panose="020F0502020204030204" pitchFamily="34" charset="0"/>
                        </a:rPr>
                        <a:t>last</a:t>
                      </a:r>
                    </a:p>
                  </a:txBody>
                  <a:tcPr anchor="ctr"/>
                </a:tc>
                <a:tc>
                  <a:txBody>
                    <a:bodyPr/>
                    <a:lstStyle/>
                    <a:p>
                      <a:pPr algn="r"/>
                      <a:r>
                        <a:rPr lang="zh-TW" altLang="en-US" sz="1800" b="0">
                          <a:solidFill>
                            <a:srgbClr val="000000"/>
                          </a:solidFill>
                          <a:latin typeface="Calibri" panose="020F0502020204030204" pitchFamily="34" charset="0"/>
                          <a:cs typeface="Calibri" panose="020F0502020204030204" pitchFamily="34" charset="0"/>
                        </a:rPr>
                        <a:t>[0]</a:t>
                      </a:r>
                    </a:p>
                  </a:txBody>
                  <a:tcPr anchor="ctr"/>
                </a:tc>
                <a:tc>
                  <a:txBody>
                    <a:bodyPr/>
                    <a:lstStyle/>
                    <a:p>
                      <a:pPr algn="r"/>
                      <a:r>
                        <a:rPr lang="zh-TW" altLang="en-US" sz="1800" b="0">
                          <a:solidFill>
                            <a:srgbClr val="000000"/>
                          </a:solidFill>
                          <a:latin typeface="Calibri" panose="020F0502020204030204" pitchFamily="34" charset="0"/>
                          <a:cs typeface="Calibri" panose="020F0502020204030204" pitchFamily="34" charset="0"/>
                        </a:rPr>
                        <a:t>1</a:t>
                      </a:r>
                    </a:p>
                  </a:txBody>
                  <a:tcPr anchor="ctr"/>
                </a:tc>
                <a:extLst>
                  <a:ext uri="{0D108BD9-81ED-4DB2-BD59-A6C34878D82A}">
                    <a16:rowId xmlns:a16="http://schemas.microsoft.com/office/drawing/2014/main" val="2203722007"/>
                  </a:ext>
                </a:extLst>
              </a:tr>
              <a:tr h="406400">
                <a:tc>
                  <a:txBody>
                    <a:bodyPr/>
                    <a:lstStyle/>
                    <a:p>
                      <a:pPr algn="l"/>
                      <a:r>
                        <a:rPr lang="zh-TW" altLang="en-US" sz="1800" b="0">
                          <a:solidFill>
                            <a:srgbClr val="000000"/>
                          </a:solidFill>
                          <a:latin typeface="Calibri" panose="020F0502020204030204" pitchFamily="34" charset="0"/>
                          <a:cs typeface="Calibri" panose="020F0502020204030204" pitchFamily="34" charset="0"/>
                        </a:rPr>
                        <a:t>id</a:t>
                      </a:r>
                    </a:p>
                  </a:txBody>
                  <a:tcPr anchor="ctr"/>
                </a:tc>
                <a:tc>
                  <a:txBody>
                    <a:bodyPr/>
                    <a:lstStyle/>
                    <a:p>
                      <a:pPr algn="r"/>
                      <a:r>
                        <a:rPr lang="zh-TW" altLang="en-US" sz="1800" b="0">
                          <a:solidFill>
                            <a:srgbClr val="000000"/>
                          </a:solidFill>
                          <a:latin typeface="Calibri" panose="020F0502020204030204" pitchFamily="34" charset="0"/>
                          <a:cs typeface="Calibri" panose="020F0502020204030204" pitchFamily="34" charset="0"/>
                        </a:rPr>
                        <a:t>[8:1]</a:t>
                      </a:r>
                    </a:p>
                  </a:txBody>
                  <a:tcPr anchor="ctr"/>
                </a:tc>
                <a:tc>
                  <a:txBody>
                    <a:bodyPr/>
                    <a:lstStyle/>
                    <a:p>
                      <a:pPr algn="r"/>
                      <a:r>
                        <a:rPr lang="zh-TW" altLang="en-US" sz="1800" b="0">
                          <a:solidFill>
                            <a:srgbClr val="000000"/>
                          </a:solidFill>
                          <a:latin typeface="Calibri" panose="020F0502020204030204" pitchFamily="34" charset="0"/>
                          <a:cs typeface="Calibri" panose="020F0502020204030204" pitchFamily="34" charset="0"/>
                        </a:rPr>
                        <a:t>8</a:t>
                      </a:r>
                    </a:p>
                  </a:txBody>
                  <a:tcPr anchor="ctr"/>
                </a:tc>
                <a:extLst>
                  <a:ext uri="{0D108BD9-81ED-4DB2-BD59-A6C34878D82A}">
                    <a16:rowId xmlns:a16="http://schemas.microsoft.com/office/drawing/2014/main" val="781066804"/>
                  </a:ext>
                </a:extLst>
              </a:tr>
              <a:tr h="406400">
                <a:tc>
                  <a:txBody>
                    <a:bodyPr/>
                    <a:lstStyle/>
                    <a:p>
                      <a:pPr algn="l"/>
                      <a:r>
                        <a:rPr lang="zh-TW" altLang="en-US" sz="1800" b="0">
                          <a:solidFill>
                            <a:srgbClr val="000000"/>
                          </a:solidFill>
                          <a:latin typeface="Calibri" panose="020F0502020204030204" pitchFamily="34" charset="0"/>
                          <a:cs typeface="Calibri" panose="020F0502020204030204" pitchFamily="34" charset="0"/>
                        </a:rPr>
                        <a:t>resp</a:t>
                      </a:r>
                    </a:p>
                  </a:txBody>
                  <a:tcPr anchor="ctr"/>
                </a:tc>
                <a:tc>
                  <a:txBody>
                    <a:bodyPr/>
                    <a:lstStyle/>
                    <a:p>
                      <a:pPr algn="r"/>
                      <a:r>
                        <a:rPr lang="zh-TW" altLang="en-US" sz="1800" b="0">
                          <a:solidFill>
                            <a:srgbClr val="000000"/>
                          </a:solidFill>
                          <a:latin typeface="Calibri" panose="020F0502020204030204" pitchFamily="34" charset="0"/>
                          <a:cs typeface="Calibri" panose="020F0502020204030204" pitchFamily="34" charset="0"/>
                        </a:rPr>
                        <a:t>[10:9]</a:t>
                      </a:r>
                    </a:p>
                  </a:txBody>
                  <a:tcPr anchor="ctr"/>
                </a:tc>
                <a:tc>
                  <a:txBody>
                    <a:bodyPr/>
                    <a:lstStyle/>
                    <a:p>
                      <a:pPr algn="r"/>
                      <a:r>
                        <a:rPr lang="zh-TW" altLang="en-US" sz="1800" b="0">
                          <a:solidFill>
                            <a:srgbClr val="000000"/>
                          </a:solidFill>
                          <a:latin typeface="Calibri" panose="020F0502020204030204" pitchFamily="34" charset="0"/>
                          <a:cs typeface="Calibri" panose="020F0502020204030204" pitchFamily="34" charset="0"/>
                        </a:rPr>
                        <a:t>2</a:t>
                      </a:r>
                    </a:p>
                  </a:txBody>
                  <a:tcPr anchor="ctr"/>
                </a:tc>
                <a:extLst>
                  <a:ext uri="{0D108BD9-81ED-4DB2-BD59-A6C34878D82A}">
                    <a16:rowId xmlns:a16="http://schemas.microsoft.com/office/drawing/2014/main" val="1225476518"/>
                  </a:ext>
                </a:extLst>
              </a:tr>
              <a:tr h="406400">
                <a:tc>
                  <a:txBody>
                    <a:bodyPr/>
                    <a:lstStyle/>
                    <a:p>
                      <a:pPr algn="l"/>
                      <a:r>
                        <a:rPr lang="zh-TW" altLang="en-US" sz="1800" b="0">
                          <a:solidFill>
                            <a:srgbClr val="000000"/>
                          </a:solidFill>
                          <a:latin typeface="Calibri" panose="020F0502020204030204" pitchFamily="34" charset="0"/>
                          <a:cs typeface="Calibri" panose="020F0502020204030204" pitchFamily="34" charset="0"/>
                        </a:rPr>
                        <a:t>user</a:t>
                      </a:r>
                    </a:p>
                  </a:txBody>
                  <a:tcPr anchor="ctr"/>
                </a:tc>
                <a:tc>
                  <a:txBody>
                    <a:bodyPr/>
                    <a:lstStyle/>
                    <a:p>
                      <a:pPr algn="r"/>
                      <a:r>
                        <a:rPr lang="zh-TW" altLang="en-US" sz="1800" b="0">
                          <a:solidFill>
                            <a:srgbClr val="000000"/>
                          </a:solidFill>
                          <a:latin typeface="Calibri" panose="020F0502020204030204" pitchFamily="34" charset="0"/>
                          <a:cs typeface="Calibri" panose="020F0502020204030204" pitchFamily="34" charset="0"/>
                        </a:rPr>
                        <a:t>[18:11]</a:t>
                      </a:r>
                    </a:p>
                  </a:txBody>
                  <a:tcPr anchor="ctr"/>
                </a:tc>
                <a:tc>
                  <a:txBody>
                    <a:bodyPr/>
                    <a:lstStyle/>
                    <a:p>
                      <a:pPr algn="r"/>
                      <a:r>
                        <a:rPr lang="zh-TW" altLang="en-US" sz="1800" b="0">
                          <a:solidFill>
                            <a:srgbClr val="000000"/>
                          </a:solidFill>
                          <a:latin typeface="Calibri" panose="020F0502020204030204" pitchFamily="34" charset="0"/>
                          <a:cs typeface="Calibri" panose="020F0502020204030204" pitchFamily="34" charset="0"/>
                        </a:rPr>
                        <a:t>8</a:t>
                      </a:r>
                    </a:p>
                  </a:txBody>
                  <a:tcPr anchor="ctr"/>
                </a:tc>
                <a:extLst>
                  <a:ext uri="{0D108BD9-81ED-4DB2-BD59-A6C34878D82A}">
                    <a16:rowId xmlns:a16="http://schemas.microsoft.com/office/drawing/2014/main" val="3650105746"/>
                  </a:ext>
                </a:extLst>
              </a:tr>
              <a:tr h="406400">
                <a:tc>
                  <a:txBody>
                    <a:bodyPr/>
                    <a:lstStyle/>
                    <a:p>
                      <a:pPr algn="l"/>
                      <a:r>
                        <a:rPr lang="zh-TW" altLang="en-US" sz="1800" b="0">
                          <a:solidFill>
                            <a:srgbClr val="000000"/>
                          </a:solidFill>
                          <a:latin typeface="Calibri" panose="020F0502020204030204" pitchFamily="34" charset="0"/>
                          <a:cs typeface="Calibri" panose="020F0502020204030204" pitchFamily="34" charset="0"/>
                        </a:rPr>
                        <a:t>data</a:t>
                      </a:r>
                    </a:p>
                  </a:txBody>
                  <a:tcPr anchor="ctr"/>
                </a:tc>
                <a:tc>
                  <a:txBody>
                    <a:bodyPr/>
                    <a:lstStyle/>
                    <a:p>
                      <a:pPr algn="r"/>
                      <a:r>
                        <a:rPr lang="zh-TW" altLang="en-US" sz="1800" b="0">
                          <a:solidFill>
                            <a:srgbClr val="000000"/>
                          </a:solidFill>
                          <a:latin typeface="Calibri" panose="020F0502020204030204" pitchFamily="34" charset="0"/>
                          <a:cs typeface="Calibri" panose="020F0502020204030204" pitchFamily="34" charset="0"/>
                        </a:rPr>
                        <a:t>[82:19]</a:t>
                      </a:r>
                    </a:p>
                  </a:txBody>
                  <a:tcPr anchor="ctr"/>
                </a:tc>
                <a:tc>
                  <a:txBody>
                    <a:bodyPr/>
                    <a:lstStyle/>
                    <a:p>
                      <a:pPr algn="r"/>
                      <a:r>
                        <a:rPr lang="zh-TW" altLang="en-US" sz="1800" b="0" dirty="0">
                          <a:solidFill>
                            <a:srgbClr val="000000"/>
                          </a:solidFill>
                          <a:latin typeface="Calibri" panose="020F0502020204030204" pitchFamily="34" charset="0"/>
                          <a:cs typeface="Calibri" panose="020F0502020204030204" pitchFamily="34" charset="0"/>
                        </a:rPr>
                        <a:t>64</a:t>
                      </a:r>
                    </a:p>
                  </a:txBody>
                  <a:tcPr anchor="ctr"/>
                </a:tc>
                <a:extLst>
                  <a:ext uri="{0D108BD9-81ED-4DB2-BD59-A6C34878D82A}">
                    <a16:rowId xmlns:a16="http://schemas.microsoft.com/office/drawing/2014/main" val="3376123227"/>
                  </a:ext>
                </a:extLst>
              </a:tr>
            </a:tbl>
          </a:graphicData>
        </a:graphic>
      </p:graphicFrame>
      <p:graphicFrame>
        <p:nvGraphicFramePr>
          <p:cNvPr id="10" name="表格 9">
            <a:extLst>
              <a:ext uri="{FF2B5EF4-FFF2-40B4-BE49-F238E27FC236}">
                <a16:creationId xmlns:a16="http://schemas.microsoft.com/office/drawing/2014/main" id="{88DA6D7D-EA15-44CD-8144-D31E462FE16D}"/>
              </a:ext>
            </a:extLst>
          </p:cNvPr>
          <p:cNvGraphicFramePr>
            <a:graphicFrameLocks noGrp="1"/>
          </p:cNvGraphicFramePr>
          <p:nvPr>
            <p:extLst>
              <p:ext uri="{D42A27DB-BD31-4B8C-83A1-F6EECF244321}">
                <p14:modId xmlns:p14="http://schemas.microsoft.com/office/powerpoint/2010/main" val="853085680"/>
              </p:ext>
            </p:extLst>
          </p:nvPr>
        </p:nvGraphicFramePr>
        <p:xfrm>
          <a:off x="609600" y="3403600"/>
          <a:ext cx="5334000" cy="2413000"/>
        </p:xfrm>
        <a:graphic>
          <a:graphicData uri="http://schemas.openxmlformats.org/drawingml/2006/table">
            <a:tbl>
              <a:tblPr firstRow="1" bandRow="1">
                <a:tableStyleId>{5C22544A-7EE6-4342-B048-85BDC9FD1C3A}</a:tableStyleId>
              </a:tblPr>
              <a:tblGrid>
                <a:gridCol w="2413000">
                  <a:extLst>
                    <a:ext uri="{9D8B030D-6E8A-4147-A177-3AD203B41FA5}">
                      <a16:colId xmlns:a16="http://schemas.microsoft.com/office/drawing/2014/main" val="1656895784"/>
                    </a:ext>
                  </a:extLst>
                </a:gridCol>
                <a:gridCol w="1778000">
                  <a:extLst>
                    <a:ext uri="{9D8B030D-6E8A-4147-A177-3AD203B41FA5}">
                      <a16:colId xmlns:a16="http://schemas.microsoft.com/office/drawing/2014/main" val="84626930"/>
                    </a:ext>
                  </a:extLst>
                </a:gridCol>
                <a:gridCol w="1143000">
                  <a:extLst>
                    <a:ext uri="{9D8B030D-6E8A-4147-A177-3AD203B41FA5}">
                      <a16:colId xmlns:a16="http://schemas.microsoft.com/office/drawing/2014/main" val="1274102447"/>
                    </a:ext>
                  </a:extLst>
                </a:gridCol>
              </a:tblGrid>
              <a:tr h="381000">
                <a:tc>
                  <a:txBody>
                    <a:bodyPr/>
                    <a:lstStyle/>
                    <a:p>
                      <a:pPr algn="l"/>
                      <a:r>
                        <a:rPr lang="zh-TW" altLang="en-US" sz="1800" b="1" dirty="0">
                          <a:solidFill>
                            <a:srgbClr val="FFFFFF"/>
                          </a:solidFill>
                          <a:latin typeface="Calibri" panose="020F0502020204030204" pitchFamily="34" charset="0"/>
                          <a:cs typeface="Calibri" panose="020F0502020204030204" pitchFamily="34" charset="0"/>
                        </a:rPr>
                        <a:t>DataR, 531 b</a:t>
                      </a:r>
                    </a:p>
                  </a:txBody>
                  <a:tcPr anchor="ctr"/>
                </a:tc>
                <a:tc>
                  <a:txBody>
                    <a:bodyPr/>
                    <a:lstStyle/>
                    <a:p>
                      <a:pPr algn="l"/>
                      <a:r>
                        <a:rPr lang="zh-TW" altLang="en-US" sz="1800" b="1">
                          <a:solidFill>
                            <a:srgbClr val="FFFFFF"/>
                          </a:solidFill>
                          <a:latin typeface="Calibri" panose="020F0502020204030204" pitchFamily="34" charset="0"/>
                          <a:cs typeface="Calibri" panose="020F0502020204030204" pitchFamily="34" charset="0"/>
                        </a:rPr>
                        <a:t>Bits</a:t>
                      </a:r>
                    </a:p>
                  </a:txBody>
                  <a:tcPr anchor="ctr"/>
                </a:tc>
                <a:tc>
                  <a:txBody>
                    <a:bodyPr/>
                    <a:lstStyle/>
                    <a:p>
                      <a:pPr algn="l"/>
                      <a:r>
                        <a:rPr lang="zh-TW" altLang="en-US" sz="1800" b="1">
                          <a:solidFill>
                            <a:srgbClr val="FFFFFF"/>
                          </a:solidFill>
                          <a:latin typeface="Calibri" panose="020F0502020204030204" pitchFamily="34" charset="0"/>
                          <a:cs typeface="Calibri" panose="020F0502020204030204" pitchFamily="34" charset="0"/>
                        </a:rPr>
                        <a:t>Width</a:t>
                      </a:r>
                    </a:p>
                  </a:txBody>
                  <a:tcPr anchor="ctr"/>
                </a:tc>
                <a:extLst>
                  <a:ext uri="{0D108BD9-81ED-4DB2-BD59-A6C34878D82A}">
                    <a16:rowId xmlns:a16="http://schemas.microsoft.com/office/drawing/2014/main" val="2500951305"/>
                  </a:ext>
                </a:extLst>
              </a:tr>
              <a:tr h="406400">
                <a:tc>
                  <a:txBody>
                    <a:bodyPr/>
                    <a:lstStyle/>
                    <a:p>
                      <a:pPr algn="l"/>
                      <a:r>
                        <a:rPr lang="zh-TW" altLang="en-US" sz="1800" b="0">
                          <a:solidFill>
                            <a:srgbClr val="000000"/>
                          </a:solidFill>
                          <a:latin typeface="Calibri" panose="020F0502020204030204" pitchFamily="34" charset="0"/>
                          <a:cs typeface="Calibri" panose="020F0502020204030204" pitchFamily="34" charset="0"/>
                        </a:rPr>
                        <a:t>last</a:t>
                      </a:r>
                    </a:p>
                  </a:txBody>
                  <a:tcPr anchor="ctr"/>
                </a:tc>
                <a:tc>
                  <a:txBody>
                    <a:bodyPr/>
                    <a:lstStyle/>
                    <a:p>
                      <a:pPr algn="r"/>
                      <a:r>
                        <a:rPr lang="zh-TW" altLang="en-US" sz="1800" b="0">
                          <a:solidFill>
                            <a:srgbClr val="000000"/>
                          </a:solidFill>
                          <a:latin typeface="Calibri" panose="020F0502020204030204" pitchFamily="34" charset="0"/>
                          <a:cs typeface="Calibri" panose="020F0502020204030204" pitchFamily="34" charset="0"/>
                        </a:rPr>
                        <a:t>[0]</a:t>
                      </a:r>
                    </a:p>
                  </a:txBody>
                  <a:tcPr anchor="ctr"/>
                </a:tc>
                <a:tc>
                  <a:txBody>
                    <a:bodyPr/>
                    <a:lstStyle/>
                    <a:p>
                      <a:pPr algn="r"/>
                      <a:r>
                        <a:rPr lang="zh-TW" altLang="en-US" sz="1800" b="0">
                          <a:solidFill>
                            <a:srgbClr val="000000"/>
                          </a:solidFill>
                          <a:latin typeface="Calibri" panose="020F0502020204030204" pitchFamily="34" charset="0"/>
                          <a:cs typeface="Calibri" panose="020F0502020204030204" pitchFamily="34" charset="0"/>
                        </a:rPr>
                        <a:t>1</a:t>
                      </a:r>
                    </a:p>
                  </a:txBody>
                  <a:tcPr anchor="ctr"/>
                </a:tc>
                <a:extLst>
                  <a:ext uri="{0D108BD9-81ED-4DB2-BD59-A6C34878D82A}">
                    <a16:rowId xmlns:a16="http://schemas.microsoft.com/office/drawing/2014/main" val="1653563723"/>
                  </a:ext>
                </a:extLst>
              </a:tr>
              <a:tr h="406400">
                <a:tc>
                  <a:txBody>
                    <a:bodyPr/>
                    <a:lstStyle/>
                    <a:p>
                      <a:pPr algn="l"/>
                      <a:r>
                        <a:rPr lang="zh-TW" altLang="en-US" sz="1800" b="0">
                          <a:solidFill>
                            <a:srgbClr val="000000"/>
                          </a:solidFill>
                          <a:latin typeface="Calibri" panose="020F0502020204030204" pitchFamily="34" charset="0"/>
                          <a:cs typeface="Calibri" panose="020F0502020204030204" pitchFamily="34" charset="0"/>
                        </a:rPr>
                        <a:t>id</a:t>
                      </a:r>
                    </a:p>
                  </a:txBody>
                  <a:tcPr anchor="ctr"/>
                </a:tc>
                <a:tc>
                  <a:txBody>
                    <a:bodyPr/>
                    <a:lstStyle/>
                    <a:p>
                      <a:pPr algn="r"/>
                      <a:r>
                        <a:rPr lang="zh-TW" altLang="en-US" sz="1800" b="0">
                          <a:solidFill>
                            <a:srgbClr val="000000"/>
                          </a:solidFill>
                          <a:latin typeface="Calibri" panose="020F0502020204030204" pitchFamily="34" charset="0"/>
                          <a:cs typeface="Calibri" panose="020F0502020204030204" pitchFamily="34" charset="0"/>
                        </a:rPr>
                        <a:t>[8:1]</a:t>
                      </a:r>
                    </a:p>
                  </a:txBody>
                  <a:tcPr anchor="ctr"/>
                </a:tc>
                <a:tc>
                  <a:txBody>
                    <a:bodyPr/>
                    <a:lstStyle/>
                    <a:p>
                      <a:pPr algn="r"/>
                      <a:r>
                        <a:rPr lang="zh-TW" altLang="en-US" sz="1800" b="0">
                          <a:solidFill>
                            <a:srgbClr val="000000"/>
                          </a:solidFill>
                          <a:latin typeface="Calibri" panose="020F0502020204030204" pitchFamily="34" charset="0"/>
                          <a:cs typeface="Calibri" panose="020F0502020204030204" pitchFamily="34" charset="0"/>
                        </a:rPr>
                        <a:t>8</a:t>
                      </a:r>
                    </a:p>
                  </a:txBody>
                  <a:tcPr anchor="ctr"/>
                </a:tc>
                <a:extLst>
                  <a:ext uri="{0D108BD9-81ED-4DB2-BD59-A6C34878D82A}">
                    <a16:rowId xmlns:a16="http://schemas.microsoft.com/office/drawing/2014/main" val="766124110"/>
                  </a:ext>
                </a:extLst>
              </a:tr>
              <a:tr h="406400">
                <a:tc>
                  <a:txBody>
                    <a:bodyPr/>
                    <a:lstStyle/>
                    <a:p>
                      <a:pPr algn="l"/>
                      <a:r>
                        <a:rPr lang="zh-TW" altLang="en-US" sz="1800" b="0">
                          <a:solidFill>
                            <a:srgbClr val="000000"/>
                          </a:solidFill>
                          <a:latin typeface="Calibri" panose="020F0502020204030204" pitchFamily="34" charset="0"/>
                          <a:cs typeface="Calibri" panose="020F0502020204030204" pitchFamily="34" charset="0"/>
                        </a:rPr>
                        <a:t>resp</a:t>
                      </a:r>
                    </a:p>
                  </a:txBody>
                  <a:tcPr anchor="ctr"/>
                </a:tc>
                <a:tc>
                  <a:txBody>
                    <a:bodyPr/>
                    <a:lstStyle/>
                    <a:p>
                      <a:pPr algn="r"/>
                      <a:r>
                        <a:rPr lang="zh-TW" altLang="en-US" sz="1800" b="0">
                          <a:solidFill>
                            <a:srgbClr val="000000"/>
                          </a:solidFill>
                          <a:latin typeface="Calibri" panose="020F0502020204030204" pitchFamily="34" charset="0"/>
                          <a:cs typeface="Calibri" panose="020F0502020204030204" pitchFamily="34" charset="0"/>
                        </a:rPr>
                        <a:t>[10:9]</a:t>
                      </a:r>
                    </a:p>
                  </a:txBody>
                  <a:tcPr anchor="ctr"/>
                </a:tc>
                <a:tc>
                  <a:txBody>
                    <a:bodyPr/>
                    <a:lstStyle/>
                    <a:p>
                      <a:pPr algn="r"/>
                      <a:r>
                        <a:rPr lang="zh-TW" altLang="en-US" sz="1800" b="0">
                          <a:solidFill>
                            <a:srgbClr val="000000"/>
                          </a:solidFill>
                          <a:latin typeface="Calibri" panose="020F0502020204030204" pitchFamily="34" charset="0"/>
                          <a:cs typeface="Calibri" panose="020F0502020204030204" pitchFamily="34" charset="0"/>
                        </a:rPr>
                        <a:t>2</a:t>
                      </a:r>
                    </a:p>
                  </a:txBody>
                  <a:tcPr anchor="ctr"/>
                </a:tc>
                <a:extLst>
                  <a:ext uri="{0D108BD9-81ED-4DB2-BD59-A6C34878D82A}">
                    <a16:rowId xmlns:a16="http://schemas.microsoft.com/office/drawing/2014/main" val="2678993992"/>
                  </a:ext>
                </a:extLst>
              </a:tr>
              <a:tr h="406400">
                <a:tc>
                  <a:txBody>
                    <a:bodyPr/>
                    <a:lstStyle/>
                    <a:p>
                      <a:pPr algn="l"/>
                      <a:r>
                        <a:rPr lang="zh-TW" altLang="en-US" sz="1800" b="0">
                          <a:solidFill>
                            <a:srgbClr val="000000"/>
                          </a:solidFill>
                          <a:latin typeface="Calibri" panose="020F0502020204030204" pitchFamily="34" charset="0"/>
                          <a:cs typeface="Calibri" panose="020F0502020204030204" pitchFamily="34" charset="0"/>
                        </a:rPr>
                        <a:t>user</a:t>
                      </a:r>
                    </a:p>
                  </a:txBody>
                  <a:tcPr anchor="ctr"/>
                </a:tc>
                <a:tc>
                  <a:txBody>
                    <a:bodyPr/>
                    <a:lstStyle/>
                    <a:p>
                      <a:pPr algn="r"/>
                      <a:r>
                        <a:rPr lang="zh-TW" altLang="en-US" sz="1800" b="0">
                          <a:solidFill>
                            <a:srgbClr val="000000"/>
                          </a:solidFill>
                          <a:latin typeface="Calibri" panose="020F0502020204030204" pitchFamily="34" charset="0"/>
                          <a:cs typeface="Calibri" panose="020F0502020204030204" pitchFamily="34" charset="0"/>
                        </a:rPr>
                        <a:t>[18:11]</a:t>
                      </a:r>
                    </a:p>
                  </a:txBody>
                  <a:tcPr anchor="ctr"/>
                </a:tc>
                <a:tc>
                  <a:txBody>
                    <a:bodyPr/>
                    <a:lstStyle/>
                    <a:p>
                      <a:pPr algn="r"/>
                      <a:r>
                        <a:rPr lang="zh-TW" altLang="en-US" sz="1800" b="0">
                          <a:solidFill>
                            <a:srgbClr val="000000"/>
                          </a:solidFill>
                          <a:latin typeface="Calibri" panose="020F0502020204030204" pitchFamily="34" charset="0"/>
                          <a:cs typeface="Calibri" panose="020F0502020204030204" pitchFamily="34" charset="0"/>
                        </a:rPr>
                        <a:t>8</a:t>
                      </a:r>
                    </a:p>
                  </a:txBody>
                  <a:tcPr anchor="ctr"/>
                </a:tc>
                <a:extLst>
                  <a:ext uri="{0D108BD9-81ED-4DB2-BD59-A6C34878D82A}">
                    <a16:rowId xmlns:a16="http://schemas.microsoft.com/office/drawing/2014/main" val="2247379534"/>
                  </a:ext>
                </a:extLst>
              </a:tr>
              <a:tr h="406400">
                <a:tc>
                  <a:txBody>
                    <a:bodyPr/>
                    <a:lstStyle/>
                    <a:p>
                      <a:pPr algn="l"/>
                      <a:r>
                        <a:rPr lang="zh-TW" altLang="en-US" sz="1800" b="0" dirty="0">
                          <a:solidFill>
                            <a:srgbClr val="000000"/>
                          </a:solidFill>
                          <a:latin typeface="Calibri" panose="020F0502020204030204" pitchFamily="34" charset="0"/>
                          <a:cs typeface="Calibri" panose="020F0502020204030204" pitchFamily="34" charset="0"/>
                        </a:rPr>
                        <a:t>data</a:t>
                      </a:r>
                    </a:p>
                  </a:txBody>
                  <a:tcPr anchor="ctr"/>
                </a:tc>
                <a:tc>
                  <a:txBody>
                    <a:bodyPr/>
                    <a:lstStyle/>
                    <a:p>
                      <a:pPr algn="r"/>
                      <a:r>
                        <a:rPr lang="zh-TW" altLang="en-US" sz="1800" b="0">
                          <a:solidFill>
                            <a:srgbClr val="000000"/>
                          </a:solidFill>
                          <a:latin typeface="Calibri" panose="020F0502020204030204" pitchFamily="34" charset="0"/>
                          <a:cs typeface="Calibri" panose="020F0502020204030204" pitchFamily="34" charset="0"/>
                        </a:rPr>
                        <a:t>[530:19]</a:t>
                      </a:r>
                    </a:p>
                  </a:txBody>
                  <a:tcPr anchor="ctr"/>
                </a:tc>
                <a:tc>
                  <a:txBody>
                    <a:bodyPr/>
                    <a:lstStyle/>
                    <a:p>
                      <a:pPr algn="r"/>
                      <a:r>
                        <a:rPr lang="zh-TW" altLang="en-US" sz="1800" b="0" dirty="0">
                          <a:solidFill>
                            <a:srgbClr val="000000"/>
                          </a:solidFill>
                          <a:latin typeface="Calibri" panose="020F0502020204030204" pitchFamily="34" charset="0"/>
                          <a:cs typeface="Calibri" panose="020F0502020204030204" pitchFamily="34" charset="0"/>
                        </a:rPr>
                        <a:t>512</a:t>
                      </a:r>
                    </a:p>
                  </a:txBody>
                  <a:tcPr anchor="ctr"/>
                </a:tc>
                <a:extLst>
                  <a:ext uri="{0D108BD9-81ED-4DB2-BD59-A6C34878D82A}">
                    <a16:rowId xmlns:a16="http://schemas.microsoft.com/office/drawing/2014/main" val="1873083797"/>
                  </a:ext>
                </a:extLst>
              </a:tr>
            </a:tbl>
          </a:graphicData>
        </a:graphic>
      </p:graphicFrame>
      <p:graphicFrame>
        <p:nvGraphicFramePr>
          <p:cNvPr id="12" name="表格 11">
            <a:extLst>
              <a:ext uri="{FF2B5EF4-FFF2-40B4-BE49-F238E27FC236}">
                <a16:creationId xmlns:a16="http://schemas.microsoft.com/office/drawing/2014/main" id="{6D766BFD-C07E-42CB-AB6C-9112739D3968}"/>
              </a:ext>
            </a:extLst>
          </p:cNvPr>
          <p:cNvGraphicFramePr>
            <a:graphicFrameLocks noGrp="1"/>
          </p:cNvGraphicFramePr>
          <p:nvPr>
            <p:extLst>
              <p:ext uri="{D42A27DB-BD31-4B8C-83A1-F6EECF244321}">
                <p14:modId xmlns:p14="http://schemas.microsoft.com/office/powerpoint/2010/main" val="3746749402"/>
              </p:ext>
            </p:extLst>
          </p:nvPr>
        </p:nvGraphicFramePr>
        <p:xfrm>
          <a:off x="6248400" y="3810000"/>
          <a:ext cx="5334000" cy="1600200"/>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3236023013"/>
                    </a:ext>
                  </a:extLst>
                </a:gridCol>
                <a:gridCol w="1524000">
                  <a:extLst>
                    <a:ext uri="{9D8B030D-6E8A-4147-A177-3AD203B41FA5}">
                      <a16:colId xmlns:a16="http://schemas.microsoft.com/office/drawing/2014/main" val="52236237"/>
                    </a:ext>
                  </a:extLst>
                </a:gridCol>
                <a:gridCol w="1143000">
                  <a:extLst>
                    <a:ext uri="{9D8B030D-6E8A-4147-A177-3AD203B41FA5}">
                      <a16:colId xmlns:a16="http://schemas.microsoft.com/office/drawing/2014/main" val="706521062"/>
                    </a:ext>
                  </a:extLst>
                </a:gridCol>
              </a:tblGrid>
              <a:tr h="381000">
                <a:tc>
                  <a:txBody>
                    <a:bodyPr/>
                    <a:lstStyle/>
                    <a:p>
                      <a:pPr algn="l"/>
                      <a:r>
                        <a:rPr lang="zh-TW" altLang="en-US" sz="1800" b="1">
                          <a:solidFill>
                            <a:srgbClr val="FFFFFF"/>
                          </a:solidFill>
                          <a:latin typeface="Calibri" panose="020F0502020204030204" pitchFamily="34" charset="0"/>
                          <a:cs typeface="Calibri" panose="020F0502020204030204" pitchFamily="34" charset="0"/>
                        </a:rPr>
                        <a:t>AWUSER, 58 b</a:t>
                      </a:r>
                    </a:p>
                  </a:txBody>
                  <a:tcPr anchor="ctr"/>
                </a:tc>
                <a:tc>
                  <a:txBody>
                    <a:bodyPr/>
                    <a:lstStyle/>
                    <a:p>
                      <a:pPr algn="l"/>
                      <a:r>
                        <a:rPr lang="zh-TW" altLang="en-US" sz="1800" b="1">
                          <a:solidFill>
                            <a:srgbClr val="FFFFFF"/>
                          </a:solidFill>
                          <a:latin typeface="Calibri" panose="020F0502020204030204" pitchFamily="34" charset="0"/>
                          <a:cs typeface="Calibri" panose="020F0502020204030204" pitchFamily="34" charset="0"/>
                        </a:rPr>
                        <a:t>Bits</a:t>
                      </a:r>
                    </a:p>
                  </a:txBody>
                  <a:tcPr anchor="ctr"/>
                </a:tc>
                <a:tc>
                  <a:txBody>
                    <a:bodyPr/>
                    <a:lstStyle/>
                    <a:p>
                      <a:pPr algn="l"/>
                      <a:r>
                        <a:rPr lang="zh-TW" altLang="en-US" sz="1800" b="1">
                          <a:solidFill>
                            <a:srgbClr val="FFFFFF"/>
                          </a:solidFill>
                          <a:latin typeface="Calibri" panose="020F0502020204030204" pitchFamily="34" charset="0"/>
                          <a:cs typeface="Calibri" panose="020F0502020204030204" pitchFamily="34" charset="0"/>
                        </a:rPr>
                        <a:t>Width</a:t>
                      </a:r>
                    </a:p>
                  </a:txBody>
                  <a:tcPr anchor="ctr"/>
                </a:tc>
                <a:extLst>
                  <a:ext uri="{0D108BD9-81ED-4DB2-BD59-A6C34878D82A}">
                    <a16:rowId xmlns:a16="http://schemas.microsoft.com/office/drawing/2014/main" val="467463521"/>
                  </a:ext>
                </a:extLst>
              </a:tr>
              <a:tr h="406400">
                <a:tc>
                  <a:txBody>
                    <a:bodyPr/>
                    <a:lstStyle/>
                    <a:p>
                      <a:pPr algn="l"/>
                      <a:r>
                        <a:rPr lang="zh-TW" altLang="en-US" sz="1800" b="0">
                          <a:solidFill>
                            <a:srgbClr val="000000"/>
                          </a:solidFill>
                          <a:latin typeface="Calibri" panose="020F0502020204030204" pitchFamily="34" charset="0"/>
                          <a:cs typeface="Calibri" panose="020F0502020204030204" pitchFamily="34" charset="0"/>
                        </a:rPr>
                        <a:t>user</a:t>
                      </a:r>
                    </a:p>
                  </a:txBody>
                  <a:tcPr anchor="ctr"/>
                </a:tc>
                <a:tc>
                  <a:txBody>
                    <a:bodyPr/>
                    <a:lstStyle/>
                    <a:p>
                      <a:pPr algn="r"/>
                      <a:r>
                        <a:rPr lang="zh-TW" altLang="en-US" sz="1800" b="0">
                          <a:solidFill>
                            <a:srgbClr val="000000"/>
                          </a:solidFill>
                          <a:latin typeface="Calibri" panose="020F0502020204030204" pitchFamily="34" charset="0"/>
                          <a:cs typeface="Calibri" panose="020F0502020204030204" pitchFamily="34" charset="0"/>
                        </a:rPr>
                        <a:t>[7:0]</a:t>
                      </a:r>
                    </a:p>
                  </a:txBody>
                  <a:tcPr anchor="ctr"/>
                </a:tc>
                <a:tc>
                  <a:txBody>
                    <a:bodyPr/>
                    <a:lstStyle/>
                    <a:p>
                      <a:pPr algn="r"/>
                      <a:r>
                        <a:rPr lang="zh-TW" altLang="en-US" sz="1800" b="0">
                          <a:solidFill>
                            <a:srgbClr val="000000"/>
                          </a:solidFill>
                          <a:latin typeface="Calibri" panose="020F0502020204030204" pitchFamily="34" charset="0"/>
                          <a:cs typeface="Calibri" panose="020F0502020204030204" pitchFamily="34" charset="0"/>
                        </a:rPr>
                        <a:t>8</a:t>
                      </a:r>
                    </a:p>
                  </a:txBody>
                  <a:tcPr anchor="ctr"/>
                </a:tc>
                <a:extLst>
                  <a:ext uri="{0D108BD9-81ED-4DB2-BD59-A6C34878D82A}">
                    <a16:rowId xmlns:a16="http://schemas.microsoft.com/office/drawing/2014/main" val="3080739496"/>
                  </a:ext>
                </a:extLst>
              </a:tr>
              <a:tr h="406400">
                <a:tc>
                  <a:txBody>
                    <a:bodyPr/>
                    <a:lstStyle/>
                    <a:p>
                      <a:pPr algn="l"/>
                      <a:r>
                        <a:rPr lang="zh-TW" altLang="en-US" sz="1800" b="0" dirty="0">
                          <a:solidFill>
                            <a:srgbClr val="000000"/>
                          </a:solidFill>
                          <a:latin typeface="Calibri" panose="020F0502020204030204" pitchFamily="34" charset="0"/>
                          <a:cs typeface="Calibri" panose="020F0502020204030204" pitchFamily="34" charset="0"/>
                        </a:rPr>
                        <a:t>collective_op</a:t>
                      </a:r>
                    </a:p>
                  </a:txBody>
                  <a:tcPr anchor="ctr"/>
                </a:tc>
                <a:tc>
                  <a:txBody>
                    <a:bodyPr/>
                    <a:lstStyle/>
                    <a:p>
                      <a:pPr algn="r"/>
                      <a:r>
                        <a:rPr lang="zh-TW" altLang="en-US" sz="1800" b="0">
                          <a:solidFill>
                            <a:srgbClr val="000000"/>
                          </a:solidFill>
                          <a:latin typeface="Calibri" panose="020F0502020204030204" pitchFamily="34" charset="0"/>
                          <a:cs typeface="Calibri" panose="020F0502020204030204" pitchFamily="34" charset="0"/>
                        </a:rPr>
                        <a:t>[9:8]</a:t>
                      </a:r>
                    </a:p>
                  </a:txBody>
                  <a:tcPr anchor="ctr"/>
                </a:tc>
                <a:tc>
                  <a:txBody>
                    <a:bodyPr/>
                    <a:lstStyle/>
                    <a:p>
                      <a:pPr algn="r"/>
                      <a:r>
                        <a:rPr lang="zh-TW" altLang="en-US" sz="1800" b="0">
                          <a:solidFill>
                            <a:srgbClr val="000000"/>
                          </a:solidFill>
                          <a:latin typeface="Calibri" panose="020F0502020204030204" pitchFamily="34" charset="0"/>
                          <a:cs typeface="Calibri" panose="020F0502020204030204" pitchFamily="34" charset="0"/>
                        </a:rPr>
                        <a:t>2</a:t>
                      </a:r>
                    </a:p>
                  </a:txBody>
                  <a:tcPr anchor="ctr"/>
                </a:tc>
                <a:extLst>
                  <a:ext uri="{0D108BD9-81ED-4DB2-BD59-A6C34878D82A}">
                    <a16:rowId xmlns:a16="http://schemas.microsoft.com/office/drawing/2014/main" val="2197503745"/>
                  </a:ext>
                </a:extLst>
              </a:tr>
              <a:tr h="406400">
                <a:tc>
                  <a:txBody>
                    <a:bodyPr/>
                    <a:lstStyle/>
                    <a:p>
                      <a:pPr algn="l"/>
                      <a:r>
                        <a:rPr lang="zh-TW" altLang="en-US" sz="1800" b="0">
                          <a:solidFill>
                            <a:srgbClr val="000000"/>
                          </a:solidFill>
                          <a:latin typeface="Calibri" panose="020F0502020204030204" pitchFamily="34" charset="0"/>
                          <a:cs typeface="Calibri" panose="020F0502020204030204" pitchFamily="34" charset="0"/>
                        </a:rPr>
                        <a:t>collective_mask</a:t>
                      </a:r>
                    </a:p>
                  </a:txBody>
                  <a:tcPr anchor="ctr"/>
                </a:tc>
                <a:tc>
                  <a:txBody>
                    <a:bodyPr/>
                    <a:lstStyle/>
                    <a:p>
                      <a:pPr algn="r"/>
                      <a:r>
                        <a:rPr lang="zh-TW" altLang="en-US" sz="1800" b="0">
                          <a:solidFill>
                            <a:srgbClr val="000000"/>
                          </a:solidFill>
                          <a:latin typeface="Calibri" panose="020F0502020204030204" pitchFamily="34" charset="0"/>
                          <a:cs typeface="Calibri" panose="020F0502020204030204" pitchFamily="34" charset="0"/>
                        </a:rPr>
                        <a:t>[57:10]</a:t>
                      </a:r>
                    </a:p>
                  </a:txBody>
                  <a:tcPr anchor="ctr"/>
                </a:tc>
                <a:tc>
                  <a:txBody>
                    <a:bodyPr/>
                    <a:lstStyle/>
                    <a:p>
                      <a:pPr algn="r"/>
                      <a:r>
                        <a:rPr lang="zh-TW" altLang="en-US" sz="1800" b="0" dirty="0">
                          <a:solidFill>
                            <a:srgbClr val="000000"/>
                          </a:solidFill>
                          <a:latin typeface="Calibri" panose="020F0502020204030204" pitchFamily="34" charset="0"/>
                          <a:cs typeface="Calibri" panose="020F0502020204030204" pitchFamily="34" charset="0"/>
                        </a:rPr>
                        <a:t>48</a:t>
                      </a:r>
                    </a:p>
                  </a:txBody>
                  <a:tcPr anchor="ctr"/>
                </a:tc>
                <a:extLst>
                  <a:ext uri="{0D108BD9-81ED-4DB2-BD59-A6C34878D82A}">
                    <a16:rowId xmlns:a16="http://schemas.microsoft.com/office/drawing/2014/main" val="1772721510"/>
                  </a:ext>
                </a:extLst>
              </a:tr>
            </a:tbl>
          </a:graphicData>
        </a:graphic>
      </p:graphicFrame>
      <p:graphicFrame>
        <p:nvGraphicFramePr>
          <p:cNvPr id="14" name="Table 13"/>
          <p:cNvGraphicFramePr>
            <a:graphicFrameLocks noGrp="1"/>
          </p:cNvGraphicFramePr>
          <p:nvPr>
            <p:extLst>
              <p:ext uri="{D42A27DB-BD31-4B8C-83A1-F6EECF244321}">
                <p14:modId xmlns:p14="http://schemas.microsoft.com/office/powerpoint/2010/main" val="2876643653"/>
              </p:ext>
            </p:extLst>
          </p:nvPr>
        </p:nvGraphicFramePr>
        <p:xfrm>
          <a:off x="609600" y="1219200"/>
          <a:ext cx="4937760" cy="146304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365760">
                <a:tc>
                  <a:txBody>
                    <a:bodyPr/>
                    <a:lstStyle/>
                    <a:p>
                      <a:r>
                        <a:rPr sz="1800" b="1" dirty="0">
                          <a:latin typeface="Calibri" panose="020F0502020204030204" pitchFamily="34" charset="0"/>
                          <a:ea typeface="Calibri" panose="020F0502020204030204" pitchFamily="34" charset="0"/>
                          <a:cs typeface="Calibri" panose="020F0502020204030204" pitchFamily="34" charset="0"/>
                        </a:rPr>
                        <a:t>B, 18 b</a:t>
                      </a:r>
                    </a:p>
                  </a:txBody>
                  <a:tcPr/>
                </a:tc>
                <a:tc>
                  <a:txBody>
                    <a:bodyPr/>
                    <a:lstStyle/>
                    <a:p>
                      <a:r>
                        <a:rPr sz="1800" b="1">
                          <a:latin typeface="Calibri" panose="020F0502020204030204" pitchFamily="34" charset="0"/>
                          <a:ea typeface="Calibri" panose="020F0502020204030204" pitchFamily="34" charset="0"/>
                          <a:cs typeface="Calibri" panose="020F0502020204030204" pitchFamily="34" charset="0"/>
                        </a:rPr>
                        <a:t>Bits</a:t>
                      </a:r>
                    </a:p>
                  </a:txBody>
                  <a:tcPr/>
                </a:tc>
                <a:tc>
                  <a:txBody>
                    <a:bodyPr/>
                    <a:lstStyle/>
                    <a:p>
                      <a:r>
                        <a:rPr sz="1800" b="1" dirty="0">
                          <a:latin typeface="Calibri" panose="020F0502020204030204" pitchFamily="34" charset="0"/>
                          <a:ea typeface="Calibri" panose="020F0502020204030204" pitchFamily="34" charset="0"/>
                          <a:cs typeface="Calibri" panose="020F0502020204030204" pitchFamily="34" charset="0"/>
                        </a:rPr>
                        <a:t>Width</a:t>
                      </a:r>
                    </a:p>
                  </a:txBody>
                  <a:tcPr/>
                </a:tc>
                <a:extLst>
                  <a:ext uri="{0D108BD9-81ED-4DB2-BD59-A6C34878D82A}">
                    <a16:rowId xmlns:a16="http://schemas.microsoft.com/office/drawing/2014/main" val="10000"/>
                  </a:ext>
                </a:extLst>
              </a:tr>
              <a:tr h="365760">
                <a:tc>
                  <a:txBody>
                    <a:bodyPr/>
                    <a:lstStyle/>
                    <a:p>
                      <a:r>
                        <a:rPr sz="1800" b="0">
                          <a:latin typeface="Calibri" panose="020F0502020204030204" pitchFamily="34" charset="0"/>
                          <a:ea typeface="Calibri" panose="020F0502020204030204" pitchFamily="34" charset="0"/>
                          <a:cs typeface="Calibri" panose="020F0502020204030204" pitchFamily="34" charset="0"/>
                        </a:rPr>
                        <a:t>id</a:t>
                      </a:r>
                    </a:p>
                  </a:txBody>
                  <a:tcPr/>
                </a:tc>
                <a:tc>
                  <a:txBody>
                    <a:bodyPr/>
                    <a:lstStyle/>
                    <a:p>
                      <a:r>
                        <a:rPr sz="1800" b="0">
                          <a:latin typeface="Calibri" panose="020F0502020204030204" pitchFamily="34" charset="0"/>
                          <a:ea typeface="Calibri" panose="020F0502020204030204" pitchFamily="34" charset="0"/>
                          <a:cs typeface="Calibri" panose="020F0502020204030204" pitchFamily="34" charset="0"/>
                        </a:rPr>
                        <a:t>[7:0]</a:t>
                      </a:r>
                    </a:p>
                  </a:txBody>
                  <a:tcPr/>
                </a:tc>
                <a:tc>
                  <a:txBody>
                    <a:bodyPr/>
                    <a:lstStyle/>
                    <a:p>
                      <a:r>
                        <a:rPr sz="1800" b="0">
                          <a:latin typeface="Calibri" panose="020F0502020204030204" pitchFamily="34" charset="0"/>
                          <a:ea typeface="Calibri" panose="020F0502020204030204" pitchFamily="34" charset="0"/>
                          <a:cs typeface="Calibri" panose="020F0502020204030204" pitchFamily="34" charset="0"/>
                        </a:rPr>
                        <a:t>8</a:t>
                      </a:r>
                    </a:p>
                  </a:txBody>
                  <a:tcPr/>
                </a:tc>
                <a:extLst>
                  <a:ext uri="{0D108BD9-81ED-4DB2-BD59-A6C34878D82A}">
                    <a16:rowId xmlns:a16="http://schemas.microsoft.com/office/drawing/2014/main" val="10001"/>
                  </a:ext>
                </a:extLst>
              </a:tr>
              <a:tr h="365760">
                <a:tc>
                  <a:txBody>
                    <a:bodyPr/>
                    <a:lstStyle/>
                    <a:p>
                      <a:r>
                        <a:rPr sz="1800" b="0">
                          <a:latin typeface="Calibri" panose="020F0502020204030204" pitchFamily="34" charset="0"/>
                          <a:ea typeface="Calibri" panose="020F0502020204030204" pitchFamily="34" charset="0"/>
                          <a:cs typeface="Calibri" panose="020F0502020204030204" pitchFamily="34" charset="0"/>
                        </a:rPr>
                        <a:t>resp</a:t>
                      </a:r>
                    </a:p>
                  </a:txBody>
                  <a:tcPr/>
                </a:tc>
                <a:tc>
                  <a:txBody>
                    <a:bodyPr/>
                    <a:lstStyle/>
                    <a:p>
                      <a:r>
                        <a:rPr sz="1800" b="0" dirty="0">
                          <a:latin typeface="Calibri" panose="020F0502020204030204" pitchFamily="34" charset="0"/>
                          <a:ea typeface="Calibri" panose="020F0502020204030204" pitchFamily="34" charset="0"/>
                          <a:cs typeface="Calibri" panose="020F0502020204030204" pitchFamily="34" charset="0"/>
                        </a:rPr>
                        <a:t>[9:8]</a:t>
                      </a:r>
                    </a:p>
                  </a:txBody>
                  <a:tcPr/>
                </a:tc>
                <a:tc>
                  <a:txBody>
                    <a:bodyPr/>
                    <a:lstStyle/>
                    <a:p>
                      <a:r>
                        <a:rPr sz="1800" b="0">
                          <a:latin typeface="Calibri" panose="020F0502020204030204" pitchFamily="34" charset="0"/>
                          <a:ea typeface="Calibri" panose="020F0502020204030204" pitchFamily="34" charset="0"/>
                          <a:cs typeface="Calibri" panose="020F0502020204030204" pitchFamily="34" charset="0"/>
                        </a:rPr>
                        <a:t>2</a:t>
                      </a:r>
                    </a:p>
                  </a:txBody>
                  <a:tcPr/>
                </a:tc>
                <a:extLst>
                  <a:ext uri="{0D108BD9-81ED-4DB2-BD59-A6C34878D82A}">
                    <a16:rowId xmlns:a16="http://schemas.microsoft.com/office/drawing/2014/main" val="10002"/>
                  </a:ext>
                </a:extLst>
              </a:tr>
              <a:tr h="365760">
                <a:tc>
                  <a:txBody>
                    <a:bodyPr/>
                    <a:lstStyle/>
                    <a:p>
                      <a:r>
                        <a:rPr sz="1800" b="0">
                          <a:latin typeface="Calibri" panose="020F0502020204030204" pitchFamily="34" charset="0"/>
                          <a:ea typeface="Calibri" panose="020F0502020204030204" pitchFamily="34" charset="0"/>
                          <a:cs typeface="Calibri" panose="020F0502020204030204" pitchFamily="34" charset="0"/>
                        </a:rPr>
                        <a:t>user</a:t>
                      </a:r>
                    </a:p>
                  </a:txBody>
                  <a:tcPr/>
                </a:tc>
                <a:tc>
                  <a:txBody>
                    <a:bodyPr/>
                    <a:lstStyle/>
                    <a:p>
                      <a:r>
                        <a:rPr sz="1800" b="0">
                          <a:latin typeface="Calibri" panose="020F0502020204030204" pitchFamily="34" charset="0"/>
                          <a:ea typeface="Calibri" panose="020F0502020204030204" pitchFamily="34" charset="0"/>
                          <a:cs typeface="Calibri" panose="020F0502020204030204" pitchFamily="34" charset="0"/>
                        </a:rPr>
                        <a:t>[17:10]</a:t>
                      </a:r>
                    </a:p>
                  </a:txBody>
                  <a:tcPr/>
                </a:tc>
                <a:tc>
                  <a:txBody>
                    <a:bodyPr/>
                    <a:lstStyle/>
                    <a:p>
                      <a:r>
                        <a:rPr sz="1800" b="0" dirty="0">
                          <a:latin typeface="Calibri" panose="020F0502020204030204" pitchFamily="34" charset="0"/>
                          <a:ea typeface="Calibri" panose="020F0502020204030204" pitchFamily="34" charset="0"/>
                          <a:cs typeface="Calibri" panose="020F0502020204030204" pitchFamily="34" charset="0"/>
                        </a:rPr>
                        <a:t>8</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3746740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6B45E42-0D04-0BC1-D169-91ADE223DFC4}"/>
              </a:ext>
            </a:extLst>
          </p:cNvPr>
          <p:cNvSpPr>
            <a:spLocks noGrp="1"/>
          </p:cNvSpPr>
          <p:nvPr>
            <p:ph type="title"/>
          </p:nvPr>
        </p:nvSpPr>
        <p:spPr>
          <a:xfrm>
            <a:off x="533400" y="228600"/>
            <a:ext cx="11176000" cy="584200"/>
          </a:xfrm>
        </p:spPr>
        <p:txBody>
          <a:bodyPr/>
          <a:lstStyle/>
          <a:p>
            <a:pPr marL="0" indent="0" algn="l">
              <a:buNone/>
            </a:pPr>
            <a:r>
              <a:rPr lang="en-US" altLang="zh-TW" sz="3200" dirty="0">
                <a:solidFill>
                  <a:srgbClr val="000000"/>
                </a:solidFill>
                <a:latin typeface="Calibri"/>
                <a:ea typeface="Calibri"/>
                <a:cs typeface="Calibri"/>
              </a:rPr>
              <a:t>Header overhead and W/R utilization</a:t>
            </a:r>
          </a:p>
        </p:txBody>
      </p:sp>
      <p:sp>
        <p:nvSpPr>
          <p:cNvPr id="5" name="文字方塊 4">
            <a:extLst>
              <a:ext uri="{FF2B5EF4-FFF2-40B4-BE49-F238E27FC236}">
                <a16:creationId xmlns:a16="http://schemas.microsoft.com/office/drawing/2014/main" id="{1B71A4A8-1D6E-42DC-AB58-C236D746C167}"/>
              </a:ext>
            </a:extLst>
          </p:cNvPr>
          <p:cNvSpPr txBox="1"/>
          <p:nvPr/>
        </p:nvSpPr>
        <p:spPr>
          <a:xfrm>
            <a:off x="609600" y="1056128"/>
            <a:ext cx="10972800" cy="923330"/>
          </a:xfrm>
          <a:prstGeom prst="rect">
            <a:avLst/>
          </a:prstGeom>
          <a:noFill/>
        </p:spPr>
        <p:txBody>
          <a:bodyPr vertOverflow="overflow" vert="horz" wrap="square" rtlCol="0" anchor="t">
            <a:spAutoFit/>
          </a:bodyPr>
          <a:lstStyle/>
          <a:p>
            <a:pPr marL="285750" indent="-285750" algn="l">
              <a:buFont typeface="Arial" panose="020B0604020202020204" pitchFamily="34" charset="0"/>
              <a:buChar char="•"/>
            </a:pPr>
            <a:r>
              <a:rPr dirty="0">
                <a:solidFill>
                  <a:srgbClr val="000000"/>
                </a:solidFill>
              </a:rPr>
              <a:t>Header overhead counts the 44 b header over the flit width. W and R utilization count the AXI data field over the flit width.</a:t>
            </a:r>
          </a:p>
          <a:p>
            <a:pPr marL="285750" indent="-285750" algn="l">
              <a:buFont typeface="Arial" panose="020B0604020202020204" pitchFamily="34" charset="0"/>
              <a:buChar char="•"/>
            </a:pPr>
            <a:r>
              <a:rPr lang="en-US" altLang="zh-TW" dirty="0">
                <a:solidFill>
                  <a:srgbClr val="000000"/>
                </a:solidFill>
                <a:latin typeface="Calibri"/>
                <a:ea typeface="Calibri"/>
                <a:cs typeface="Calibri"/>
              </a:rPr>
              <a:t>Data utilization counts the AXI data field alone.</a:t>
            </a:r>
            <a:endParaRPr lang="zh-TW" altLang="en-US" dirty="0">
              <a:solidFill>
                <a:srgbClr val="000000"/>
              </a:solidFill>
              <a:latin typeface="Calibri"/>
              <a:cs typeface="Calibri"/>
            </a:endParaRPr>
          </a:p>
        </p:txBody>
      </p:sp>
      <p:sp>
        <p:nvSpPr>
          <p:cNvPr id="14" name="文字方塊 13">
            <a:extLst>
              <a:ext uri="{FF2B5EF4-FFF2-40B4-BE49-F238E27FC236}">
                <a16:creationId xmlns:a16="http://schemas.microsoft.com/office/drawing/2014/main" id="{1D624184-3FEE-460A-8E18-FC35515F5A1F}"/>
              </a:ext>
            </a:extLst>
          </p:cNvPr>
          <p:cNvSpPr txBox="1"/>
          <p:nvPr/>
        </p:nvSpPr>
        <p:spPr>
          <a:xfrm>
            <a:off x="609600" y="5156200"/>
            <a:ext cx="10972800" cy="762000"/>
          </a:xfrm>
          <a:prstGeom prst="rect">
            <a:avLst/>
          </a:prstGeom>
          <a:noFill/>
        </p:spPr>
        <p:txBody>
          <a:bodyPr vertOverflow="overflow" vert="horz" wrap="square" rtlCol="0" anchor="t">
            <a:spAutoFit/>
          </a:bodyPr>
          <a:lstStyle/>
          <a:p>
            <a:pPr algn="l"/>
            <a:r>
              <a:rPr lang="en-US" altLang="zh-TW" sz="1600" dirty="0" err="1">
                <a:solidFill>
                  <a:srgbClr val="000000"/>
                </a:solidFill>
                <a:latin typeface="Calibri"/>
                <a:ea typeface="Calibri"/>
                <a:cs typeface="Calibri"/>
              </a:rPr>
              <a:t>DataAw</a:t>
            </a:r>
            <a:r>
              <a:rPr lang="en-US" altLang="zh-TW" sz="1600" dirty="0">
                <a:solidFill>
                  <a:srgbClr val="000000"/>
                </a:solidFill>
                <a:latin typeface="Calibri"/>
                <a:ea typeface="Calibri"/>
                <a:cs typeface="Calibri"/>
              </a:rPr>
              <a:t> rides DAT for ordering, not size: AXI4 write data carries no ID, a slave pairs data with requests by arrival order, so the request travels bundled ahead of its data. The cost is one flit per write burst and amortizes over the burst length.</a:t>
            </a:r>
            <a:endParaRPr lang="zh-TW" altLang="en-US" sz="1600" dirty="0">
              <a:solidFill>
                <a:srgbClr val="000000"/>
              </a:solidFill>
              <a:latin typeface="Calibri"/>
              <a:cs typeface="Calibri"/>
            </a:endParaRPr>
          </a:p>
        </p:txBody>
      </p:sp>
      <p:graphicFrame>
        <p:nvGraphicFramePr>
          <p:cNvPr id="15" name="Table 14"/>
          <p:cNvGraphicFramePr>
            <a:graphicFrameLocks noGrp="1"/>
          </p:cNvGraphicFramePr>
          <p:nvPr>
            <p:extLst>
              <p:ext uri="{D42A27DB-BD31-4B8C-83A1-F6EECF244321}">
                <p14:modId xmlns:p14="http://schemas.microsoft.com/office/powerpoint/2010/main" val="268177056"/>
              </p:ext>
            </p:extLst>
          </p:nvPr>
        </p:nvGraphicFramePr>
        <p:xfrm>
          <a:off x="1647576" y="2514600"/>
          <a:ext cx="8229600" cy="182880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457200">
                <a:tc>
                  <a:txBody>
                    <a:bodyPr/>
                    <a:lstStyle/>
                    <a:p>
                      <a:r>
                        <a:rPr sz="1800" b="1">
                          <a:latin typeface="Calibri" panose="020F0502020204030204" pitchFamily="34" charset="0"/>
                          <a:ea typeface="Calibri" panose="020F0502020204030204" pitchFamily="34" charset="0"/>
                          <a:cs typeface="Calibri" panose="020F0502020204030204" pitchFamily="34" charset="0"/>
                        </a:rPr>
                        <a:t>Network</a:t>
                      </a:r>
                    </a:p>
                  </a:txBody>
                  <a:tcPr/>
                </a:tc>
                <a:tc>
                  <a:txBody>
                    <a:bodyPr/>
                    <a:lstStyle/>
                    <a:p>
                      <a:r>
                        <a:rPr sz="1800" b="1">
                          <a:latin typeface="Calibri" panose="020F0502020204030204" pitchFamily="34" charset="0"/>
                          <a:ea typeface="Calibri" panose="020F0502020204030204" pitchFamily="34" charset="0"/>
                          <a:cs typeface="Calibri" panose="020F0502020204030204" pitchFamily="34" charset="0"/>
                        </a:rPr>
                        <a:t>Header overhead</a:t>
                      </a:r>
                    </a:p>
                  </a:txBody>
                  <a:tcPr/>
                </a:tc>
                <a:tc>
                  <a:txBody>
                    <a:bodyPr/>
                    <a:lstStyle/>
                    <a:p>
                      <a:r>
                        <a:rPr sz="1800" b="1">
                          <a:latin typeface="Calibri" panose="020F0502020204030204" pitchFamily="34" charset="0"/>
                          <a:ea typeface="Calibri" panose="020F0502020204030204" pitchFamily="34" charset="0"/>
                          <a:cs typeface="Calibri" panose="020F0502020204030204" pitchFamily="34" charset="0"/>
                        </a:rPr>
                        <a:t>W utilization</a:t>
                      </a:r>
                    </a:p>
                  </a:txBody>
                  <a:tcPr/>
                </a:tc>
                <a:tc>
                  <a:txBody>
                    <a:bodyPr/>
                    <a:lstStyle/>
                    <a:p>
                      <a:r>
                        <a:rPr sz="1800" b="1" dirty="0">
                          <a:latin typeface="Calibri" panose="020F0502020204030204" pitchFamily="34" charset="0"/>
                          <a:ea typeface="Calibri" panose="020F0502020204030204" pitchFamily="34" charset="0"/>
                          <a:cs typeface="Calibri" panose="020F0502020204030204" pitchFamily="34" charset="0"/>
                        </a:rPr>
                        <a:t>R utilization</a:t>
                      </a:r>
                    </a:p>
                  </a:txBody>
                  <a:tcPr/>
                </a:tc>
                <a:extLst>
                  <a:ext uri="{0D108BD9-81ED-4DB2-BD59-A6C34878D82A}">
                    <a16:rowId xmlns:a16="http://schemas.microsoft.com/office/drawing/2014/main" val="10000"/>
                  </a:ext>
                </a:extLst>
              </a:tr>
              <a:tr h="457200">
                <a:tc>
                  <a:txBody>
                    <a:bodyPr/>
                    <a:lstStyle/>
                    <a:p>
                      <a:r>
                        <a:rPr sz="1800" b="0">
                          <a:latin typeface="Calibri" panose="020F0502020204030204" pitchFamily="34" charset="0"/>
                          <a:ea typeface="Calibri" panose="020F0502020204030204" pitchFamily="34" charset="0"/>
                          <a:cs typeface="Calibri" panose="020F0502020204030204" pitchFamily="34" charset="0"/>
                        </a:rPr>
                        <a:t>REQ 137 b</a:t>
                      </a:r>
                    </a:p>
                  </a:txBody>
                  <a:tcPr/>
                </a:tc>
                <a:tc>
                  <a:txBody>
                    <a:bodyPr/>
                    <a:lstStyle/>
                    <a:p>
                      <a:r>
                        <a:rPr sz="1800" b="0" dirty="0">
                          <a:latin typeface="Calibri" panose="020F0502020204030204" pitchFamily="34" charset="0"/>
                          <a:ea typeface="Calibri" panose="020F0502020204030204" pitchFamily="34" charset="0"/>
                          <a:cs typeface="Calibri" panose="020F0502020204030204" pitchFamily="34" charset="0"/>
                        </a:rPr>
                        <a:t>32.1 %</a:t>
                      </a:r>
                    </a:p>
                  </a:txBody>
                  <a:tcPr/>
                </a:tc>
                <a:tc>
                  <a:txBody>
                    <a:bodyPr/>
                    <a:lstStyle/>
                    <a:p>
                      <a:r>
                        <a:rPr sz="1800" b="0">
                          <a:latin typeface="Calibri" panose="020F0502020204030204" pitchFamily="34" charset="0"/>
                          <a:ea typeface="Calibri" panose="020F0502020204030204" pitchFamily="34" charset="0"/>
                          <a:cs typeface="Calibri" panose="020F0502020204030204" pitchFamily="34" charset="0"/>
                        </a:rPr>
                        <a:t>46.7 %, NarrowW</a:t>
                      </a:r>
                    </a:p>
                  </a:txBody>
                  <a:tcPr/>
                </a:tc>
                <a:tc>
                  <a:txBody>
                    <a:bodyPr/>
                    <a:lstStyle/>
                    <a:p>
                      <a:r>
                        <a:rPr sz="1800" b="0">
                          <a:latin typeface="Calibri" panose="020F0502020204030204" pitchFamily="34" charset="0"/>
                          <a:ea typeface="Calibri" panose="020F0502020204030204" pitchFamily="34" charset="0"/>
                          <a:cs typeface="Calibri" panose="020F0502020204030204" pitchFamily="34" charset="0"/>
                        </a:rPr>
                        <a:t>-</a:t>
                      </a:r>
                    </a:p>
                  </a:txBody>
                  <a:tcPr/>
                </a:tc>
                <a:extLst>
                  <a:ext uri="{0D108BD9-81ED-4DB2-BD59-A6C34878D82A}">
                    <a16:rowId xmlns:a16="http://schemas.microsoft.com/office/drawing/2014/main" val="10001"/>
                  </a:ext>
                </a:extLst>
              </a:tr>
              <a:tr h="457200">
                <a:tc>
                  <a:txBody>
                    <a:bodyPr/>
                    <a:lstStyle/>
                    <a:p>
                      <a:r>
                        <a:rPr sz="1800" b="0">
                          <a:latin typeface="Calibri" panose="020F0502020204030204" pitchFamily="34" charset="0"/>
                          <a:ea typeface="Calibri" panose="020F0502020204030204" pitchFamily="34" charset="0"/>
                          <a:cs typeface="Calibri" panose="020F0502020204030204" pitchFamily="34" charset="0"/>
                        </a:rPr>
                        <a:t>RSP 127 b</a:t>
                      </a:r>
                    </a:p>
                  </a:txBody>
                  <a:tcPr/>
                </a:tc>
                <a:tc>
                  <a:txBody>
                    <a:bodyPr/>
                    <a:lstStyle/>
                    <a:p>
                      <a:r>
                        <a:rPr sz="1800" b="0">
                          <a:latin typeface="Calibri" panose="020F0502020204030204" pitchFamily="34" charset="0"/>
                          <a:ea typeface="Calibri" panose="020F0502020204030204" pitchFamily="34" charset="0"/>
                          <a:cs typeface="Calibri" panose="020F0502020204030204" pitchFamily="34" charset="0"/>
                        </a:rPr>
                        <a:t>34.6 %</a:t>
                      </a:r>
                    </a:p>
                  </a:txBody>
                  <a:tcPr/>
                </a:tc>
                <a:tc>
                  <a:txBody>
                    <a:bodyPr/>
                    <a:lstStyle/>
                    <a:p>
                      <a:r>
                        <a:rPr sz="1800" b="0">
                          <a:latin typeface="Calibri" panose="020F0502020204030204" pitchFamily="34" charset="0"/>
                          <a:ea typeface="Calibri" panose="020F0502020204030204" pitchFamily="34" charset="0"/>
                          <a:cs typeface="Calibri" panose="020F0502020204030204" pitchFamily="34" charset="0"/>
                        </a:rPr>
                        <a:t>-</a:t>
                      </a:r>
                    </a:p>
                  </a:txBody>
                  <a:tcPr/>
                </a:tc>
                <a:tc>
                  <a:txBody>
                    <a:bodyPr/>
                    <a:lstStyle/>
                    <a:p>
                      <a:r>
                        <a:rPr sz="1800" b="0">
                          <a:latin typeface="Calibri" panose="020F0502020204030204" pitchFamily="34" charset="0"/>
                          <a:ea typeface="Calibri" panose="020F0502020204030204" pitchFamily="34" charset="0"/>
                          <a:cs typeface="Calibri" panose="020F0502020204030204" pitchFamily="34" charset="0"/>
                        </a:rPr>
                        <a:t>50.4 %, NarrowR</a:t>
                      </a:r>
                    </a:p>
                  </a:txBody>
                  <a:tcPr/>
                </a:tc>
                <a:extLst>
                  <a:ext uri="{0D108BD9-81ED-4DB2-BD59-A6C34878D82A}">
                    <a16:rowId xmlns:a16="http://schemas.microsoft.com/office/drawing/2014/main" val="10002"/>
                  </a:ext>
                </a:extLst>
              </a:tr>
              <a:tr h="457200">
                <a:tc>
                  <a:txBody>
                    <a:bodyPr/>
                    <a:lstStyle/>
                    <a:p>
                      <a:r>
                        <a:rPr sz="1800" b="0">
                          <a:latin typeface="Calibri" panose="020F0502020204030204" pitchFamily="34" charset="0"/>
                          <a:ea typeface="Calibri" panose="020F0502020204030204" pitchFamily="34" charset="0"/>
                          <a:cs typeface="Calibri" panose="020F0502020204030204" pitchFamily="34" charset="0"/>
                        </a:rPr>
                        <a:t>DAT 629 b</a:t>
                      </a:r>
                    </a:p>
                  </a:txBody>
                  <a:tcPr/>
                </a:tc>
                <a:tc>
                  <a:txBody>
                    <a:bodyPr/>
                    <a:lstStyle/>
                    <a:p>
                      <a:r>
                        <a:rPr sz="1800" b="1">
                          <a:latin typeface="Calibri" panose="020F0502020204030204" pitchFamily="34" charset="0"/>
                          <a:ea typeface="Calibri" panose="020F0502020204030204" pitchFamily="34" charset="0"/>
                          <a:cs typeface="Calibri" panose="020F0502020204030204" pitchFamily="34" charset="0"/>
                        </a:rPr>
                        <a:t>7.0 %</a:t>
                      </a:r>
                    </a:p>
                  </a:txBody>
                  <a:tcPr/>
                </a:tc>
                <a:tc>
                  <a:txBody>
                    <a:bodyPr/>
                    <a:lstStyle/>
                    <a:p>
                      <a:r>
                        <a:rPr sz="1800" b="0">
                          <a:latin typeface="Calibri" panose="020F0502020204030204" pitchFamily="34" charset="0"/>
                          <a:ea typeface="Calibri" panose="020F0502020204030204" pitchFamily="34" charset="0"/>
                          <a:cs typeface="Calibri" panose="020F0502020204030204" pitchFamily="34" charset="0"/>
                        </a:rPr>
                        <a:t>81.4 %, DataW</a:t>
                      </a:r>
                    </a:p>
                  </a:txBody>
                  <a:tcPr/>
                </a:tc>
                <a:tc>
                  <a:txBody>
                    <a:bodyPr/>
                    <a:lstStyle/>
                    <a:p>
                      <a:r>
                        <a:rPr sz="1800" b="0" dirty="0">
                          <a:latin typeface="Calibri" panose="020F0502020204030204" pitchFamily="34" charset="0"/>
                          <a:ea typeface="Calibri" panose="020F0502020204030204" pitchFamily="34" charset="0"/>
                          <a:cs typeface="Calibri" panose="020F0502020204030204" pitchFamily="34" charset="0"/>
                        </a:rPr>
                        <a:t>81.4 %, </a:t>
                      </a:r>
                      <a:r>
                        <a:rPr sz="1800" b="0" dirty="0" err="1">
                          <a:latin typeface="Calibri" panose="020F0502020204030204" pitchFamily="34" charset="0"/>
                          <a:ea typeface="Calibri" panose="020F0502020204030204" pitchFamily="34" charset="0"/>
                          <a:cs typeface="Calibri" panose="020F0502020204030204" pitchFamily="34" charset="0"/>
                        </a:rPr>
                        <a:t>DataR</a:t>
                      </a:r>
                      <a:endParaRPr sz="1800" b="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3676799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432F639-5FE6-01B8-AB54-C8024514B76E}"/>
              </a:ext>
            </a:extLst>
          </p:cNvPr>
          <p:cNvSpPr>
            <a:spLocks noGrp="1"/>
          </p:cNvSpPr>
          <p:nvPr>
            <p:ph type="title"/>
          </p:nvPr>
        </p:nvSpPr>
        <p:spPr>
          <a:xfrm>
            <a:off x="533400" y="228600"/>
            <a:ext cx="11176000" cy="584200"/>
          </a:xfrm>
        </p:spPr>
        <p:txBody>
          <a:bodyPr/>
          <a:lstStyle/>
          <a:p>
            <a:r>
              <a:rPr lang="en-US" altLang="zh-TW"/>
              <a:t>Configuration options</a:t>
            </a:r>
            <a:endParaRPr lang="zh-TW" altLang="en-US"/>
          </a:p>
        </p:txBody>
      </p:sp>
      <p:graphicFrame>
        <p:nvGraphicFramePr>
          <p:cNvPr id="5" name="表格 4">
            <a:extLst>
              <a:ext uri="{FF2B5EF4-FFF2-40B4-BE49-F238E27FC236}">
                <a16:creationId xmlns:a16="http://schemas.microsoft.com/office/drawing/2014/main" id="{C4C67A29-3B27-43E3-A4C2-F67B0A80CFE4}"/>
              </a:ext>
            </a:extLst>
          </p:cNvPr>
          <p:cNvGraphicFramePr>
            <a:graphicFrameLocks noGrp="1"/>
          </p:cNvGraphicFramePr>
          <p:nvPr>
            <p:extLst>
              <p:ext uri="{D42A27DB-BD31-4B8C-83A1-F6EECF244321}">
                <p14:modId xmlns:p14="http://schemas.microsoft.com/office/powerpoint/2010/main" val="1535497478"/>
              </p:ext>
            </p:extLst>
          </p:nvPr>
        </p:nvGraphicFramePr>
        <p:xfrm>
          <a:off x="609600" y="1270000"/>
          <a:ext cx="10972800" cy="3977640"/>
        </p:xfrm>
        <a:graphic>
          <a:graphicData uri="http://schemas.openxmlformats.org/drawingml/2006/table">
            <a:tbl>
              <a:tblPr firstRow="1" bandRow="1">
                <a:tableStyleId>{5C22544A-7EE6-4342-B048-85BDC9FD1C3A}</a:tableStyleId>
              </a:tblPr>
              <a:tblGrid>
                <a:gridCol w="1549400">
                  <a:extLst>
                    <a:ext uri="{9D8B030D-6E8A-4147-A177-3AD203B41FA5}">
                      <a16:colId xmlns:a16="http://schemas.microsoft.com/office/drawing/2014/main" val="1892154584"/>
                    </a:ext>
                  </a:extLst>
                </a:gridCol>
                <a:gridCol w="2717800">
                  <a:extLst>
                    <a:ext uri="{9D8B030D-6E8A-4147-A177-3AD203B41FA5}">
                      <a16:colId xmlns:a16="http://schemas.microsoft.com/office/drawing/2014/main" val="3293003013"/>
                    </a:ext>
                  </a:extLst>
                </a:gridCol>
                <a:gridCol w="1905000">
                  <a:extLst>
                    <a:ext uri="{9D8B030D-6E8A-4147-A177-3AD203B41FA5}">
                      <a16:colId xmlns:a16="http://schemas.microsoft.com/office/drawing/2014/main" val="3967473297"/>
                    </a:ext>
                  </a:extLst>
                </a:gridCol>
                <a:gridCol w="4800600">
                  <a:extLst>
                    <a:ext uri="{9D8B030D-6E8A-4147-A177-3AD203B41FA5}">
                      <a16:colId xmlns:a16="http://schemas.microsoft.com/office/drawing/2014/main" val="1332235071"/>
                    </a:ext>
                  </a:extLst>
                </a:gridCol>
              </a:tblGrid>
              <a:tr h="406400">
                <a:tc>
                  <a:txBody>
                    <a:bodyPr/>
                    <a:lstStyle/>
                    <a:p>
                      <a:pPr algn="l"/>
                      <a:r>
                        <a:rPr lang="zh-TW" altLang="en-US" sz="1700" b="1">
                          <a:solidFill>
                            <a:srgbClr val="FFFFFF"/>
                          </a:solidFill>
                          <a:latin typeface="Calibri"/>
                          <a:cs typeface="Calibri"/>
                        </a:rPr>
                        <a:t>Feature</a:t>
                      </a:r>
                    </a:p>
                  </a:txBody>
                  <a:tcPr anchor="ctr"/>
                </a:tc>
                <a:tc>
                  <a:txBody>
                    <a:bodyPr/>
                    <a:lstStyle/>
                    <a:p>
                      <a:pPr algn="l"/>
                      <a:r>
                        <a:rPr lang="zh-TW" altLang="en-US" sz="1700" b="1">
                          <a:solidFill>
                            <a:srgbClr val="FFFFFF"/>
                          </a:solidFill>
                          <a:latin typeface="Calibri"/>
                          <a:cs typeface="Calibri"/>
                        </a:rPr>
                        <a:t>Parameter</a:t>
                      </a:r>
                    </a:p>
                  </a:txBody>
                  <a:tcPr anchor="ctr"/>
                </a:tc>
                <a:tc>
                  <a:txBody>
                    <a:bodyPr/>
                    <a:lstStyle/>
                    <a:p>
                      <a:pPr algn="l"/>
                      <a:r>
                        <a:rPr lang="zh-TW" altLang="en-US" sz="1700" b="1">
                          <a:solidFill>
                            <a:srgbClr val="FFFFFF"/>
                          </a:solidFill>
                          <a:latin typeface="Calibri"/>
                          <a:cs typeface="Calibri"/>
                        </a:rPr>
                        <a:t>Values (default)</a:t>
                      </a:r>
                    </a:p>
                  </a:txBody>
                  <a:tcPr anchor="ctr"/>
                </a:tc>
                <a:tc>
                  <a:txBody>
                    <a:bodyPr/>
                    <a:lstStyle/>
                    <a:p>
                      <a:pPr algn="l"/>
                      <a:r>
                        <a:rPr lang="zh-TW" altLang="en-US" sz="1700" b="1">
                          <a:solidFill>
                            <a:srgbClr val="FFFFFF"/>
                          </a:solidFill>
                          <a:latin typeface="Calibri"/>
                          <a:cs typeface="Calibri"/>
                        </a:rPr>
                        <a:t>Comments</a:t>
                      </a:r>
                    </a:p>
                  </a:txBody>
                  <a:tcPr anchor="ctr"/>
                </a:tc>
                <a:extLst>
                  <a:ext uri="{0D108BD9-81ED-4DB2-BD59-A6C34878D82A}">
                    <a16:rowId xmlns:a16="http://schemas.microsoft.com/office/drawing/2014/main" val="3946966624"/>
                  </a:ext>
                </a:extLst>
              </a:tr>
              <a:tr h="558800">
                <a:tc>
                  <a:txBody>
                    <a:bodyPr/>
                    <a:lstStyle/>
                    <a:p>
                      <a:pPr algn="l"/>
                      <a:r>
                        <a:rPr lang="zh-TW" altLang="en-US" sz="1500" b="0">
                          <a:solidFill>
                            <a:srgbClr val="000000"/>
                          </a:solidFill>
                          <a:latin typeface="Calibri"/>
                          <a:cs typeface="Calibri"/>
                        </a:rPr>
                        <a:t>Topology</a:t>
                      </a:r>
                    </a:p>
                  </a:txBody>
                  <a:tcPr anchor="ctr"/>
                </a:tc>
                <a:tc>
                  <a:txBody>
                    <a:bodyPr/>
                    <a:lstStyle/>
                    <a:p>
                      <a:pPr algn="l"/>
                      <a:r>
                        <a:rPr lang="zh-TW" altLang="en-US" sz="1500" b="0">
                          <a:solidFill>
                            <a:srgbClr val="000000"/>
                          </a:solidFill>
                          <a:latin typeface="Calibri"/>
                          <a:cs typeface="Calibri"/>
                        </a:rPr>
                        <a:t>Mesh X and Y dimension</a:t>
                      </a:r>
                    </a:p>
                  </a:txBody>
                  <a:tcPr anchor="ctr"/>
                </a:tc>
                <a:tc>
                  <a:txBody>
                    <a:bodyPr/>
                    <a:lstStyle/>
                    <a:p>
                      <a:pPr algn="l"/>
                      <a:r>
                        <a:rPr lang="zh-TW" altLang="en-US" sz="1500" b="0">
                          <a:solidFill>
                            <a:srgbClr val="000000"/>
                          </a:solidFill>
                          <a:latin typeface="Calibri"/>
                          <a:cs typeface="Calibri"/>
                        </a:rPr>
                        <a:t>2-16 (4)</a:t>
                      </a:r>
                    </a:p>
                  </a:txBody>
                  <a:tcPr anchor="ctr"/>
                </a:tc>
                <a:tc>
                  <a:txBody>
                    <a:bodyPr/>
                    <a:lstStyle/>
                    <a:p>
                      <a:pPr algn="l"/>
                      <a:r>
                        <a:rPr lang="zh-TW" altLang="en-US" sz="1500" b="0">
                          <a:solidFill>
                            <a:srgbClr val="000000"/>
                          </a:solidFill>
                          <a:latin typeface="Calibri"/>
                          <a:cs typeface="Calibri"/>
                        </a:rPr>
                        <a:t>Square meshes only. 256 nodes maximum, set by the 8-bit node ID</a:t>
                      </a:r>
                    </a:p>
                  </a:txBody>
                  <a:tcPr anchor="ctr"/>
                </a:tc>
                <a:extLst>
                  <a:ext uri="{0D108BD9-81ED-4DB2-BD59-A6C34878D82A}">
                    <a16:rowId xmlns:a16="http://schemas.microsoft.com/office/drawing/2014/main" val="2224045661"/>
                  </a:ext>
                </a:extLst>
              </a:tr>
              <a:tr h="558800">
                <a:tc>
                  <a:txBody>
                    <a:bodyPr/>
                    <a:lstStyle/>
                    <a:p>
                      <a:pPr algn="l"/>
                      <a:r>
                        <a:rPr lang="zh-TW" altLang="en-US" sz="1500" b="0">
                          <a:solidFill>
                            <a:srgbClr val="000000"/>
                          </a:solidFill>
                          <a:latin typeface="Calibri"/>
                          <a:cs typeface="Calibri"/>
                        </a:rPr>
                        <a:t>AXI interface</a:t>
                      </a:r>
                    </a:p>
                  </a:txBody>
                  <a:tcPr anchor="ctr"/>
                </a:tc>
                <a:tc>
                  <a:txBody>
                    <a:bodyPr/>
                    <a:lstStyle/>
                    <a:p>
                      <a:pPr algn="l"/>
                      <a:r>
                        <a:rPr lang="zh-TW" altLang="en-US" sz="1500" b="0">
                          <a:solidFill>
                            <a:srgbClr val="000000"/>
                          </a:solidFill>
                          <a:latin typeface="Calibri"/>
                          <a:cs typeface="Calibri"/>
                        </a:rPr>
                        <a:t>Endpoint interfaces</a:t>
                      </a:r>
                    </a:p>
                  </a:txBody>
                  <a:tcPr anchor="ctr"/>
                </a:tc>
                <a:tc>
                  <a:txBody>
                    <a:bodyPr/>
                    <a:lstStyle/>
                    <a:p>
                      <a:pPr algn="l"/>
                      <a:r>
                        <a:rPr lang="zh-TW" altLang="en-US" sz="1500" b="0">
                          <a:solidFill>
                            <a:srgbClr val="000000"/>
                          </a:solidFill>
                          <a:latin typeface="Calibri"/>
                          <a:cs typeface="Calibri"/>
                        </a:rPr>
                        <a:t>1, 2 (1)</a:t>
                      </a:r>
                    </a:p>
                  </a:txBody>
                  <a:tcPr anchor="ctr"/>
                </a:tc>
                <a:tc>
                  <a:txBody>
                    <a:bodyPr/>
                    <a:lstStyle/>
                    <a:p>
                      <a:pPr algn="l"/>
                      <a:r>
                        <a:rPr lang="zh-TW" altLang="en-US" sz="1500" b="0">
                          <a:solidFill>
                            <a:srgbClr val="000000"/>
                          </a:solidFill>
                          <a:latin typeface="Calibri"/>
                          <a:cs typeface="Calibri"/>
                        </a:rPr>
                        <a:t>One interface carries both classes, with the class selected by the SAM address space. Two carry one class each</a:t>
                      </a:r>
                    </a:p>
                  </a:txBody>
                  <a:tcPr anchor="ctr"/>
                </a:tc>
                <a:extLst>
                  <a:ext uri="{0D108BD9-81ED-4DB2-BD59-A6C34878D82A}">
                    <a16:rowId xmlns:a16="http://schemas.microsoft.com/office/drawing/2014/main" val="225810526"/>
                  </a:ext>
                </a:extLst>
              </a:tr>
              <a:tr h="558800">
                <a:tc>
                  <a:txBody>
                    <a:bodyPr/>
                    <a:lstStyle/>
                    <a:p>
                      <a:pPr algn="l"/>
                      <a:r>
                        <a:rPr lang="zh-TW" altLang="en-US" sz="1500" b="0">
                          <a:solidFill>
                            <a:srgbClr val="000000"/>
                          </a:solidFill>
                          <a:latin typeface="Calibri"/>
                          <a:cs typeface="Calibri"/>
                        </a:rPr>
                        <a:t>Flow control</a:t>
                      </a:r>
                    </a:p>
                  </a:txBody>
                  <a:tcPr anchor="ctr"/>
                </a:tc>
                <a:tc>
                  <a:txBody>
                    <a:bodyPr/>
                    <a:lstStyle/>
                    <a:p>
                      <a:pPr algn="l"/>
                      <a:r>
                        <a:rPr lang="zh-TW" altLang="en-US" sz="1500" b="0">
                          <a:solidFill>
                            <a:srgbClr val="000000"/>
                          </a:solidFill>
                          <a:latin typeface="Calibri"/>
                          <a:cs typeface="Calibri"/>
                        </a:rPr>
                        <a:t>NUM_VC, virtual channels per network channel</a:t>
                      </a:r>
                    </a:p>
                  </a:txBody>
                  <a:tcPr anchor="ctr"/>
                </a:tc>
                <a:tc>
                  <a:txBody>
                    <a:bodyPr/>
                    <a:lstStyle/>
                    <a:p>
                      <a:pPr algn="l"/>
                      <a:r>
                        <a:rPr lang="zh-TW" altLang="en-US" sz="1500" b="0">
                          <a:solidFill>
                            <a:srgbClr val="000000"/>
                          </a:solidFill>
                          <a:latin typeface="Calibri"/>
                          <a:cs typeface="Calibri"/>
                        </a:rPr>
                        <a:t>1-8 (1)</a:t>
                      </a:r>
                    </a:p>
                  </a:txBody>
                  <a:tcPr anchor="ctr"/>
                </a:tc>
                <a:tc>
                  <a:txBody>
                    <a:bodyPr/>
                    <a:lstStyle/>
                    <a:p>
                      <a:pPr algn="l"/>
                      <a:r>
                        <a:rPr lang="zh-TW" altLang="en-US" sz="1500" b="0">
                          <a:solidFill>
                            <a:srgbClr val="000000"/>
                          </a:solidFill>
                          <a:latin typeface="Calibri"/>
                          <a:cs typeface="Calibri"/>
                        </a:rPr>
                        <a:t>Sets the NoC link interface credit signal width</a:t>
                      </a:r>
                    </a:p>
                  </a:txBody>
                  <a:tcPr anchor="ctr"/>
                </a:tc>
                <a:extLst>
                  <a:ext uri="{0D108BD9-81ED-4DB2-BD59-A6C34878D82A}">
                    <a16:rowId xmlns:a16="http://schemas.microsoft.com/office/drawing/2014/main" val="71648565"/>
                  </a:ext>
                </a:extLst>
              </a:tr>
              <a:tr h="558800">
                <a:tc>
                  <a:txBody>
                    <a:bodyPr/>
                    <a:lstStyle/>
                    <a:p>
                      <a:pPr algn="l"/>
                      <a:r>
                        <a:rPr lang="zh-TW" altLang="en-US" sz="1500" b="0">
                          <a:solidFill>
                            <a:srgbClr val="000000"/>
                          </a:solidFill>
                          <a:latin typeface="Calibri"/>
                          <a:cs typeface="Calibri"/>
                        </a:rPr>
                        <a:t>Ordering</a:t>
                      </a:r>
                    </a:p>
                  </a:txBody>
                  <a:tcPr anchor="ctr"/>
                </a:tc>
                <a:tc>
                  <a:txBody>
                    <a:bodyPr/>
                    <a:lstStyle/>
                    <a:p>
                      <a:pPr algn="l"/>
                      <a:r>
                        <a:rPr lang="zh-TW" altLang="en-US" sz="1500" b="0" dirty="0">
                          <a:solidFill>
                            <a:srgbClr val="000000"/>
                          </a:solidFill>
                          <a:latin typeface="Calibri"/>
                          <a:cs typeface="Calibri"/>
                        </a:rPr>
                        <a:t>Outstanding </a:t>
                      </a:r>
                      <a:r>
                        <a:rPr lang="en-US" altLang="zh-TW" sz="1500" b="0" dirty="0">
                          <a:solidFill>
                            <a:srgbClr val="000000"/>
                          </a:solidFill>
                          <a:latin typeface="Calibri"/>
                          <a:cs typeface="Calibri"/>
                        </a:rPr>
                        <a:t>depth</a:t>
                      </a:r>
                      <a:endParaRPr lang="zh-TW" altLang="en-US" sz="1500" b="0" dirty="0">
                        <a:solidFill>
                          <a:srgbClr val="000000"/>
                        </a:solidFill>
                        <a:latin typeface="Calibri"/>
                        <a:cs typeface="Calibri"/>
                      </a:endParaRPr>
                    </a:p>
                  </a:txBody>
                  <a:tcPr anchor="ctr"/>
                </a:tc>
                <a:tc>
                  <a:txBody>
                    <a:bodyPr/>
                    <a:lstStyle/>
                    <a:p>
                      <a:pPr algn="l"/>
                      <a:r>
                        <a:rPr lang="zh-TW" altLang="en-US" sz="1500" b="0">
                          <a:solidFill>
                            <a:srgbClr val="000000"/>
                          </a:solidFill>
                          <a:latin typeface="Calibri"/>
                          <a:cs typeface="Calibri"/>
                        </a:rPr>
                        <a:t>1-32 (32)</a:t>
                      </a:r>
                    </a:p>
                  </a:txBody>
                  <a:tcPr anchor="ctr"/>
                </a:tc>
                <a:tc>
                  <a:txBody>
                    <a:bodyPr/>
                    <a:lstStyle/>
                    <a:p>
                      <a:pPr algn="l"/>
                      <a:r>
                        <a:rPr lang="zh-TW" altLang="en-US" sz="1500" b="0">
                          <a:solidFill>
                            <a:srgbClr val="000000"/>
                          </a:solidFill>
                          <a:latin typeface="Calibri"/>
                          <a:cs typeface="Calibri"/>
                        </a:rPr>
                        <a:t>1 when same-ID response reordering is disabled. A master holds at most 256 in total, one per ordering_tag, see section 6</a:t>
                      </a:r>
                    </a:p>
                  </a:txBody>
                  <a:tcPr anchor="ctr"/>
                </a:tc>
                <a:extLst>
                  <a:ext uri="{0D108BD9-81ED-4DB2-BD59-A6C34878D82A}">
                    <a16:rowId xmlns:a16="http://schemas.microsoft.com/office/drawing/2014/main" val="3511638942"/>
                  </a:ext>
                </a:extLst>
              </a:tr>
              <a:tr h="558800">
                <a:tc>
                  <a:txBody>
                    <a:bodyPr/>
                    <a:lstStyle/>
                    <a:p>
                      <a:pPr algn="l"/>
                      <a:r>
                        <a:rPr lang="zh-TW" altLang="en-US" sz="1500" b="0">
                          <a:solidFill>
                            <a:srgbClr val="000000"/>
                          </a:solidFill>
                          <a:latin typeface="Calibri"/>
                          <a:cs typeface="Calibri"/>
                        </a:rPr>
                        <a:t>Ordering</a:t>
                      </a:r>
                    </a:p>
                  </a:txBody>
                  <a:tcPr anchor="ctr"/>
                </a:tc>
                <a:tc>
                  <a:txBody>
                    <a:bodyPr/>
                    <a:lstStyle/>
                    <a:p>
                      <a:pPr algn="l"/>
                      <a:r>
                        <a:rPr lang="en-US" altLang="zh-TW" sz="1500" b="0" dirty="0">
                          <a:solidFill>
                            <a:srgbClr val="000000"/>
                          </a:solidFill>
                          <a:latin typeface="Calibri"/>
                          <a:cs typeface="Calibri"/>
                        </a:rPr>
                        <a:t>Re-order buffer</a:t>
                      </a:r>
                      <a:endParaRPr lang="zh-TW" altLang="en-US" sz="1500" b="0" dirty="0">
                        <a:solidFill>
                          <a:srgbClr val="000000"/>
                        </a:solidFill>
                        <a:latin typeface="Calibri"/>
                        <a:cs typeface="Calibri"/>
                      </a:endParaRPr>
                    </a:p>
                  </a:txBody>
                  <a:tcPr anchor="ctr"/>
                </a:tc>
                <a:tc>
                  <a:txBody>
                    <a:bodyPr/>
                    <a:lstStyle/>
                    <a:p>
                      <a:pPr algn="l"/>
                      <a:r>
                        <a:rPr lang="en-US" altLang="zh-TW" sz="1500" b="0" dirty="0">
                          <a:solidFill>
                            <a:srgbClr val="000000"/>
                          </a:solidFill>
                          <a:latin typeface="Calibri"/>
                          <a:cs typeface="Calibri"/>
                        </a:rPr>
                        <a:t>0,1(1)</a:t>
                      </a:r>
                      <a:endParaRPr lang="zh-TW" altLang="en-US" sz="1500" b="0" dirty="0">
                        <a:solidFill>
                          <a:srgbClr val="000000"/>
                        </a:solidFill>
                        <a:latin typeface="Calibri"/>
                        <a:cs typeface="Calibri"/>
                      </a:endParaRPr>
                    </a:p>
                  </a:txBody>
                  <a:tcPr anchor="ctr"/>
                </a:tc>
                <a:tc>
                  <a:txBody>
                    <a:bodyPr/>
                    <a:lstStyle/>
                    <a:p>
                      <a:pPr algn="l"/>
                      <a:r>
                        <a:rPr lang="zh-TW" altLang="en-US" sz="1500" b="0">
                          <a:solidFill>
                            <a:srgbClr val="000000"/>
                          </a:solidFill>
                          <a:latin typeface="Calibri"/>
                          <a:cs typeface="Calibri"/>
                        </a:rPr>
                        <a:t>The ordering requirement holds in either setting</a:t>
                      </a:r>
                    </a:p>
                  </a:txBody>
                  <a:tcPr anchor="ctr"/>
                </a:tc>
                <a:extLst>
                  <a:ext uri="{0D108BD9-81ED-4DB2-BD59-A6C34878D82A}">
                    <a16:rowId xmlns:a16="http://schemas.microsoft.com/office/drawing/2014/main" val="3463004212"/>
                  </a:ext>
                </a:extLst>
              </a:tr>
              <a:tr h="558800">
                <a:tc>
                  <a:txBody>
                    <a:bodyPr/>
                    <a:lstStyle/>
                    <a:p>
                      <a:pPr algn="l"/>
                      <a:r>
                        <a:rPr lang="zh-TW" altLang="en-US" sz="1500" b="0">
                          <a:solidFill>
                            <a:srgbClr val="000000"/>
                          </a:solidFill>
                          <a:latin typeface="Calibri"/>
                          <a:cs typeface="Calibri"/>
                        </a:rPr>
                        <a:t>Address map</a:t>
                      </a:r>
                    </a:p>
                  </a:txBody>
                  <a:tcPr anchor="ctr"/>
                </a:tc>
                <a:tc>
                  <a:txBody>
                    <a:bodyPr/>
                    <a:lstStyle/>
                    <a:p>
                      <a:pPr algn="l"/>
                      <a:r>
                        <a:rPr lang="zh-TW" altLang="en-US" sz="1500" b="0">
                          <a:solidFill>
                            <a:srgbClr val="000000"/>
                          </a:solidFill>
                          <a:latin typeface="Calibri"/>
                          <a:cs typeface="Calibri"/>
                        </a:rPr>
                        <a:t>SAM address spaces</a:t>
                      </a:r>
                    </a:p>
                  </a:txBody>
                  <a:tcPr anchor="ctr"/>
                </a:tc>
                <a:tc>
                  <a:txBody>
                    <a:bodyPr/>
                    <a:lstStyle/>
                    <a:p>
                      <a:pPr algn="l"/>
                      <a:r>
                        <a:rPr lang="zh-TW" altLang="en-US" sz="1500" b="0" dirty="0">
                          <a:solidFill>
                            <a:srgbClr val="000000"/>
                          </a:solidFill>
                          <a:latin typeface="Calibri"/>
                          <a:cs typeface="Calibri"/>
                        </a:rPr>
                        <a:t>config, memory</a:t>
                      </a:r>
                    </a:p>
                  </a:txBody>
                  <a:tcPr anchor="ctr"/>
                </a:tc>
                <a:tc>
                  <a:txBody>
                    <a:bodyPr/>
                    <a:lstStyle/>
                    <a:p>
                      <a:pPr algn="l"/>
                      <a:r>
                        <a:rPr lang="zh-TW" altLang="en-US" sz="1500" b="0" dirty="0">
                          <a:solidFill>
                            <a:srgbClr val="000000"/>
                          </a:solidFill>
                          <a:latin typeface="Calibri"/>
                          <a:cs typeface="Calibri"/>
                        </a:rPr>
                        <a:t>Config space selects the narrow class, memory space the data class. Uniform across nodes, loaded at runtime</a:t>
                      </a:r>
                    </a:p>
                  </a:txBody>
                  <a:tcPr anchor="ctr"/>
                </a:tc>
                <a:extLst>
                  <a:ext uri="{0D108BD9-81ED-4DB2-BD59-A6C34878D82A}">
                    <a16:rowId xmlns:a16="http://schemas.microsoft.com/office/drawing/2014/main" val="2215251249"/>
                  </a:ext>
                </a:extLst>
              </a:tr>
            </a:tbl>
          </a:graphicData>
        </a:graphic>
      </p:graphicFrame>
    </p:spTree>
    <p:extLst>
      <p:ext uri="{BB962C8B-B14F-4D97-AF65-F5344CB8AC3E}">
        <p14:creationId xmlns:p14="http://schemas.microsoft.com/office/powerpoint/2010/main" val="18738492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4A71A53-B994-2844-B0A6-7B1860B8D935}"/>
              </a:ext>
            </a:extLst>
          </p:cNvPr>
          <p:cNvSpPr>
            <a:spLocks noGrp="1"/>
          </p:cNvSpPr>
          <p:nvPr>
            <p:ph type="title"/>
          </p:nvPr>
        </p:nvSpPr>
        <p:spPr>
          <a:xfrm>
            <a:off x="533400" y="228600"/>
            <a:ext cx="11176000" cy="584200"/>
          </a:xfrm>
        </p:spPr>
        <p:txBody>
          <a:bodyPr/>
          <a:lstStyle/>
          <a:p>
            <a:pPr marL="0" indent="0" algn="l">
              <a:buNone/>
            </a:pPr>
            <a:r>
              <a:rPr lang="en-US" altLang="zh-TW" sz="3200" b="1" dirty="0">
                <a:solidFill>
                  <a:srgbClr val="000000"/>
                </a:solidFill>
                <a:latin typeface="Calibri"/>
                <a:ea typeface="微軟正黑體"/>
              </a:rPr>
              <a:t>Metrics</a:t>
            </a:r>
          </a:p>
        </p:txBody>
      </p:sp>
      <p:graphicFrame>
        <p:nvGraphicFramePr>
          <p:cNvPr id="8" name="表格 7">
            <a:extLst>
              <a:ext uri="{FF2B5EF4-FFF2-40B4-BE49-F238E27FC236}">
                <a16:creationId xmlns:a16="http://schemas.microsoft.com/office/drawing/2014/main" id="{309DBCB9-0504-4B67-A762-691317973313}"/>
              </a:ext>
            </a:extLst>
          </p:cNvPr>
          <p:cNvGraphicFramePr>
            <a:graphicFrameLocks noGrp="1"/>
          </p:cNvGraphicFramePr>
          <p:nvPr>
            <p:extLst>
              <p:ext uri="{D42A27DB-BD31-4B8C-83A1-F6EECF244321}">
                <p14:modId xmlns:p14="http://schemas.microsoft.com/office/powerpoint/2010/main" val="3939120841"/>
              </p:ext>
            </p:extLst>
          </p:nvPr>
        </p:nvGraphicFramePr>
        <p:xfrm>
          <a:off x="2032000" y="1507066"/>
          <a:ext cx="7907867" cy="2521940"/>
        </p:xfrm>
        <a:graphic>
          <a:graphicData uri="http://schemas.openxmlformats.org/drawingml/2006/table">
            <a:tbl>
              <a:tblPr firstRow="1" bandRow="1">
                <a:tableStyleId>{5C22544A-7EE6-4342-B048-85BDC9FD1C3A}</a:tableStyleId>
              </a:tblPr>
              <a:tblGrid>
                <a:gridCol w="2650067">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tblGrid>
              <a:tr h="488245">
                <a:tc>
                  <a:txBody>
                    <a:bodyPr/>
                    <a:lstStyle/>
                    <a:p>
                      <a:pPr algn="l"/>
                      <a:r>
                        <a:rPr lang="en-US" altLang="zh-TW" sz="1700" b="1">
                          <a:solidFill>
                            <a:srgbClr val="FFFFFF"/>
                          </a:solidFill>
                          <a:latin typeface="Calibri"/>
                          <a:cs typeface="Calibri"/>
                        </a:rPr>
                        <a:t>Metric</a:t>
                      </a:r>
                    </a:p>
                  </a:txBody>
                  <a:tcPr marT="25400" marB="25400" anchor="ctr"/>
                </a:tc>
                <a:tc>
                  <a:txBody>
                    <a:bodyPr/>
                    <a:lstStyle/>
                    <a:p>
                      <a:pPr algn="l"/>
                      <a:r>
                        <a:rPr lang="en-US" altLang="zh-TW" sz="1700" b="1">
                          <a:solidFill>
                            <a:srgbClr val="FFFFFF"/>
                          </a:solidFill>
                          <a:latin typeface="Calibri"/>
                          <a:cs typeface="Calibri"/>
                        </a:rPr>
                        <a:t>Definition</a:t>
                      </a:r>
                    </a:p>
                  </a:txBody>
                  <a:tcPr marT="25400" marB="25400" anchor="ctr"/>
                </a:tc>
                <a:extLst>
                  <a:ext uri="{0D108BD9-81ED-4DB2-BD59-A6C34878D82A}">
                    <a16:rowId xmlns:a16="http://schemas.microsoft.com/office/drawing/2014/main" val="10000"/>
                  </a:ext>
                </a:extLst>
              </a:tr>
              <a:tr h="488245">
                <a:tc>
                  <a:txBody>
                    <a:bodyPr/>
                    <a:lstStyle/>
                    <a:p>
                      <a:pPr algn="l"/>
                      <a:r>
                        <a:rPr lang="en-US" altLang="zh-TW" sz="1700">
                          <a:solidFill>
                            <a:srgbClr val="000000"/>
                          </a:solidFill>
                          <a:latin typeface="Calibri"/>
                          <a:cs typeface="Calibri"/>
                        </a:rPr>
                        <a:t>Payload bandwidth</a:t>
                      </a:r>
                    </a:p>
                  </a:txBody>
                  <a:tcPr marT="25400" marB="25400" anchor="ctr"/>
                </a:tc>
                <a:tc>
                  <a:txBody>
                    <a:bodyPr/>
                    <a:lstStyle/>
                    <a:p>
                      <a:pPr algn="l"/>
                      <a:r>
                        <a:rPr lang="en-US" altLang="zh-TW" sz="1700" dirty="0">
                          <a:solidFill>
                            <a:srgbClr val="000000"/>
                          </a:solidFill>
                          <a:latin typeface="Calibri"/>
                          <a:cs typeface="Calibri"/>
                        </a:rPr>
                        <a:t>AXI payload the same link carries, data width x clock / 8</a:t>
                      </a:r>
                    </a:p>
                  </a:txBody>
                  <a:tcPr marT="25400" marB="25400" anchor="ctr"/>
                </a:tc>
                <a:extLst>
                  <a:ext uri="{0D108BD9-81ED-4DB2-BD59-A6C34878D82A}">
                    <a16:rowId xmlns:a16="http://schemas.microsoft.com/office/drawing/2014/main" val="10002"/>
                  </a:ext>
                </a:extLst>
              </a:tr>
              <a:tr h="488245">
                <a:tc>
                  <a:txBody>
                    <a:bodyPr/>
                    <a:lstStyle/>
                    <a:p>
                      <a:pPr algn="l"/>
                      <a:r>
                        <a:rPr lang="en-US" altLang="zh-TW" sz="1700">
                          <a:solidFill>
                            <a:srgbClr val="000000"/>
                          </a:solidFill>
                          <a:latin typeface="Calibri"/>
                          <a:cs typeface="Calibri"/>
                        </a:rPr>
                        <a:t>Payload efficiency</a:t>
                      </a:r>
                    </a:p>
                  </a:txBody>
                  <a:tcPr marT="25400" marB="25400" anchor="ctr"/>
                </a:tc>
                <a:tc>
                  <a:txBody>
                    <a:bodyPr/>
                    <a:lstStyle/>
                    <a:p>
                      <a:pPr algn="l"/>
                      <a:r>
                        <a:rPr lang="en-US" altLang="zh-TW" sz="1700">
                          <a:solidFill>
                            <a:srgbClr val="000000"/>
                          </a:solidFill>
                          <a:latin typeface="Calibri"/>
                          <a:cs typeface="Calibri"/>
                        </a:rPr>
                        <a:t>Data beats over flits carried</a:t>
                      </a:r>
                    </a:p>
                  </a:txBody>
                  <a:tcPr marT="25400" marB="25400" anchor="ctr"/>
                </a:tc>
                <a:extLst>
                  <a:ext uri="{0D108BD9-81ED-4DB2-BD59-A6C34878D82A}">
                    <a16:rowId xmlns:a16="http://schemas.microsoft.com/office/drawing/2014/main" val="10003"/>
                  </a:ext>
                </a:extLst>
              </a:tr>
              <a:tr h="488245">
                <a:tc>
                  <a:txBody>
                    <a:bodyPr/>
                    <a:lstStyle/>
                    <a:p>
                      <a:pPr algn="l"/>
                      <a:r>
                        <a:rPr lang="en-US" altLang="zh-TW" sz="1700" dirty="0">
                          <a:solidFill>
                            <a:srgbClr val="000000"/>
                          </a:solidFill>
                          <a:latin typeface="Calibri"/>
                          <a:cs typeface="Calibri"/>
                        </a:rPr>
                        <a:t>Zero-load latency</a:t>
                      </a:r>
                    </a:p>
                  </a:txBody>
                  <a:tcPr marT="25400" marB="25400" anchor="ctr"/>
                </a:tc>
                <a:tc>
                  <a:txBody>
                    <a:bodyPr/>
                    <a:lstStyle/>
                    <a:p>
                      <a:pPr algn="l"/>
                      <a:r>
                        <a:rPr lang="en-US" altLang="zh-TW" sz="1700" dirty="0">
                          <a:solidFill>
                            <a:srgbClr val="000000"/>
                          </a:solidFill>
                          <a:latin typeface="Calibri"/>
                          <a:cs typeface="Calibri"/>
                        </a:rPr>
                        <a:t>Packet latency with no queueing and no contention</a:t>
                      </a:r>
                    </a:p>
                  </a:txBody>
                  <a:tcPr marT="25400" marB="25400" anchor="ctr"/>
                </a:tc>
                <a:extLst>
                  <a:ext uri="{0D108BD9-81ED-4DB2-BD59-A6C34878D82A}">
                    <a16:rowId xmlns:a16="http://schemas.microsoft.com/office/drawing/2014/main" val="10004"/>
                  </a:ext>
                </a:extLst>
              </a:tr>
              <a:tr h="488245">
                <a:tc>
                  <a:txBody>
                    <a:bodyPr/>
                    <a:lstStyle/>
                    <a:p>
                      <a:pPr algn="l"/>
                      <a:r>
                        <a:rPr lang="en-US" altLang="zh-TW" sz="1700">
                          <a:solidFill>
                            <a:srgbClr val="000000"/>
                          </a:solidFill>
                          <a:latin typeface="Calibri"/>
                          <a:cs typeface="Calibri"/>
                        </a:rPr>
                        <a:t>Sustained bandwidth</a:t>
                      </a:r>
                    </a:p>
                  </a:txBody>
                  <a:tcPr marT="25400" marB="25400" anchor="ctr"/>
                </a:tc>
                <a:tc>
                  <a:txBody>
                    <a:bodyPr/>
                    <a:lstStyle/>
                    <a:p>
                      <a:pPr algn="l"/>
                      <a:r>
                        <a:rPr lang="en-US" altLang="zh-TW" sz="1700" dirty="0">
                          <a:solidFill>
                            <a:srgbClr val="000000"/>
                          </a:solidFill>
                          <a:latin typeface="Calibri"/>
                          <a:cs typeface="Calibri"/>
                        </a:rPr>
                        <a:t>Payload bandwidth a channel delivers over a continuous stream</a:t>
                      </a:r>
                    </a:p>
                  </a:txBody>
                  <a:tcPr marT="25400" marB="25400" anchor="ctr"/>
                </a:tc>
                <a:extLst>
                  <a:ext uri="{0D108BD9-81ED-4DB2-BD59-A6C34878D82A}">
                    <a16:rowId xmlns:a16="http://schemas.microsoft.com/office/drawing/2014/main" val="10005"/>
                  </a:ext>
                </a:extLst>
              </a:tr>
            </a:tbl>
          </a:graphicData>
        </a:graphic>
      </p:graphicFrame>
      <p:sp>
        <p:nvSpPr>
          <p:cNvPr id="9" name="Notes">
            <a:extLst>
              <a:ext uri="{FF2B5EF4-FFF2-40B4-BE49-F238E27FC236}">
                <a16:creationId xmlns:a16="http://schemas.microsoft.com/office/drawing/2014/main" id="{12AEFA2D-E294-4C01-AFDD-C2619DEDE234}"/>
              </a:ext>
            </a:extLst>
          </p:cNvPr>
          <p:cNvSpPr txBox="1"/>
          <p:nvPr/>
        </p:nvSpPr>
        <p:spPr>
          <a:xfrm>
            <a:off x="508000" y="5080000"/>
            <a:ext cx="11226800" cy="762000"/>
          </a:xfrm>
          <a:prstGeom prst="rect">
            <a:avLst/>
          </a:prstGeom>
          <a:noFill/>
        </p:spPr>
        <p:txBody>
          <a:bodyPr vertOverflow="overflow" vert="horz" wrap="square" rtlCol="0" anchor="t">
            <a:noAutofit/>
          </a:bodyPr>
          <a:lstStyle/>
          <a:p>
            <a:pPr marL="0" indent="0" algn="l">
              <a:buNone/>
            </a:pPr>
            <a:r>
              <a:rPr lang="en-US" altLang="zh-TW" sz="2000" dirty="0">
                <a:solidFill>
                  <a:srgbClr val="000000"/>
                </a:solidFill>
                <a:latin typeface="Calibri"/>
                <a:ea typeface="微軟正黑體"/>
              </a:rPr>
              <a:t>All figures assume AXI and NoC on one 1 GHz clock, the 512 b data class, and 4 KB bursts.</a:t>
            </a:r>
          </a:p>
        </p:txBody>
      </p:sp>
    </p:spTree>
    <p:extLst>
      <p:ext uri="{BB962C8B-B14F-4D97-AF65-F5344CB8AC3E}">
        <p14:creationId xmlns:p14="http://schemas.microsoft.com/office/powerpoint/2010/main" val="5484782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標題 1">
            <a:extLst>
              <a:ext uri="{FF2B5EF4-FFF2-40B4-BE49-F238E27FC236}">
                <a16:creationId xmlns:a16="http://schemas.microsoft.com/office/drawing/2014/main" id="{ECEF767B-897C-57E0-5919-60A4C1973E8C}"/>
              </a:ext>
            </a:extLst>
          </p:cNvPr>
          <p:cNvSpPr>
            <a:spLocks noGrp="1"/>
          </p:cNvSpPr>
          <p:nvPr>
            <p:ph type="title"/>
          </p:nvPr>
        </p:nvSpPr>
        <p:spPr>
          <a:xfrm>
            <a:off x="533400" y="228600"/>
            <a:ext cx="11176000" cy="584200"/>
          </a:xfrm>
        </p:spPr>
        <p:txBody>
          <a:bodyPr/>
          <a:lstStyle/>
          <a:p>
            <a:pPr marL="0" indent="0" algn="l">
              <a:buNone/>
            </a:pPr>
            <a:r>
              <a:rPr lang="en-US" altLang="zh-TW" sz="3200">
                <a:solidFill>
                  <a:srgbClr val="000000"/>
                </a:solidFill>
                <a:latin typeface="Calibri"/>
                <a:ea typeface="Calibri"/>
                <a:cs typeface="Calibri"/>
              </a:rPr>
              <a:t>Payload bandwidth</a:t>
            </a:r>
            <a:endParaRPr lang="en-US" altLang="zh-TW" sz="3200" dirty="0">
              <a:solidFill>
                <a:srgbClr val="000000"/>
              </a:solidFill>
              <a:latin typeface="Calibri"/>
              <a:ea typeface="Calibri"/>
              <a:cs typeface="Calibri"/>
            </a:endParaRPr>
          </a:p>
        </p:txBody>
      </p:sp>
      <p:sp>
        <p:nvSpPr>
          <p:cNvPr id="18" name="文字方塊 17">
            <a:extLst>
              <a:ext uri="{FF2B5EF4-FFF2-40B4-BE49-F238E27FC236}">
                <a16:creationId xmlns:a16="http://schemas.microsoft.com/office/drawing/2014/main" id="{0D1FF44C-0688-4476-AE4C-826DA0469304}"/>
              </a:ext>
            </a:extLst>
          </p:cNvPr>
          <p:cNvSpPr txBox="1"/>
          <p:nvPr/>
        </p:nvSpPr>
        <p:spPr>
          <a:xfrm>
            <a:off x="609600" y="1117600"/>
            <a:ext cx="10972800" cy="660400"/>
          </a:xfrm>
          <a:prstGeom prst="rect">
            <a:avLst/>
          </a:prstGeom>
          <a:noFill/>
        </p:spPr>
        <p:txBody>
          <a:bodyPr vertOverflow="overflow" vert="horz" wrap="square" rtlCol="0" anchor="t">
            <a:spAutoFit/>
          </a:bodyPr>
          <a:lstStyle/>
          <a:p>
            <a:pPr algn="l"/>
            <a:r>
              <a:rPr lang="en-US" altLang="zh-TW">
                <a:solidFill>
                  <a:srgbClr val="000000"/>
                </a:solidFill>
                <a:latin typeface="Calibri"/>
                <a:ea typeface="Calibri"/>
                <a:cs typeface="Calibri"/>
              </a:rPr>
              <a:t>A physical network carries one flit per cycle per direction and a flit holds at most one beat of AXI payload.</a:t>
            </a:r>
            <a:endParaRPr lang="zh-TW" altLang="en-US">
              <a:solidFill>
                <a:srgbClr val="000000"/>
              </a:solidFill>
              <a:latin typeface="Calibri"/>
              <a:cs typeface="Calibri"/>
            </a:endParaRPr>
          </a:p>
        </p:txBody>
      </p:sp>
      <p:sp>
        <p:nvSpPr>
          <p:cNvPr id="19" name="Body">
            <a:extLst>
              <a:ext uri="{FF2B5EF4-FFF2-40B4-BE49-F238E27FC236}">
                <a16:creationId xmlns:a16="http://schemas.microsoft.com/office/drawing/2014/main" id="{EC6DFC54-C28C-4520-A6DB-763FE2AD8A3F}"/>
              </a:ext>
            </a:extLst>
          </p:cNvPr>
          <p:cNvSpPr txBox="1"/>
          <p:nvPr/>
        </p:nvSpPr>
        <p:spPr>
          <a:xfrm>
            <a:off x="609600" y="1879600"/>
            <a:ext cx="6582655" cy="2315882"/>
          </a:xfrm>
          <a:prstGeom prst="rect">
            <a:avLst/>
          </a:prstGeom>
          <a:noFill/>
        </p:spPr>
        <p:txBody>
          <a:bodyPr vertOverflow="overflow" vert="horz" wrap="square" rtlCol="0" anchor="t">
            <a:noAutofit/>
          </a:bodyPr>
          <a:lstStyle/>
          <a:p>
            <a:pPr marL="342900" indent="-342900">
              <a:spcBef>
                <a:spcPts val="500"/>
              </a:spcBef>
              <a:buFont typeface="Arial" panose="020B0604020202020204" pitchFamily="34" charset="0"/>
              <a:buChar char="•"/>
            </a:pPr>
            <a:r>
              <a:rPr lang="en-US" altLang="zh-TW" sz="2000" b="1" dirty="0">
                <a:solidFill>
                  <a:srgbClr val="000000"/>
                </a:solidFill>
                <a:latin typeface="Calibri" panose="020F0502020204030204" pitchFamily="34" charset="0"/>
                <a:ea typeface="微軟正黑體"/>
                <a:cs typeface="Calibri" panose="020F0502020204030204" pitchFamily="34" charset="0"/>
              </a:rPr>
              <a:t>AXI interface, per port</a:t>
            </a:r>
          </a:p>
          <a:p>
            <a:pPr marL="685800" lvl="1" indent="-228600">
              <a:spcBef>
                <a:spcPts val="180"/>
              </a:spcBef>
              <a:buFont typeface="Arial" panose="020B0604020202020204" pitchFamily="34" charset="0"/>
              <a:buChar char="–"/>
            </a:pPr>
            <a:r>
              <a:rPr lang="en-US" altLang="zh-TW" dirty="0">
                <a:solidFill>
                  <a:srgbClr val="000000"/>
                </a:solidFill>
                <a:latin typeface="Calibri" panose="020F0502020204030204" pitchFamily="34" charset="0"/>
                <a:ea typeface="微軟正黑體"/>
                <a:cs typeface="Calibri" panose="020F0502020204030204" pitchFamily="34" charset="0"/>
              </a:rPr>
              <a:t>Narrow W, R: 64 b @ 1 GHz = 8 GB/s each</a:t>
            </a:r>
          </a:p>
          <a:p>
            <a:pPr marL="685800" lvl="1" indent="-228600">
              <a:spcBef>
                <a:spcPts val="180"/>
              </a:spcBef>
              <a:buFont typeface="Arial" panose="020B0604020202020204" pitchFamily="34" charset="0"/>
              <a:buChar char="–"/>
            </a:pPr>
            <a:r>
              <a:rPr lang="en-US" altLang="zh-TW" dirty="0">
                <a:solidFill>
                  <a:srgbClr val="000000"/>
                </a:solidFill>
                <a:latin typeface="Calibri" panose="020F0502020204030204" pitchFamily="34" charset="0"/>
                <a:ea typeface="微軟正黑體"/>
                <a:cs typeface="Calibri" panose="020F0502020204030204" pitchFamily="34" charset="0"/>
              </a:rPr>
              <a:t>Data W, R: 512 b @ 1 GHz = 64 GB/s each</a:t>
            </a:r>
          </a:p>
          <a:p>
            <a:pPr marL="342900" indent="-342900">
              <a:spcBef>
                <a:spcPts val="500"/>
              </a:spcBef>
              <a:buFont typeface="Arial" panose="020B0604020202020204" pitchFamily="34" charset="0"/>
              <a:buChar char="•"/>
            </a:pPr>
            <a:r>
              <a:rPr lang="en-US" altLang="zh-TW" sz="2000" b="1" dirty="0">
                <a:solidFill>
                  <a:srgbClr val="000000"/>
                </a:solidFill>
                <a:latin typeface="Calibri" panose="020F0502020204030204" pitchFamily="34" charset="0"/>
                <a:ea typeface="微軟正黑體"/>
                <a:cs typeface="Calibri" panose="020F0502020204030204" pitchFamily="34" charset="0"/>
              </a:rPr>
              <a:t>NoC channel, per link direction</a:t>
            </a:r>
          </a:p>
          <a:p>
            <a:pPr marL="685800" lvl="1" indent="-228600">
              <a:spcBef>
                <a:spcPts val="180"/>
              </a:spcBef>
              <a:buFont typeface="Arial" panose="020B0604020202020204" pitchFamily="34" charset="0"/>
              <a:buChar char="–"/>
            </a:pPr>
            <a:r>
              <a:rPr lang="en-US" altLang="zh-TW" dirty="0">
                <a:solidFill>
                  <a:srgbClr val="000000"/>
                </a:solidFill>
                <a:latin typeface="Calibri" panose="020F0502020204030204" pitchFamily="34" charset="0"/>
                <a:ea typeface="微軟正黑體"/>
                <a:cs typeface="Calibri" panose="020F0502020204030204" pitchFamily="34" charset="0"/>
              </a:rPr>
              <a:t>REQ: flit 137 b @ 1 GHz = 17.1 GB/s channel, 8 GB/s payload</a:t>
            </a:r>
          </a:p>
          <a:p>
            <a:pPr marL="685800" lvl="1" indent="-228600">
              <a:spcBef>
                <a:spcPts val="180"/>
              </a:spcBef>
              <a:buFont typeface="Arial" panose="020B0604020202020204" pitchFamily="34" charset="0"/>
              <a:buChar char="–"/>
            </a:pPr>
            <a:r>
              <a:rPr lang="en-US" altLang="zh-TW" dirty="0">
                <a:solidFill>
                  <a:srgbClr val="000000"/>
                </a:solidFill>
                <a:latin typeface="Calibri" panose="020F0502020204030204" pitchFamily="34" charset="0"/>
                <a:ea typeface="微軟正黑體"/>
                <a:cs typeface="Calibri" panose="020F0502020204030204" pitchFamily="34" charset="0"/>
              </a:rPr>
              <a:t>RSP: flit 127 b @ 1 GHz = 15.9 GB/s channel, 8 GB/s payload</a:t>
            </a:r>
          </a:p>
          <a:p>
            <a:pPr marL="685800" lvl="1" indent="-228600">
              <a:spcBef>
                <a:spcPts val="180"/>
              </a:spcBef>
              <a:buFont typeface="Arial" panose="020B0604020202020204" pitchFamily="34" charset="0"/>
              <a:buChar char="–"/>
            </a:pPr>
            <a:r>
              <a:rPr lang="en-US" altLang="zh-TW" dirty="0">
                <a:solidFill>
                  <a:srgbClr val="000000"/>
                </a:solidFill>
                <a:latin typeface="Calibri" panose="020F0502020204030204" pitchFamily="34" charset="0"/>
                <a:ea typeface="微軟正黑體"/>
                <a:cs typeface="Calibri" panose="020F0502020204030204" pitchFamily="34" charset="0"/>
              </a:rPr>
              <a:t>DAT: flit 629 b @ 1 GHz = 78.6 GB/s channel, 64 GB/s payload</a:t>
            </a:r>
          </a:p>
        </p:txBody>
      </p:sp>
    </p:spTree>
    <p:extLst>
      <p:ext uri="{BB962C8B-B14F-4D97-AF65-F5344CB8AC3E}">
        <p14:creationId xmlns:p14="http://schemas.microsoft.com/office/powerpoint/2010/main" val="16527042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標題 1">
            <a:extLst>
              <a:ext uri="{FF2B5EF4-FFF2-40B4-BE49-F238E27FC236}">
                <a16:creationId xmlns:a16="http://schemas.microsoft.com/office/drawing/2014/main" id="{100DF70A-7239-2170-EFE4-0F442EF488DB}"/>
              </a:ext>
            </a:extLst>
          </p:cNvPr>
          <p:cNvSpPr>
            <a:spLocks noGrp="1"/>
          </p:cNvSpPr>
          <p:nvPr>
            <p:ph type="title"/>
          </p:nvPr>
        </p:nvSpPr>
        <p:spPr>
          <a:xfrm>
            <a:off x="533400" y="228600"/>
            <a:ext cx="11176000" cy="584200"/>
          </a:xfrm>
        </p:spPr>
        <p:txBody>
          <a:bodyPr/>
          <a:lstStyle/>
          <a:p>
            <a:pPr marL="0" indent="0" algn="l">
              <a:buNone/>
            </a:pPr>
            <a:r>
              <a:rPr lang="en-US" altLang="zh-TW" sz="3200" b="1" dirty="0">
                <a:solidFill>
                  <a:srgbClr val="000000"/>
                </a:solidFill>
                <a:latin typeface="Calibri"/>
                <a:ea typeface="微軟正黑體"/>
              </a:rPr>
              <a:t>Payload efficiency</a:t>
            </a:r>
          </a:p>
        </p:txBody>
      </p:sp>
      <p:sp>
        <p:nvSpPr>
          <p:cNvPr id="17" name="Body">
            <a:extLst>
              <a:ext uri="{FF2B5EF4-FFF2-40B4-BE49-F238E27FC236}">
                <a16:creationId xmlns:a16="http://schemas.microsoft.com/office/drawing/2014/main" id="{4292123C-A1AD-56D5-6ECD-0EE72DA0AE6F}"/>
              </a:ext>
            </a:extLst>
          </p:cNvPr>
          <p:cNvSpPr txBox="1"/>
          <p:nvPr/>
        </p:nvSpPr>
        <p:spPr>
          <a:xfrm>
            <a:off x="1159933" y="2065866"/>
            <a:ext cx="3920067" cy="1794934"/>
          </a:xfrm>
          <a:prstGeom prst="rect">
            <a:avLst/>
          </a:prstGeom>
          <a:noFill/>
        </p:spPr>
        <p:txBody>
          <a:bodyPr vertOverflow="overflow" vert="horz" wrap="square" numCol="1" rtlCol="0" anchor="t">
            <a:noAutofit/>
          </a:bodyPr>
          <a:lstStyle/>
          <a:p>
            <a:pPr marL="342900" indent="-342900">
              <a:spcBef>
                <a:spcPts val="500"/>
              </a:spcBef>
              <a:buFont typeface="Arial" panose="020B0604020202020204" pitchFamily="34" charset="0"/>
              <a:buChar char="•"/>
            </a:pPr>
            <a:r>
              <a:rPr lang="zh-TW" altLang="zh-TW" sz="2000" dirty="0">
                <a:solidFill>
                  <a:srgbClr val="000000"/>
                </a:solidFill>
                <a:latin typeface="Calibri" panose="020F0502020204030204" pitchFamily="34" charset="0"/>
                <a:cs typeface="Calibri" panose="020F0502020204030204" pitchFamily="34" charset="0"/>
              </a:rPr>
              <a:t>Write</a:t>
            </a:r>
            <a:endParaRPr lang="en-US" altLang="zh-TW" sz="2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685800" lvl="1" indent="-228600">
              <a:spcBef>
                <a:spcPts val="180"/>
              </a:spcBef>
              <a:buFont typeface="Arial" panose="020B0604020202020204" pitchFamily="34" charset="0"/>
              <a:buChar char="–"/>
            </a:pPr>
            <a:r>
              <a:rPr lang="en-US" altLang="zh-TW" sz="2000" dirty="0">
                <a:solidFill>
                  <a:srgbClr val="000000"/>
                </a:solidFill>
                <a:latin typeface="Calibri" panose="020F0502020204030204" pitchFamily="34" charset="0"/>
                <a:ea typeface="Calibri" panose="020F0502020204030204" pitchFamily="34" charset="0"/>
                <a:cs typeface="Calibri" panose="020F0502020204030204" pitchFamily="34" charset="0"/>
              </a:rPr>
              <a:t>Shares DAT with AW+W</a:t>
            </a:r>
          </a:p>
          <a:p>
            <a:pPr marL="685800" lvl="1" indent="-228600">
              <a:spcBef>
                <a:spcPts val="180"/>
              </a:spcBef>
              <a:buFont typeface="Arial" panose="020B0604020202020204" pitchFamily="34" charset="0"/>
              <a:buChar char="–"/>
            </a:pPr>
            <a:r>
              <a:rPr lang="en-US" altLang="zh-TW" sz="2000" dirty="0">
                <a:solidFill>
                  <a:srgbClr val="000000"/>
                </a:solidFill>
                <a:latin typeface="Calibri" panose="020F0502020204030204" pitchFamily="34" charset="0"/>
                <a:ea typeface="Calibri" panose="020F0502020204030204" pitchFamily="34" charset="0"/>
                <a:cs typeface="Calibri" panose="020F0502020204030204" pitchFamily="34" charset="0"/>
              </a:rPr>
              <a:t>One flit per burst</a:t>
            </a:r>
          </a:p>
          <a:p>
            <a:pPr marL="685800" lvl="1" indent="-228600">
              <a:spcBef>
                <a:spcPts val="180"/>
              </a:spcBef>
              <a:buFont typeface="Arial" panose="020B0604020202020204" pitchFamily="34" charset="0"/>
              <a:buChar char="–"/>
            </a:pPr>
            <a:r>
              <a:rPr lang="en-US" altLang="zh-TW" sz="2000" dirty="0">
                <a:solidFill>
                  <a:srgbClr val="000000"/>
                </a:solidFill>
                <a:latin typeface="Calibri" panose="020F0502020204030204" pitchFamily="34" charset="0"/>
                <a:ea typeface="Calibri" panose="020F0502020204030204" pitchFamily="34" charset="0"/>
                <a:cs typeface="Calibri" panose="020F0502020204030204" pitchFamily="34" charset="0"/>
              </a:rPr>
              <a:t>N/(N+1) payload efficiency</a:t>
            </a:r>
          </a:p>
        </p:txBody>
      </p:sp>
      <p:sp>
        <p:nvSpPr>
          <p:cNvPr id="18" name="Body">
            <a:extLst>
              <a:ext uri="{FF2B5EF4-FFF2-40B4-BE49-F238E27FC236}">
                <a16:creationId xmlns:a16="http://schemas.microsoft.com/office/drawing/2014/main" id="{38EFC32B-48D7-CBDE-E0A2-F9D1DBBEEE42}"/>
              </a:ext>
            </a:extLst>
          </p:cNvPr>
          <p:cNvSpPr txBox="1"/>
          <p:nvPr/>
        </p:nvSpPr>
        <p:spPr>
          <a:xfrm>
            <a:off x="6392334" y="2065865"/>
            <a:ext cx="4487333" cy="1794935"/>
          </a:xfrm>
          <a:prstGeom prst="rect">
            <a:avLst/>
          </a:prstGeom>
          <a:noFill/>
        </p:spPr>
        <p:txBody>
          <a:bodyPr vertOverflow="overflow" vert="horz" wrap="square" numCol="1" rtlCol="0" anchor="t">
            <a:noAutofit/>
          </a:bodyPr>
          <a:lstStyle/>
          <a:p>
            <a:pPr marL="342900" indent="-342900">
              <a:spcBef>
                <a:spcPts val="500"/>
              </a:spcBef>
              <a:buFont typeface="Arial" panose="020B0604020202020204" pitchFamily="34" charset="0"/>
              <a:buChar char="•"/>
            </a:pPr>
            <a:r>
              <a:rPr lang="zh-TW" altLang="zh-TW" sz="2000" dirty="0">
                <a:solidFill>
                  <a:srgbClr val="000000"/>
                </a:solidFill>
                <a:latin typeface="Calibri" panose="020F0502020204030204" pitchFamily="34" charset="0"/>
                <a:cs typeface="Calibri" panose="020F0502020204030204" pitchFamily="34" charset="0"/>
              </a:rPr>
              <a:t>Read</a:t>
            </a:r>
            <a:endParaRPr lang="en-US" altLang="zh-TW" sz="2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685800" marR="0" lvl="1" indent="-228600" algn="l" defTabSz="914400" rtl="0" eaLnBrk="0" fontAlgn="base" latinLnBrk="0" hangingPunct="0">
              <a:lnSpc>
                <a:spcPct val="100000"/>
              </a:lnSpc>
              <a:spcBef>
                <a:spcPts val="180"/>
              </a:spcBef>
              <a:spcAft>
                <a:spcPct val="0"/>
              </a:spcAft>
              <a:buClrTx/>
              <a:buSzTx/>
              <a:buFont typeface="Arial" panose="020B0604020202020204" pitchFamily="34" charset="0"/>
              <a:buChar char="–"/>
              <a:tabLst/>
              <a:defRPr/>
            </a:pPr>
            <a:r>
              <a:rPr lang="en-US" altLang="zh-TW" sz="2000" dirty="0">
                <a:solidFill>
                  <a:srgbClr val="000000"/>
                </a:solidFill>
                <a:latin typeface="Calibri" panose="020F0502020204030204" pitchFamily="34" charset="0"/>
                <a:ea typeface="Calibri" panose="020F0502020204030204" pitchFamily="34" charset="0"/>
                <a:cs typeface="Calibri" panose="020F0502020204030204" pitchFamily="34" charset="0"/>
              </a:rPr>
              <a:t>Response-direction DAT to itself</a:t>
            </a:r>
          </a:p>
          <a:p>
            <a:pPr marL="685800" marR="0" lvl="1" indent="-228600" algn="l" defTabSz="914400" rtl="0" eaLnBrk="0" fontAlgn="base" latinLnBrk="0" hangingPunct="0">
              <a:lnSpc>
                <a:spcPct val="100000"/>
              </a:lnSpc>
              <a:spcBef>
                <a:spcPts val="180"/>
              </a:spcBef>
              <a:spcAft>
                <a:spcPct val="0"/>
              </a:spcAft>
              <a:buClrTx/>
              <a:buSzTx/>
              <a:buFont typeface="Arial" panose="020B0604020202020204" pitchFamily="34" charset="0"/>
              <a:buChar char="–"/>
              <a:tabLst/>
              <a:defRPr/>
            </a:pPr>
            <a:r>
              <a:rPr lang="en-US" altLang="zh-TW" sz="2000" dirty="0">
                <a:solidFill>
                  <a:srgbClr val="000000"/>
                </a:solidFill>
                <a:latin typeface="Calibri" panose="020F0502020204030204" pitchFamily="34" charset="0"/>
                <a:ea typeface="Calibri" panose="020F0502020204030204" pitchFamily="34" charset="0"/>
                <a:cs typeface="Calibri" panose="020F0502020204030204" pitchFamily="34" charset="0"/>
              </a:rPr>
              <a:t>No flit shared</a:t>
            </a:r>
          </a:p>
          <a:p>
            <a:pPr marL="685800" marR="0" lvl="1" indent="-228600" algn="l" defTabSz="914400" rtl="0" eaLnBrk="0" fontAlgn="base" latinLnBrk="0" hangingPunct="0">
              <a:lnSpc>
                <a:spcPct val="100000"/>
              </a:lnSpc>
              <a:spcBef>
                <a:spcPts val="180"/>
              </a:spcBef>
              <a:spcAft>
                <a:spcPct val="0"/>
              </a:spcAft>
              <a:buClrTx/>
              <a:buSzTx/>
              <a:buFont typeface="Arial" panose="020B0604020202020204" pitchFamily="34" charset="0"/>
              <a:buChar char="–"/>
              <a:tabLst/>
              <a:defRPr/>
            </a:pPr>
            <a:r>
              <a:rPr lang="en-US" altLang="zh-TW" sz="2000" dirty="0">
                <a:solidFill>
                  <a:srgbClr val="000000"/>
                </a:solidFill>
                <a:latin typeface="Calibri" panose="020F0502020204030204" pitchFamily="34" charset="0"/>
                <a:ea typeface="Calibri" panose="020F0502020204030204" pitchFamily="34" charset="0"/>
                <a:cs typeface="Calibri" panose="020F0502020204030204" pitchFamily="34" charset="0"/>
              </a:rPr>
              <a:t>100% payload efficiency</a:t>
            </a:r>
          </a:p>
        </p:txBody>
      </p:sp>
      <p:graphicFrame>
        <p:nvGraphicFramePr>
          <p:cNvPr id="20" name="表格 19">
            <a:extLst>
              <a:ext uri="{FF2B5EF4-FFF2-40B4-BE49-F238E27FC236}">
                <a16:creationId xmlns:a16="http://schemas.microsoft.com/office/drawing/2014/main" id="{50BA649E-D8CA-E07C-9EEF-305A91AD2EE5}"/>
              </a:ext>
            </a:extLst>
          </p:cNvPr>
          <p:cNvGraphicFramePr>
            <a:graphicFrameLocks noGrp="1"/>
          </p:cNvGraphicFramePr>
          <p:nvPr>
            <p:extLst>
              <p:ext uri="{D42A27DB-BD31-4B8C-83A1-F6EECF244321}">
                <p14:modId xmlns:p14="http://schemas.microsoft.com/office/powerpoint/2010/main" val="3655697522"/>
              </p:ext>
            </p:extLst>
          </p:nvPr>
        </p:nvGraphicFramePr>
        <p:xfrm>
          <a:off x="3119967" y="3979332"/>
          <a:ext cx="4741332" cy="2441225"/>
        </p:xfrm>
        <a:graphic>
          <a:graphicData uri="http://schemas.openxmlformats.org/drawingml/2006/table">
            <a:tbl>
              <a:tblPr firstRow="1" bandRow="1">
                <a:tableStyleId>{5C22544A-7EE6-4342-B048-85BDC9FD1C3A}</a:tableStyleId>
              </a:tblPr>
              <a:tblGrid>
                <a:gridCol w="2174417">
                  <a:extLst>
                    <a:ext uri="{9D8B030D-6E8A-4147-A177-3AD203B41FA5}">
                      <a16:colId xmlns:a16="http://schemas.microsoft.com/office/drawing/2014/main" val="20000"/>
                    </a:ext>
                  </a:extLst>
                </a:gridCol>
                <a:gridCol w="2566915">
                  <a:extLst>
                    <a:ext uri="{9D8B030D-6E8A-4147-A177-3AD203B41FA5}">
                      <a16:colId xmlns:a16="http://schemas.microsoft.com/office/drawing/2014/main" val="20001"/>
                    </a:ext>
                  </a:extLst>
                </a:gridCol>
              </a:tblGrid>
              <a:tr h="488245">
                <a:tc>
                  <a:txBody>
                    <a:bodyPr/>
                    <a:lstStyle/>
                    <a:p>
                      <a:pPr>
                        <a:buNone/>
                      </a:pPr>
                      <a:r>
                        <a:rPr lang="en-US" altLang="zh-TW" dirty="0"/>
                        <a:t>B</a:t>
                      </a:r>
                      <a:r>
                        <a:rPr lang="zh-TW" dirty="0"/>
                        <a:t>urst </a:t>
                      </a:r>
                      <a:r>
                        <a:rPr lang="en-US" altLang="zh-TW" dirty="0"/>
                        <a:t>length</a:t>
                      </a:r>
                      <a:endParaRPr lang="zh-TW" dirty="0"/>
                    </a:p>
                  </a:txBody>
                  <a:tcPr anchor="ctr"/>
                </a:tc>
                <a:tc>
                  <a:txBody>
                    <a:bodyPr/>
                    <a:lstStyle/>
                    <a:p>
                      <a:pPr>
                        <a:buNone/>
                      </a:pPr>
                      <a:r>
                        <a:rPr lang="en-US" altLang="zh-TW" dirty="0"/>
                        <a:t>P</a:t>
                      </a:r>
                      <a:r>
                        <a:rPr lang="zh-TW" dirty="0"/>
                        <a:t>ayload </a:t>
                      </a:r>
                      <a:r>
                        <a:rPr lang="en-US" altLang="zh-TW" dirty="0"/>
                        <a:t>efficiency</a:t>
                      </a:r>
                      <a:endParaRPr lang="zh-TW" dirty="0"/>
                    </a:p>
                  </a:txBody>
                  <a:tcPr anchor="ctr"/>
                </a:tc>
                <a:extLst>
                  <a:ext uri="{0D108BD9-81ED-4DB2-BD59-A6C34878D82A}">
                    <a16:rowId xmlns:a16="http://schemas.microsoft.com/office/drawing/2014/main" val="10000"/>
                  </a:ext>
                </a:extLst>
              </a:tr>
              <a:tr h="488245">
                <a:tc>
                  <a:txBody>
                    <a:bodyPr/>
                    <a:lstStyle/>
                    <a:p>
                      <a:pPr>
                        <a:buNone/>
                      </a:pPr>
                      <a:r>
                        <a:rPr lang="zh-TW">
                          <a:solidFill>
                            <a:srgbClr val="C00000"/>
                          </a:solidFill>
                        </a:rPr>
                        <a:t>1 beat (64 B)</a:t>
                      </a:r>
                    </a:p>
                  </a:txBody>
                  <a:tcPr anchor="ctr"/>
                </a:tc>
                <a:tc>
                  <a:txBody>
                    <a:bodyPr/>
                    <a:lstStyle/>
                    <a:p>
                      <a:pPr>
                        <a:buNone/>
                      </a:pPr>
                      <a:r>
                        <a:rPr lang="zh-TW" dirty="0">
                          <a:solidFill>
                            <a:srgbClr val="C00000"/>
                          </a:solidFill>
                        </a:rPr>
                        <a:t>50%</a:t>
                      </a:r>
                    </a:p>
                  </a:txBody>
                  <a:tcPr anchor="ctr"/>
                </a:tc>
                <a:extLst>
                  <a:ext uri="{0D108BD9-81ED-4DB2-BD59-A6C34878D82A}">
                    <a16:rowId xmlns:a16="http://schemas.microsoft.com/office/drawing/2014/main" val="10001"/>
                  </a:ext>
                </a:extLst>
              </a:tr>
              <a:tr h="488245">
                <a:tc>
                  <a:txBody>
                    <a:bodyPr/>
                    <a:lstStyle/>
                    <a:p>
                      <a:pPr>
                        <a:buNone/>
                      </a:pPr>
                      <a:r>
                        <a:rPr lang="zh-TW"/>
                        <a:t>4 beats</a:t>
                      </a:r>
                    </a:p>
                  </a:txBody>
                  <a:tcPr anchor="ctr"/>
                </a:tc>
                <a:tc>
                  <a:txBody>
                    <a:bodyPr/>
                    <a:lstStyle/>
                    <a:p>
                      <a:pPr>
                        <a:buNone/>
                      </a:pPr>
                      <a:r>
                        <a:rPr lang="zh-TW"/>
                        <a:t>80%</a:t>
                      </a:r>
                    </a:p>
                  </a:txBody>
                  <a:tcPr anchor="ctr"/>
                </a:tc>
                <a:extLst>
                  <a:ext uri="{0D108BD9-81ED-4DB2-BD59-A6C34878D82A}">
                    <a16:rowId xmlns:a16="http://schemas.microsoft.com/office/drawing/2014/main" val="10002"/>
                  </a:ext>
                </a:extLst>
              </a:tr>
              <a:tr h="488245">
                <a:tc>
                  <a:txBody>
                    <a:bodyPr/>
                    <a:lstStyle/>
                    <a:p>
                      <a:pPr>
                        <a:buNone/>
                      </a:pPr>
                      <a:r>
                        <a:rPr lang="zh-TW"/>
                        <a:t>16 beats</a:t>
                      </a:r>
                    </a:p>
                  </a:txBody>
                  <a:tcPr anchor="ctr"/>
                </a:tc>
                <a:tc>
                  <a:txBody>
                    <a:bodyPr/>
                    <a:lstStyle/>
                    <a:p>
                      <a:pPr>
                        <a:buNone/>
                      </a:pPr>
                      <a:r>
                        <a:rPr lang="zh-TW" dirty="0"/>
                        <a:t>94.1%</a:t>
                      </a:r>
                    </a:p>
                  </a:txBody>
                  <a:tcPr anchor="ctr"/>
                </a:tc>
                <a:extLst>
                  <a:ext uri="{0D108BD9-81ED-4DB2-BD59-A6C34878D82A}">
                    <a16:rowId xmlns:a16="http://schemas.microsoft.com/office/drawing/2014/main" val="10003"/>
                  </a:ext>
                </a:extLst>
              </a:tr>
              <a:tr h="488245">
                <a:tc>
                  <a:txBody>
                    <a:bodyPr/>
                    <a:lstStyle/>
                    <a:p>
                      <a:pPr>
                        <a:buNone/>
                      </a:pPr>
                      <a:r>
                        <a:rPr lang="zh-TW">
                          <a:solidFill>
                            <a:srgbClr val="0D8242"/>
                          </a:solidFill>
                        </a:rPr>
                        <a:t>64 beats (4 KB)</a:t>
                      </a:r>
                    </a:p>
                  </a:txBody>
                  <a:tcPr anchor="ctr"/>
                </a:tc>
                <a:tc>
                  <a:txBody>
                    <a:bodyPr/>
                    <a:lstStyle/>
                    <a:p>
                      <a:pPr>
                        <a:buNone/>
                      </a:pPr>
                      <a:r>
                        <a:rPr lang="zh-TW" dirty="0">
                          <a:solidFill>
                            <a:srgbClr val="0D8242"/>
                          </a:solidFill>
                        </a:rPr>
                        <a:t>98.5%</a:t>
                      </a:r>
                    </a:p>
                  </a:txBody>
                  <a:tcPr anchor="ctr"/>
                </a:tc>
                <a:extLst>
                  <a:ext uri="{0D108BD9-81ED-4DB2-BD59-A6C34878D82A}">
                    <a16:rowId xmlns:a16="http://schemas.microsoft.com/office/drawing/2014/main" val="10004"/>
                  </a:ext>
                </a:extLst>
              </a:tr>
            </a:tbl>
          </a:graphicData>
        </a:graphic>
      </p:graphicFrame>
      <p:sp>
        <p:nvSpPr>
          <p:cNvPr id="22" name="文字方塊 21">
            <a:extLst>
              <a:ext uri="{FF2B5EF4-FFF2-40B4-BE49-F238E27FC236}">
                <a16:creationId xmlns:a16="http://schemas.microsoft.com/office/drawing/2014/main" id="{1B7A40BA-5789-168E-C2DD-040CA32B228C}"/>
              </a:ext>
            </a:extLst>
          </p:cNvPr>
          <p:cNvSpPr txBox="1"/>
          <p:nvPr/>
        </p:nvSpPr>
        <p:spPr>
          <a:xfrm>
            <a:off x="2946401" y="1314101"/>
            <a:ext cx="5494866" cy="461665"/>
          </a:xfrm>
          <a:prstGeom prst="rect">
            <a:avLst/>
          </a:prstGeom>
          <a:noFill/>
        </p:spPr>
        <p:txBody>
          <a:bodyPr wrap="square">
            <a:spAutoFit/>
          </a:bodyPr>
          <a:lstStyle/>
          <a:p>
            <a:r>
              <a:rPr lang="zh-TW" altLang="zh-TW" sz="2400" dirty="0">
                <a:solidFill>
                  <a:srgbClr val="000000"/>
                </a:solidFill>
                <a:latin typeface="Calibri" panose="020F0502020204030204" pitchFamily="34" charset="0"/>
                <a:cs typeface="Calibri" panose="020F0502020204030204" pitchFamily="34" charset="0"/>
              </a:rPr>
              <a:t>The bandwidth problem with serialization</a:t>
            </a:r>
            <a:endParaRPr lang="zh-TW" altLang="en-US" sz="2400" dirty="0">
              <a:solidFill>
                <a:srgbClr val="00000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324531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F8A211B1-8304-F38B-5799-41B63B8BA5BF}"/>
              </a:ext>
            </a:extLst>
          </p:cNvPr>
          <p:cNvSpPr>
            <a:spLocks noGrp="1"/>
          </p:cNvSpPr>
          <p:nvPr>
            <p:ph type="title"/>
          </p:nvPr>
        </p:nvSpPr>
        <p:spPr>
          <a:xfrm>
            <a:off x="533400" y="228600"/>
            <a:ext cx="11176000" cy="584200"/>
          </a:xfrm>
        </p:spPr>
        <p:txBody>
          <a:bodyPr/>
          <a:lstStyle/>
          <a:p>
            <a:r>
              <a:rPr dirty="0">
                <a:solidFill>
                  <a:srgbClr val="000000"/>
                </a:solidFill>
              </a:rPr>
              <a:t>Sustained bandwidth: full rate unless reads reorder</a:t>
            </a:r>
          </a:p>
        </p:txBody>
      </p:sp>
      <p:sp>
        <p:nvSpPr>
          <p:cNvPr id="5" name="Lead">
            <a:extLst>
              <a:ext uri="{FF2B5EF4-FFF2-40B4-BE49-F238E27FC236}">
                <a16:creationId xmlns:a16="http://schemas.microsoft.com/office/drawing/2014/main" id="{692E2569-5AB9-5E78-450E-0C02E2D5B0D7}"/>
              </a:ext>
            </a:extLst>
          </p:cNvPr>
          <p:cNvSpPr txBox="1"/>
          <p:nvPr/>
        </p:nvSpPr>
        <p:spPr>
          <a:xfrm>
            <a:off x="507997" y="939799"/>
            <a:ext cx="11226800" cy="1735668"/>
          </a:xfrm>
          <a:prstGeom prst="rect">
            <a:avLst/>
          </a:prstGeom>
          <a:noFill/>
        </p:spPr>
        <p:txBody>
          <a:bodyPr vertOverflow="overflow" vert="horz" wrap="square" rtlCol="0" anchor="t">
            <a:noAutofit/>
          </a:bodyPr>
          <a:lstStyle/>
          <a:p>
            <a:pPr marL="285750" indent="-285750">
              <a:buFont typeface="Arial" panose="020B0604020202020204" pitchFamily="34" charset="0"/>
              <a:buChar char="•"/>
            </a:pPr>
            <a:r>
              <a:rPr lang="en-US" altLang="zh-TW" sz="2400" dirty="0">
                <a:solidFill>
                  <a:srgbClr val="0D8242"/>
                </a:solidFill>
                <a:latin typeface="Calibri" panose="020F0502020204030204" pitchFamily="34" charset="0"/>
                <a:cs typeface="Calibri" panose="020F0502020204030204" pitchFamily="34" charset="0"/>
              </a:rPr>
              <a:t>In-order reads hold the full rate, 64 GB/s</a:t>
            </a:r>
            <a:r>
              <a:rPr lang="en-US" altLang="zh-TW" sz="2400" dirty="0">
                <a:solidFill>
                  <a:srgbClr val="000000"/>
                </a:solidFill>
                <a:latin typeface="Calibri" panose="020F0502020204030204" pitchFamily="34" charset="0"/>
                <a:cs typeface="Calibri" panose="020F0502020204030204" pitchFamily="34" charset="0"/>
              </a:rPr>
              <a:t>. </a:t>
            </a:r>
          </a:p>
          <a:p>
            <a:pPr marL="285750" indent="-285750">
              <a:buFont typeface="Arial" panose="020B0604020202020204" pitchFamily="34" charset="0"/>
              <a:buChar char="•"/>
            </a:pPr>
            <a:r>
              <a:rPr lang="en-US" altLang="zh-TW" sz="2400" dirty="0">
                <a:solidFill>
                  <a:srgbClr val="000000"/>
                </a:solidFill>
                <a:latin typeface="Calibri" panose="020F0502020204030204" pitchFamily="34" charset="0"/>
                <a:cs typeface="Calibri" panose="020F0502020204030204" pitchFamily="34" charset="0"/>
              </a:rPr>
              <a:t>Out-of-order reads lift efficiency across destinations, but the </a:t>
            </a:r>
            <a:r>
              <a:rPr lang="en-US" altLang="zh-TW" sz="2400" dirty="0">
                <a:solidFill>
                  <a:srgbClr val="C00000"/>
                </a:solidFill>
                <a:latin typeface="Calibri" panose="020F0502020204030204" pitchFamily="34" charset="0"/>
                <a:cs typeface="Calibri" panose="020F0502020204030204" pitchFamily="34" charset="0"/>
              </a:rPr>
              <a:t>reorder-buffer size is their bottleneck</a:t>
            </a:r>
          </a:p>
          <a:p>
            <a:pPr marL="742950" lvl="1" indent="-285750">
              <a:buFont typeface="Arial" panose="020B0604020202020204" pitchFamily="34" charset="0"/>
              <a:buChar char="•"/>
            </a:pPr>
            <a:r>
              <a:rPr lang="en-US" altLang="zh-TW" sz="2400" dirty="0">
                <a:solidFill>
                  <a:srgbClr val="000000"/>
                </a:solidFill>
                <a:latin typeface="Calibri" panose="020F0502020204030204" pitchFamily="34" charset="0"/>
                <a:cs typeface="Calibri" panose="020F0502020204030204" pitchFamily="34" charset="0"/>
              </a:rPr>
              <a:t>every reordered response passes through it, and once its 8 KB is fully allocated the next request waits.</a:t>
            </a:r>
            <a:endParaRPr lang="en-US" altLang="zh-TW" sz="2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14" name="Table Outstanding">
            <a:extLst>
              <a:ext uri="{FF2B5EF4-FFF2-40B4-BE49-F238E27FC236}">
                <a16:creationId xmlns:a16="http://schemas.microsoft.com/office/drawing/2014/main" id="{872D67F8-73BC-B5E5-E195-846EA939F845}"/>
              </a:ext>
            </a:extLst>
          </p:cNvPr>
          <p:cNvGraphicFramePr>
            <a:graphicFrameLocks noGrp="1"/>
          </p:cNvGraphicFramePr>
          <p:nvPr>
            <p:extLst>
              <p:ext uri="{D42A27DB-BD31-4B8C-83A1-F6EECF244321}">
                <p14:modId xmlns:p14="http://schemas.microsoft.com/office/powerpoint/2010/main" val="3543993624"/>
              </p:ext>
            </p:extLst>
          </p:nvPr>
        </p:nvGraphicFramePr>
        <p:xfrm>
          <a:off x="1794236" y="3013023"/>
          <a:ext cx="8848781" cy="3202592"/>
        </p:xfrm>
        <a:graphic>
          <a:graphicData uri="http://schemas.openxmlformats.org/drawingml/2006/table">
            <a:tbl>
              <a:tblPr firstRow="1" bandRow="1">
                <a:tableStyleId>{5C22544A-7EE6-4342-B048-85BDC9FD1C3A}</a:tableStyleId>
              </a:tblPr>
              <a:tblGrid>
                <a:gridCol w="1602535">
                  <a:extLst>
                    <a:ext uri="{9D8B030D-6E8A-4147-A177-3AD203B41FA5}">
                      <a16:colId xmlns:a16="http://schemas.microsoft.com/office/drawing/2014/main" val="20000"/>
                    </a:ext>
                  </a:extLst>
                </a:gridCol>
                <a:gridCol w="1572469">
                  <a:extLst>
                    <a:ext uri="{9D8B030D-6E8A-4147-A177-3AD203B41FA5}">
                      <a16:colId xmlns:a16="http://schemas.microsoft.com/office/drawing/2014/main" val="20003"/>
                    </a:ext>
                  </a:extLst>
                </a:gridCol>
                <a:gridCol w="2091128">
                  <a:extLst>
                    <a:ext uri="{9D8B030D-6E8A-4147-A177-3AD203B41FA5}">
                      <a16:colId xmlns:a16="http://schemas.microsoft.com/office/drawing/2014/main" val="1463934302"/>
                    </a:ext>
                  </a:extLst>
                </a:gridCol>
                <a:gridCol w="3582649">
                  <a:extLst>
                    <a:ext uri="{9D8B030D-6E8A-4147-A177-3AD203B41FA5}">
                      <a16:colId xmlns:a16="http://schemas.microsoft.com/office/drawing/2014/main" val="261960877"/>
                    </a:ext>
                  </a:extLst>
                </a:gridCol>
              </a:tblGrid>
              <a:tr h="929912">
                <a:tc>
                  <a:txBody>
                    <a:bodyPr/>
                    <a:lstStyle/>
                    <a:p>
                      <a:pPr algn="l">
                        <a:buNone/>
                      </a:pPr>
                      <a:r>
                        <a:rPr lang="zh-TW" dirty="0">
                          <a:effectLst/>
                        </a:rPr>
                        <a:t>Burst size</a:t>
                      </a:r>
                    </a:p>
                  </a:txBody>
                  <a:tcPr anchor="ctr"/>
                </a:tc>
                <a:tc>
                  <a:txBody>
                    <a:bodyPr/>
                    <a:lstStyle/>
                    <a:p>
                      <a:pPr algn="l">
                        <a:buNone/>
                      </a:pPr>
                      <a:r>
                        <a:rPr lang="zh-TW">
                          <a:effectLst/>
                        </a:rPr>
                        <a:t>Outstanding</a:t>
                      </a:r>
                    </a:p>
                  </a:txBody>
                  <a:tcPr anchor="ctr"/>
                </a:tc>
                <a:tc>
                  <a:txBody>
                    <a:bodyPr/>
                    <a:lstStyle/>
                    <a:p>
                      <a:pPr algn="l">
                        <a:buNone/>
                      </a:pPr>
                      <a:r>
                        <a:rPr lang="zh-TW" dirty="0">
                          <a:effectLst/>
                        </a:rPr>
                        <a:t>Pending data (B)</a:t>
                      </a:r>
                    </a:p>
                  </a:txBody>
                  <a:tcPr anchor="ctr"/>
                </a:tc>
                <a:tc>
                  <a:txBody>
                    <a:bodyPr/>
                    <a:lstStyle/>
                    <a:p>
                      <a:pPr algn="l">
                        <a:buNone/>
                      </a:pPr>
                      <a:r>
                        <a:rPr lang="zh-TW" dirty="0">
                          <a:effectLst/>
                        </a:rPr>
                        <a:t>Coverage (cycles)</a:t>
                      </a:r>
                      <a:endParaRPr lang="en-US" altLang="zh-TW" dirty="0">
                        <a:effectLst/>
                      </a:endParaRPr>
                    </a:p>
                    <a:p>
                      <a:pPr algn="l">
                        <a:buNone/>
                      </a:pPr>
                      <a:r>
                        <a:rPr lang="en-US" altLang="zh-TW" dirty="0"/>
                        <a:t>(</a:t>
                      </a:r>
                      <a:r>
                        <a:rPr lang="zh-TW" altLang="zh-TW" dirty="0"/>
                        <a:t>pending data </a:t>
                      </a:r>
                      <a:r>
                        <a:rPr lang="en-US" altLang="zh-TW" dirty="0"/>
                        <a:t>/ </a:t>
                      </a:r>
                      <a:r>
                        <a:rPr lang="zh-TW" altLang="zh-TW" dirty="0"/>
                        <a:t>64 B per cycl</a:t>
                      </a:r>
                      <a:r>
                        <a:rPr lang="en-US" altLang="zh-TW" dirty="0"/>
                        <a:t>e)</a:t>
                      </a:r>
                      <a:endParaRPr lang="zh-TW" dirty="0">
                        <a:effectLst/>
                      </a:endParaRPr>
                    </a:p>
                  </a:txBody>
                  <a:tcPr anchor="ctr"/>
                </a:tc>
                <a:extLst>
                  <a:ext uri="{0D108BD9-81ED-4DB2-BD59-A6C34878D82A}">
                    <a16:rowId xmlns:a16="http://schemas.microsoft.com/office/drawing/2014/main" val="10000"/>
                  </a:ext>
                </a:extLst>
              </a:tr>
              <a:tr h="568170">
                <a:tc>
                  <a:txBody>
                    <a:bodyPr/>
                    <a:lstStyle/>
                    <a:p>
                      <a:pPr algn="l">
                        <a:buNone/>
                      </a:pPr>
                      <a:r>
                        <a:rPr lang="zh-TW" dirty="0">
                          <a:effectLst/>
                        </a:rPr>
                        <a:t>64</a:t>
                      </a:r>
                      <a:r>
                        <a:rPr lang="en-US" altLang="zh-TW" dirty="0">
                          <a:effectLst/>
                        </a:rPr>
                        <a:t>B</a:t>
                      </a:r>
                      <a:endParaRPr lang="zh-TW" dirty="0">
                        <a:effectLst/>
                      </a:endParaRPr>
                    </a:p>
                  </a:txBody>
                  <a:tcPr anchor="ctr"/>
                </a:tc>
                <a:tc>
                  <a:txBody>
                    <a:bodyPr/>
                    <a:lstStyle/>
                    <a:p>
                      <a:pPr algn="l">
                        <a:buNone/>
                      </a:pPr>
                      <a:r>
                        <a:rPr lang="zh-TW" b="1" dirty="0">
                          <a:solidFill>
                            <a:srgbClr val="0D8242"/>
                          </a:solidFill>
                          <a:effectLst/>
                        </a:rPr>
                        <a:t>32</a:t>
                      </a:r>
                      <a:endParaRPr lang="zh-TW" dirty="0">
                        <a:solidFill>
                          <a:srgbClr val="0D8242"/>
                        </a:solidFill>
                        <a:effectLst/>
                      </a:endParaRPr>
                    </a:p>
                  </a:txBody>
                  <a:tcPr anchor="ctr"/>
                </a:tc>
                <a:tc>
                  <a:txBody>
                    <a:bodyPr/>
                    <a:lstStyle/>
                    <a:p>
                      <a:pPr algn="l">
                        <a:buNone/>
                      </a:pPr>
                      <a:r>
                        <a:rPr lang="zh-TW" dirty="0">
                          <a:effectLst/>
                        </a:rPr>
                        <a:t>2048</a:t>
                      </a:r>
                    </a:p>
                  </a:txBody>
                  <a:tcPr anchor="ctr"/>
                </a:tc>
                <a:tc>
                  <a:txBody>
                    <a:bodyPr/>
                    <a:lstStyle/>
                    <a:p>
                      <a:pPr algn="l">
                        <a:buNone/>
                      </a:pPr>
                      <a:r>
                        <a:rPr lang="zh-TW" dirty="0">
                          <a:effectLst/>
                        </a:rPr>
                        <a:t>32</a:t>
                      </a:r>
                    </a:p>
                  </a:txBody>
                  <a:tcPr anchor="ctr"/>
                </a:tc>
                <a:extLst>
                  <a:ext uri="{0D108BD9-81ED-4DB2-BD59-A6C34878D82A}">
                    <a16:rowId xmlns:a16="http://schemas.microsoft.com/office/drawing/2014/main" val="10001"/>
                  </a:ext>
                </a:extLst>
              </a:tr>
              <a:tr h="568170">
                <a:tc>
                  <a:txBody>
                    <a:bodyPr/>
                    <a:lstStyle/>
                    <a:p>
                      <a:pPr algn="l">
                        <a:buNone/>
                      </a:pPr>
                      <a:r>
                        <a:rPr lang="zh-TW" dirty="0">
                          <a:effectLst/>
                        </a:rPr>
                        <a:t>256</a:t>
                      </a:r>
                      <a:r>
                        <a:rPr lang="en-US" altLang="zh-TW" dirty="0">
                          <a:effectLst/>
                        </a:rPr>
                        <a:t>B</a:t>
                      </a:r>
                      <a:endParaRPr lang="zh-TW" dirty="0">
                        <a:effectLst/>
                      </a:endParaRPr>
                    </a:p>
                  </a:txBody>
                  <a:tcPr anchor="ctr"/>
                </a:tc>
                <a:tc>
                  <a:txBody>
                    <a:bodyPr/>
                    <a:lstStyle/>
                    <a:p>
                      <a:pPr algn="l">
                        <a:buNone/>
                      </a:pPr>
                      <a:r>
                        <a:rPr lang="zh-TW" b="1" dirty="0">
                          <a:solidFill>
                            <a:srgbClr val="0D8242"/>
                          </a:solidFill>
                          <a:effectLst/>
                        </a:rPr>
                        <a:t>32</a:t>
                      </a:r>
                      <a:endParaRPr lang="zh-TW" dirty="0">
                        <a:solidFill>
                          <a:srgbClr val="0D8242"/>
                        </a:solidFill>
                        <a:effectLst/>
                      </a:endParaRPr>
                    </a:p>
                  </a:txBody>
                  <a:tcPr anchor="ctr"/>
                </a:tc>
                <a:tc>
                  <a:txBody>
                    <a:bodyPr/>
                    <a:lstStyle/>
                    <a:p>
                      <a:pPr algn="l">
                        <a:buNone/>
                      </a:pPr>
                      <a:r>
                        <a:rPr lang="zh-TW">
                          <a:effectLst/>
                        </a:rPr>
                        <a:t>8192</a:t>
                      </a:r>
                    </a:p>
                  </a:txBody>
                  <a:tcPr anchor="ctr"/>
                </a:tc>
                <a:tc>
                  <a:txBody>
                    <a:bodyPr/>
                    <a:lstStyle/>
                    <a:p>
                      <a:pPr algn="l">
                        <a:buNone/>
                      </a:pPr>
                      <a:r>
                        <a:rPr lang="zh-TW" dirty="0">
                          <a:effectLst/>
                        </a:rPr>
                        <a:t>128</a:t>
                      </a:r>
                    </a:p>
                  </a:txBody>
                  <a:tcPr anchor="ctr"/>
                </a:tc>
                <a:extLst>
                  <a:ext uri="{0D108BD9-81ED-4DB2-BD59-A6C34878D82A}">
                    <a16:rowId xmlns:a16="http://schemas.microsoft.com/office/drawing/2014/main" val="10002"/>
                  </a:ext>
                </a:extLst>
              </a:tr>
              <a:tr h="568170">
                <a:tc>
                  <a:txBody>
                    <a:bodyPr/>
                    <a:lstStyle/>
                    <a:p>
                      <a:pPr algn="l">
                        <a:buNone/>
                      </a:pPr>
                      <a:r>
                        <a:rPr lang="zh-TW" dirty="0">
                          <a:effectLst/>
                        </a:rPr>
                        <a:t>1024</a:t>
                      </a:r>
                      <a:r>
                        <a:rPr lang="en-US" altLang="zh-TW" dirty="0">
                          <a:effectLst/>
                        </a:rPr>
                        <a:t>B</a:t>
                      </a:r>
                      <a:endParaRPr lang="zh-TW" dirty="0">
                        <a:effectLst/>
                      </a:endParaRPr>
                    </a:p>
                  </a:txBody>
                  <a:tcPr anchor="ctr"/>
                </a:tc>
                <a:tc>
                  <a:txBody>
                    <a:bodyPr/>
                    <a:lstStyle/>
                    <a:p>
                      <a:pPr algn="l">
                        <a:buNone/>
                      </a:pPr>
                      <a:r>
                        <a:rPr lang="zh-TW" b="1">
                          <a:solidFill>
                            <a:srgbClr val="C00000"/>
                          </a:solidFill>
                          <a:effectLst/>
                        </a:rPr>
                        <a:t>8</a:t>
                      </a:r>
                      <a:endParaRPr lang="zh-TW">
                        <a:solidFill>
                          <a:srgbClr val="C00000"/>
                        </a:solidFill>
                        <a:effectLst/>
                      </a:endParaRPr>
                    </a:p>
                  </a:txBody>
                  <a:tcPr anchor="ctr"/>
                </a:tc>
                <a:tc>
                  <a:txBody>
                    <a:bodyPr/>
                    <a:lstStyle/>
                    <a:p>
                      <a:pPr algn="l">
                        <a:buNone/>
                      </a:pPr>
                      <a:r>
                        <a:rPr lang="zh-TW">
                          <a:effectLst/>
                        </a:rPr>
                        <a:t>8192</a:t>
                      </a:r>
                    </a:p>
                  </a:txBody>
                  <a:tcPr anchor="ctr"/>
                </a:tc>
                <a:tc>
                  <a:txBody>
                    <a:bodyPr/>
                    <a:lstStyle/>
                    <a:p>
                      <a:pPr algn="l">
                        <a:buNone/>
                      </a:pPr>
                      <a:r>
                        <a:rPr lang="zh-TW" dirty="0">
                          <a:effectLst/>
                        </a:rPr>
                        <a:t>128</a:t>
                      </a:r>
                    </a:p>
                  </a:txBody>
                  <a:tcPr anchor="ctr"/>
                </a:tc>
                <a:extLst>
                  <a:ext uri="{0D108BD9-81ED-4DB2-BD59-A6C34878D82A}">
                    <a16:rowId xmlns:a16="http://schemas.microsoft.com/office/drawing/2014/main" val="10003"/>
                  </a:ext>
                </a:extLst>
              </a:tr>
              <a:tr h="568170">
                <a:tc>
                  <a:txBody>
                    <a:bodyPr/>
                    <a:lstStyle/>
                    <a:p>
                      <a:pPr algn="l">
                        <a:buNone/>
                      </a:pPr>
                      <a:r>
                        <a:rPr lang="zh-TW" dirty="0">
                          <a:effectLst/>
                        </a:rPr>
                        <a:t>4096</a:t>
                      </a:r>
                      <a:r>
                        <a:rPr lang="en-US" altLang="zh-TW" dirty="0">
                          <a:effectLst/>
                        </a:rPr>
                        <a:t>B</a:t>
                      </a:r>
                      <a:endParaRPr lang="zh-TW" dirty="0">
                        <a:effectLst/>
                      </a:endParaRPr>
                    </a:p>
                  </a:txBody>
                  <a:tcPr anchor="ctr"/>
                </a:tc>
                <a:tc>
                  <a:txBody>
                    <a:bodyPr/>
                    <a:lstStyle/>
                    <a:p>
                      <a:pPr algn="l">
                        <a:buNone/>
                      </a:pPr>
                      <a:r>
                        <a:rPr lang="zh-TW" b="1" dirty="0">
                          <a:solidFill>
                            <a:srgbClr val="C00000"/>
                          </a:solidFill>
                          <a:effectLst/>
                        </a:rPr>
                        <a:t>2</a:t>
                      </a:r>
                      <a:endParaRPr lang="zh-TW" dirty="0">
                        <a:solidFill>
                          <a:srgbClr val="C00000"/>
                        </a:solidFill>
                        <a:effectLst/>
                      </a:endParaRPr>
                    </a:p>
                  </a:txBody>
                  <a:tcPr anchor="ctr"/>
                </a:tc>
                <a:tc>
                  <a:txBody>
                    <a:bodyPr/>
                    <a:lstStyle/>
                    <a:p>
                      <a:pPr algn="l">
                        <a:buNone/>
                      </a:pPr>
                      <a:r>
                        <a:rPr lang="zh-TW" dirty="0">
                          <a:effectLst/>
                        </a:rPr>
                        <a:t>8192</a:t>
                      </a:r>
                    </a:p>
                  </a:txBody>
                  <a:tcPr anchor="ctr"/>
                </a:tc>
                <a:tc>
                  <a:txBody>
                    <a:bodyPr/>
                    <a:lstStyle/>
                    <a:p>
                      <a:pPr algn="l">
                        <a:buNone/>
                      </a:pPr>
                      <a:r>
                        <a:rPr lang="zh-TW" dirty="0">
                          <a:effectLst/>
                        </a:rPr>
                        <a:t>128</a:t>
                      </a:r>
                    </a:p>
                  </a:txBody>
                  <a:tcPr anchor="ctr"/>
                </a:tc>
                <a:extLst>
                  <a:ext uri="{0D108BD9-81ED-4DB2-BD59-A6C34878D82A}">
                    <a16:rowId xmlns:a16="http://schemas.microsoft.com/office/drawing/2014/main" val="2285398682"/>
                  </a:ext>
                </a:extLst>
              </a:tr>
            </a:tbl>
          </a:graphicData>
        </a:graphic>
      </p:graphicFrame>
    </p:spTree>
    <p:extLst>
      <p:ext uri="{BB962C8B-B14F-4D97-AF65-F5344CB8AC3E}">
        <p14:creationId xmlns:p14="http://schemas.microsoft.com/office/powerpoint/2010/main" val="4529305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標題 1">
            <a:extLst>
              <a:ext uri="{FF2B5EF4-FFF2-40B4-BE49-F238E27FC236}">
                <a16:creationId xmlns:a16="http://schemas.microsoft.com/office/drawing/2014/main" id="{6B6F1C1A-04B2-D958-5737-2189594FD88D}"/>
              </a:ext>
            </a:extLst>
          </p:cNvPr>
          <p:cNvSpPr>
            <a:spLocks noGrp="1"/>
          </p:cNvSpPr>
          <p:nvPr>
            <p:ph type="title"/>
          </p:nvPr>
        </p:nvSpPr>
        <p:spPr>
          <a:xfrm>
            <a:off x="533400" y="228600"/>
            <a:ext cx="11176000" cy="584200"/>
          </a:xfrm>
        </p:spPr>
        <p:txBody>
          <a:bodyPr/>
          <a:lstStyle/>
          <a:p>
            <a:pPr marL="0" indent="0" algn="l">
              <a:buNone/>
            </a:pPr>
            <a:r>
              <a:rPr lang="en-US" altLang="zh-TW" sz="3200" b="1" dirty="0">
                <a:solidFill>
                  <a:srgbClr val="000000"/>
                </a:solidFill>
                <a:latin typeface="Calibri"/>
                <a:ea typeface="微軟正黑體"/>
              </a:rPr>
              <a:t>Zero-load latency</a:t>
            </a:r>
          </a:p>
        </p:txBody>
      </p:sp>
      <p:pic>
        <p:nvPicPr>
          <p:cNvPr id="13" name="圖片 12">
            <a:extLst>
              <a:ext uri="{FF2B5EF4-FFF2-40B4-BE49-F238E27FC236}">
                <a16:creationId xmlns:a16="http://schemas.microsoft.com/office/drawing/2014/main" id="{42666A3D-E15B-0779-6BC4-0330B8F351EA}"/>
              </a:ext>
            </a:extLst>
          </p:cNvPr>
          <p:cNvPicPr>
            <a:picLocks noChangeAspect="1"/>
          </p:cNvPicPr>
          <p:nvPr/>
        </p:nvPicPr>
        <p:blipFill>
          <a:blip r:embed="rId2"/>
          <a:stretch>
            <a:fillRect/>
          </a:stretch>
        </p:blipFill>
        <p:spPr>
          <a:xfrm>
            <a:off x="1167356" y="3124199"/>
            <a:ext cx="9908088" cy="2173615"/>
          </a:xfrm>
          <a:prstGeom prst="rect">
            <a:avLst/>
          </a:prstGeom>
        </p:spPr>
      </p:pic>
      <p:sp>
        <p:nvSpPr>
          <p:cNvPr id="15" name="內容版面配置區 2">
            <a:extLst>
              <a:ext uri="{FF2B5EF4-FFF2-40B4-BE49-F238E27FC236}">
                <a16:creationId xmlns:a16="http://schemas.microsoft.com/office/drawing/2014/main" id="{B439E252-1196-EC58-E0E5-58D1885962B5}"/>
              </a:ext>
            </a:extLst>
          </p:cNvPr>
          <p:cNvSpPr>
            <a:spLocks noGrp="1"/>
          </p:cNvSpPr>
          <p:nvPr>
            <p:ph idx="1"/>
          </p:nvPr>
        </p:nvSpPr>
        <p:spPr>
          <a:xfrm>
            <a:off x="760318" y="1430866"/>
            <a:ext cx="10671363" cy="1075267"/>
          </a:xfrm>
        </p:spPr>
        <p:txBody>
          <a:bodyPr>
            <a:noAutofit/>
          </a:bodyPr>
          <a:lstStyle/>
          <a:p>
            <a:pPr>
              <a:buFont typeface="Arial" panose="020B0604020202020204" pitchFamily="34" charset="0"/>
              <a:buChar char="•"/>
            </a:pPr>
            <a:r>
              <a:rPr lang="en-US" altLang="zh-TW" sz="2000" dirty="0">
                <a:solidFill>
                  <a:srgbClr val="000000"/>
                </a:solidFill>
                <a:latin typeface="Calibri" panose="020F0502020204030204" pitchFamily="34" charset="0"/>
                <a:ea typeface="Calibri" panose="020F0502020204030204" pitchFamily="34" charset="0"/>
                <a:cs typeface="Calibri" panose="020F0502020204030204" pitchFamily="34" charset="0"/>
              </a:rPr>
              <a:t>A packet crossing H hops traverses H links and passes H + 1 routers, counting the source router.</a:t>
            </a:r>
          </a:p>
          <a:p>
            <a:pPr lvl="1"/>
            <a:r>
              <a:rPr lang="zh-TW" altLang="zh-TW" sz="2000" dirty="0">
                <a:solidFill>
                  <a:srgbClr val="000000"/>
                </a:solidFill>
                <a:latin typeface="Calibri" panose="020F0502020204030204" pitchFamily="34" charset="0"/>
                <a:cs typeface="Calibri" panose="020F0502020204030204" pitchFamily="34" charset="0"/>
              </a:rPr>
              <a:t>REQ / RSP: simple-mode router, ready/valid, </a:t>
            </a:r>
            <a:r>
              <a:rPr lang="zh-TW" altLang="zh-TW" sz="2000" b="1" dirty="0">
                <a:solidFill>
                  <a:srgbClr val="000000"/>
                </a:solidFill>
                <a:latin typeface="Calibri" panose="020F0502020204030204" pitchFamily="34" charset="0"/>
                <a:cs typeface="Calibri" panose="020F0502020204030204" pitchFamily="34" charset="0"/>
              </a:rPr>
              <a:t>1 to 2</a:t>
            </a:r>
            <a:r>
              <a:rPr lang="zh-TW" altLang="zh-TW" sz="2000" dirty="0">
                <a:solidFill>
                  <a:srgbClr val="000000"/>
                </a:solidFill>
                <a:latin typeface="Calibri" panose="020F0502020204030204" pitchFamily="34" charset="0"/>
                <a:cs typeface="Calibri" panose="020F0502020204030204" pitchFamily="34" charset="0"/>
              </a:rPr>
              <a:t> pipeline stages per hop</a:t>
            </a:r>
          </a:p>
          <a:p>
            <a:pPr lvl="1"/>
            <a:r>
              <a:rPr lang="zh-TW" altLang="zh-TW" sz="2000" dirty="0">
                <a:solidFill>
                  <a:srgbClr val="000000"/>
                </a:solidFill>
                <a:latin typeface="Calibri" panose="020F0502020204030204" pitchFamily="34" charset="0"/>
                <a:cs typeface="Calibri" panose="020F0502020204030204" pitchFamily="34" charset="0"/>
              </a:rPr>
              <a:t>DAT: standard-mode router, multi-VC credit-based flow control, </a:t>
            </a:r>
            <a:r>
              <a:rPr lang="zh-TW" altLang="zh-TW" sz="2000" b="1" dirty="0">
                <a:solidFill>
                  <a:srgbClr val="000000"/>
                </a:solidFill>
                <a:latin typeface="Calibri" panose="020F0502020204030204" pitchFamily="34" charset="0"/>
                <a:cs typeface="Calibri" panose="020F0502020204030204" pitchFamily="34" charset="0"/>
              </a:rPr>
              <a:t>3 to 5</a:t>
            </a:r>
            <a:r>
              <a:rPr lang="zh-TW" altLang="zh-TW" sz="2000" dirty="0">
                <a:solidFill>
                  <a:srgbClr val="000000"/>
                </a:solidFill>
                <a:latin typeface="Calibri" panose="020F0502020204030204" pitchFamily="34" charset="0"/>
                <a:cs typeface="Calibri" panose="020F0502020204030204" pitchFamily="34" charset="0"/>
              </a:rPr>
              <a:t> pipeline stages per hop</a:t>
            </a:r>
          </a:p>
          <a:p>
            <a:pPr lvl="1">
              <a:spcBef>
                <a:spcPts val="250"/>
              </a:spcBef>
            </a:pPr>
            <a:endParaRPr lang="en-US" altLang="zh-TW" sz="2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482653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EF3F9FC-5EC6-97B9-21E9-4A3E7ECF9C80}"/>
              </a:ext>
            </a:extLst>
          </p:cNvPr>
          <p:cNvSpPr>
            <a:spLocks noGrp="1"/>
          </p:cNvSpPr>
          <p:nvPr>
            <p:ph type="title"/>
          </p:nvPr>
        </p:nvSpPr>
        <p:spPr>
          <a:xfrm>
            <a:off x="533400" y="228600"/>
            <a:ext cx="11176000" cy="584200"/>
          </a:xfrm>
        </p:spPr>
        <p:txBody>
          <a:bodyPr/>
          <a:lstStyle/>
          <a:p>
            <a:pPr marL="0" indent="0" algn="l">
              <a:buNone/>
            </a:pPr>
            <a:r>
              <a:rPr lang="en-US" altLang="zh-TW" sz="3200" b="1" dirty="0">
                <a:solidFill>
                  <a:srgbClr val="000000"/>
                </a:solidFill>
                <a:latin typeface="Calibri"/>
                <a:ea typeface="微軟正黑體"/>
              </a:rPr>
              <a:t>Evaluation Model</a:t>
            </a:r>
          </a:p>
        </p:txBody>
      </p:sp>
      <p:sp>
        <p:nvSpPr>
          <p:cNvPr id="6" name="Intro">
            <a:extLst>
              <a:ext uri="{FF2B5EF4-FFF2-40B4-BE49-F238E27FC236}">
                <a16:creationId xmlns:a16="http://schemas.microsoft.com/office/drawing/2014/main" id="{6B0B2002-62F1-421B-B5CA-CC47082B9DF6}"/>
              </a:ext>
            </a:extLst>
          </p:cNvPr>
          <p:cNvSpPr txBox="1"/>
          <p:nvPr/>
        </p:nvSpPr>
        <p:spPr>
          <a:xfrm>
            <a:off x="612775" y="1155700"/>
            <a:ext cx="11226800" cy="660400"/>
          </a:xfrm>
          <a:prstGeom prst="rect">
            <a:avLst/>
          </a:prstGeom>
          <a:noFill/>
        </p:spPr>
        <p:txBody>
          <a:bodyPr vertOverflow="overflow" vert="horz" wrap="square" rtlCol="0" anchor="t">
            <a:noAutofit/>
          </a:bodyPr>
          <a:lstStyle/>
          <a:p>
            <a:pPr marL="0" indent="0">
              <a:buNone/>
            </a:pPr>
            <a:r>
              <a:rPr lang="en-US" altLang="zh-TW" sz="1800" dirty="0">
                <a:solidFill>
                  <a:srgbClr val="000000"/>
                </a:solidFill>
                <a:latin typeface="Calibri" panose="020F0502020204030204" pitchFamily="34" charset="0"/>
                <a:ea typeface="微軟正黑體"/>
                <a:cs typeface="Calibri" panose="020F0502020204030204" pitchFamily="34" charset="0"/>
              </a:rPr>
              <a:t>The evaluation platform is the Edge LPDDR PIM 3D scalable architecture. The NoC under test is the router mesh and network interfaces of its NPU mesh region.</a:t>
            </a:r>
          </a:p>
        </p:txBody>
      </p:sp>
      <p:sp>
        <p:nvSpPr>
          <p:cNvPr id="9" name="Regions">
            <a:extLst>
              <a:ext uri="{FF2B5EF4-FFF2-40B4-BE49-F238E27FC236}">
                <a16:creationId xmlns:a16="http://schemas.microsoft.com/office/drawing/2014/main" id="{5F0C160E-4957-4175-9429-44B15E5BA008}"/>
              </a:ext>
            </a:extLst>
          </p:cNvPr>
          <p:cNvSpPr txBox="1"/>
          <p:nvPr/>
        </p:nvSpPr>
        <p:spPr>
          <a:xfrm>
            <a:off x="7670800" y="2159000"/>
            <a:ext cx="4445000" cy="2679330"/>
          </a:xfrm>
          <a:prstGeom prst="rect">
            <a:avLst/>
          </a:prstGeom>
          <a:noFill/>
        </p:spPr>
        <p:txBody>
          <a:bodyPr vertOverflow="overflow" vert="horz" wrap="square" rtlCol="0" anchor="t">
            <a:noAutofit/>
          </a:bodyPr>
          <a:lstStyle/>
          <a:p>
            <a:pPr marL="200025" indent="-200025">
              <a:spcBef>
                <a:spcPts val="400"/>
              </a:spcBef>
              <a:buFont typeface="Arial" panose="020B0604020202020204" pitchFamily="34" charset="0"/>
              <a:buChar char="•"/>
            </a:pPr>
            <a:r>
              <a:rPr lang="en-US" altLang="zh-TW" sz="1600" dirty="0">
                <a:solidFill>
                  <a:srgbClr val="000000"/>
                </a:solidFill>
                <a:latin typeface="Calibri" panose="020F0502020204030204" pitchFamily="34" charset="0"/>
                <a:ea typeface="微軟正黑體"/>
                <a:cs typeface="Calibri" panose="020F0502020204030204" pitchFamily="34" charset="0"/>
              </a:rPr>
              <a:t>Host control region: a scheduler CPU and a sequencer DMA stage data from LPDDR and external storage into the mesh</a:t>
            </a:r>
          </a:p>
          <a:p>
            <a:pPr marL="200025" indent="-200025">
              <a:spcBef>
                <a:spcPts val="400"/>
              </a:spcBef>
              <a:buFont typeface="Arial" panose="020B0604020202020204" pitchFamily="34" charset="0"/>
              <a:buChar char="•"/>
            </a:pPr>
            <a:r>
              <a:rPr lang="en-US" altLang="zh-TW" sz="1600" dirty="0">
                <a:solidFill>
                  <a:srgbClr val="000000"/>
                </a:solidFill>
                <a:latin typeface="Calibri" panose="020F0502020204030204" pitchFamily="34" charset="0"/>
                <a:ea typeface="微軟正黑體"/>
                <a:cs typeface="Calibri" panose="020F0502020204030204" pitchFamily="34" charset="0"/>
              </a:rPr>
              <a:t>NPU mesh region: one tile per node. A tile holds an NPU, its controller, tile-local 3D DRAM, and a router</a:t>
            </a:r>
          </a:p>
        </p:txBody>
      </p:sp>
      <p:pic>
        <p:nvPicPr>
          <p:cNvPr id="4" name="圖片 3">
            <a:extLst>
              <a:ext uri="{FF2B5EF4-FFF2-40B4-BE49-F238E27FC236}">
                <a16:creationId xmlns:a16="http://schemas.microsoft.com/office/drawing/2014/main" id="{0EE62BC3-0A08-7FFB-5D21-1B78B714B1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5125" y="2081942"/>
            <a:ext cx="7296304" cy="3887058"/>
          </a:xfrm>
          <a:prstGeom prst="rect">
            <a:avLst/>
          </a:prstGeom>
        </p:spPr>
      </p:pic>
    </p:spTree>
    <p:extLst>
      <p:ext uri="{BB962C8B-B14F-4D97-AF65-F5344CB8AC3E}">
        <p14:creationId xmlns:p14="http://schemas.microsoft.com/office/powerpoint/2010/main" val="7909812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9C4242A-01A1-A919-AAC8-57549A7719FB}"/>
              </a:ext>
            </a:extLst>
          </p:cNvPr>
          <p:cNvSpPr>
            <a:spLocks noGrp="1"/>
          </p:cNvSpPr>
          <p:nvPr>
            <p:ph type="title"/>
          </p:nvPr>
        </p:nvSpPr>
        <p:spPr>
          <a:xfrm>
            <a:off x="533400" y="228600"/>
            <a:ext cx="11176000" cy="584200"/>
          </a:xfrm>
        </p:spPr>
        <p:txBody>
          <a:bodyPr/>
          <a:lstStyle/>
          <a:p>
            <a:r>
              <a:rPr lang="en-US" altLang="zh-TW" sz="3200">
                <a:solidFill>
                  <a:srgbClr val="000000"/>
                </a:solidFill>
                <a:latin typeface="Calibri"/>
                <a:ea typeface="Calibri"/>
                <a:cs typeface="Calibri"/>
              </a:rPr>
              <a:t>Memory tiers, cold storage to compute</a:t>
            </a:r>
            <a:endParaRPr lang="en-US" altLang="zh-TW" sz="3200" dirty="0">
              <a:solidFill>
                <a:srgbClr val="000000"/>
              </a:solidFill>
              <a:latin typeface="Calibri"/>
              <a:ea typeface="Calibri"/>
              <a:cs typeface="Calibri"/>
            </a:endParaRPr>
          </a:p>
        </p:txBody>
      </p:sp>
      <p:sp>
        <p:nvSpPr>
          <p:cNvPr id="3" name="投影片編號版面配置區 2">
            <a:extLst>
              <a:ext uri="{FF2B5EF4-FFF2-40B4-BE49-F238E27FC236}">
                <a16:creationId xmlns:a16="http://schemas.microsoft.com/office/drawing/2014/main" id="{3B0BCBFB-77C9-8EC7-BE53-318C40D34CE7}"/>
              </a:ext>
            </a:extLst>
          </p:cNvPr>
          <p:cNvSpPr>
            <a:spLocks noGrp="1"/>
          </p:cNvSpPr>
          <p:nvPr>
            <p:ph type="sldNum" sz="quarter" idx="10"/>
          </p:nvPr>
        </p:nvSpPr>
        <p:spPr/>
        <p:txBody>
          <a:bodyPr/>
          <a:lstStyle/>
          <a:p>
            <a:pPr>
              <a:defRPr/>
            </a:pPr>
            <a:fld id="{1A71FFAD-F905-4792-971B-681FA4F61CA8}" type="slidenum">
              <a:rPr lang="en-US" altLang="zh-TW" smtClean="0"/>
              <a:pPr>
                <a:defRPr/>
              </a:pPr>
              <a:t>23</a:t>
            </a:fld>
            <a:endParaRPr lang="en-US" altLang="zh-TW"/>
          </a:p>
        </p:txBody>
      </p:sp>
      <p:graphicFrame>
        <p:nvGraphicFramePr>
          <p:cNvPr id="6" name="表格 5">
            <a:extLst>
              <a:ext uri="{FF2B5EF4-FFF2-40B4-BE49-F238E27FC236}">
                <a16:creationId xmlns:a16="http://schemas.microsoft.com/office/drawing/2014/main" id="{4D36A1B7-DC12-4134-9469-4802B51B1B18}"/>
              </a:ext>
            </a:extLst>
          </p:cNvPr>
          <p:cNvGraphicFramePr>
            <a:graphicFrameLocks noGrp="1"/>
          </p:cNvGraphicFramePr>
          <p:nvPr>
            <p:extLst>
              <p:ext uri="{D42A27DB-BD31-4B8C-83A1-F6EECF244321}">
                <p14:modId xmlns:p14="http://schemas.microsoft.com/office/powerpoint/2010/main" val="2544699128"/>
              </p:ext>
            </p:extLst>
          </p:nvPr>
        </p:nvGraphicFramePr>
        <p:xfrm>
          <a:off x="609600" y="1168400"/>
          <a:ext cx="10972800" cy="4292600"/>
        </p:xfrm>
        <a:graphic>
          <a:graphicData uri="http://schemas.openxmlformats.org/drawingml/2006/table">
            <a:tbl>
              <a:tblPr firstRow="1" bandRow="1">
                <a:tableStyleId>{5C22544A-7EE6-4342-B048-85BDC9FD1C3A}</a:tableStyleId>
              </a:tblPr>
              <a:tblGrid>
                <a:gridCol w="2082800">
                  <a:extLst>
                    <a:ext uri="{9D8B030D-6E8A-4147-A177-3AD203B41FA5}">
                      <a16:colId xmlns:a16="http://schemas.microsoft.com/office/drawing/2014/main" val="1952803012"/>
                    </a:ext>
                  </a:extLst>
                </a:gridCol>
                <a:gridCol w="3124200">
                  <a:extLst>
                    <a:ext uri="{9D8B030D-6E8A-4147-A177-3AD203B41FA5}">
                      <a16:colId xmlns:a16="http://schemas.microsoft.com/office/drawing/2014/main" val="2040902743"/>
                    </a:ext>
                  </a:extLst>
                </a:gridCol>
                <a:gridCol w="5765800">
                  <a:extLst>
                    <a:ext uri="{9D8B030D-6E8A-4147-A177-3AD203B41FA5}">
                      <a16:colId xmlns:a16="http://schemas.microsoft.com/office/drawing/2014/main" val="743377815"/>
                    </a:ext>
                  </a:extLst>
                </a:gridCol>
              </a:tblGrid>
              <a:tr h="381000">
                <a:tc>
                  <a:txBody>
                    <a:bodyPr/>
                    <a:lstStyle/>
                    <a:p>
                      <a:pPr algn="l"/>
                      <a:r>
                        <a:rPr lang="zh-TW" altLang="en-US" sz="1700" b="1">
                          <a:solidFill>
                            <a:srgbClr val="FFFFFF"/>
                          </a:solidFill>
                          <a:latin typeface="Calibri"/>
                          <a:cs typeface="Calibri"/>
                        </a:rPr>
                        <a:t>Tier</a:t>
                      </a:r>
                    </a:p>
                  </a:txBody>
                  <a:tcPr anchor="ctr"/>
                </a:tc>
                <a:tc>
                  <a:txBody>
                    <a:bodyPr/>
                    <a:lstStyle/>
                    <a:p>
                      <a:pPr algn="l"/>
                      <a:r>
                        <a:rPr lang="zh-TW" altLang="en-US" sz="1700" b="1">
                          <a:solidFill>
                            <a:srgbClr val="FFFFFF"/>
                          </a:solidFill>
                          <a:latin typeface="Calibri"/>
                          <a:cs typeface="Calibri"/>
                        </a:rPr>
                        <a:t>Location</a:t>
                      </a:r>
                    </a:p>
                  </a:txBody>
                  <a:tcPr anchor="ctr"/>
                </a:tc>
                <a:tc>
                  <a:txBody>
                    <a:bodyPr/>
                    <a:lstStyle/>
                    <a:p>
                      <a:pPr algn="l"/>
                      <a:r>
                        <a:rPr lang="zh-TW" altLang="en-US" sz="1700" b="1">
                          <a:solidFill>
                            <a:srgbClr val="FFFFFF"/>
                          </a:solidFill>
                          <a:latin typeface="Calibri"/>
                          <a:cs typeface="Calibri"/>
                        </a:rPr>
                        <a:t>Role</a:t>
                      </a:r>
                    </a:p>
                  </a:txBody>
                  <a:tcPr anchor="ctr"/>
                </a:tc>
                <a:extLst>
                  <a:ext uri="{0D108BD9-81ED-4DB2-BD59-A6C34878D82A}">
                    <a16:rowId xmlns:a16="http://schemas.microsoft.com/office/drawing/2014/main" val="3297198116"/>
                  </a:ext>
                </a:extLst>
              </a:tr>
              <a:tr h="558800">
                <a:tc>
                  <a:txBody>
                    <a:bodyPr/>
                    <a:lstStyle/>
                    <a:p>
                      <a:pPr algn="l"/>
                      <a:r>
                        <a:rPr lang="zh-TW" altLang="en-US" sz="1500" b="0">
                          <a:solidFill>
                            <a:srgbClr val="000000"/>
                          </a:solidFill>
                          <a:latin typeface="Calibri"/>
                          <a:cs typeface="Calibri"/>
                        </a:rPr>
                        <a:t>External storage</a:t>
                      </a:r>
                    </a:p>
                  </a:txBody>
                  <a:tcPr anchor="ctr"/>
                </a:tc>
                <a:tc>
                  <a:txBody>
                    <a:bodyPr/>
                    <a:lstStyle/>
                    <a:p>
                      <a:pPr algn="l"/>
                      <a:r>
                        <a:rPr lang="zh-TW" altLang="en-US" sz="1500" b="0">
                          <a:solidFill>
                            <a:srgbClr val="000000"/>
                          </a:solidFill>
                          <a:latin typeface="Calibri"/>
                          <a:cs typeface="Calibri"/>
                        </a:rPr>
                        <a:t>Host control region, loaded from Flash</a:t>
                      </a:r>
                    </a:p>
                  </a:txBody>
                  <a:tcPr anchor="ctr"/>
                </a:tc>
                <a:tc>
                  <a:txBody>
                    <a:bodyPr/>
                    <a:lstStyle/>
                    <a:p>
                      <a:pPr algn="l"/>
                      <a:r>
                        <a:rPr lang="zh-TW" altLang="en-US" sz="1500" b="0">
                          <a:solidFill>
                            <a:srgbClr val="000000"/>
                          </a:solidFill>
                          <a:latin typeface="Calibri"/>
                          <a:cs typeface="Calibri"/>
                        </a:rPr>
                        <a:t>Persistent model store, read once at model load</a:t>
                      </a:r>
                    </a:p>
                  </a:txBody>
                  <a:tcPr anchor="ctr"/>
                </a:tc>
                <a:extLst>
                  <a:ext uri="{0D108BD9-81ED-4DB2-BD59-A6C34878D82A}">
                    <a16:rowId xmlns:a16="http://schemas.microsoft.com/office/drawing/2014/main" val="1297006879"/>
                  </a:ext>
                </a:extLst>
              </a:tr>
              <a:tr h="558800">
                <a:tc>
                  <a:txBody>
                    <a:bodyPr/>
                    <a:lstStyle/>
                    <a:p>
                      <a:pPr algn="l"/>
                      <a:r>
                        <a:rPr lang="zh-TW" altLang="en-US" sz="1500" b="0">
                          <a:solidFill>
                            <a:srgbClr val="000000"/>
                          </a:solidFill>
                          <a:latin typeface="Calibri"/>
                          <a:cs typeface="Calibri"/>
                        </a:rPr>
                        <a:t>LPDDR</a:t>
                      </a:r>
                    </a:p>
                  </a:txBody>
                  <a:tcPr anchor="ctr"/>
                </a:tc>
                <a:tc>
                  <a:txBody>
                    <a:bodyPr/>
                    <a:lstStyle/>
                    <a:p>
                      <a:pPr algn="l"/>
                      <a:r>
                        <a:rPr lang="zh-TW" altLang="en-US" sz="1500" b="0">
                          <a:solidFill>
                            <a:srgbClr val="000000"/>
                          </a:solidFill>
                          <a:latin typeface="Calibri"/>
                          <a:cs typeface="Calibri"/>
                        </a:rPr>
                        <a:t>External DRAM behind the LPDDR interface</a:t>
                      </a:r>
                    </a:p>
                  </a:txBody>
                  <a:tcPr anchor="ctr"/>
                </a:tc>
                <a:tc>
                  <a:txBody>
                    <a:bodyPr/>
                    <a:lstStyle/>
                    <a:p>
                      <a:pPr algn="l"/>
                      <a:r>
                        <a:rPr lang="zh-TW" altLang="en-US" sz="1500" b="0">
                          <a:solidFill>
                            <a:srgbClr val="000000"/>
                          </a:solidFill>
                          <a:latin typeface="Calibri"/>
                          <a:cs typeface="Calibri"/>
                        </a:rPr>
                        <a:t>Capacity tier. Holds the model image and feeds weight staging</a:t>
                      </a:r>
                    </a:p>
                  </a:txBody>
                  <a:tcPr anchor="ctr"/>
                </a:tc>
                <a:extLst>
                  <a:ext uri="{0D108BD9-81ED-4DB2-BD59-A6C34878D82A}">
                    <a16:rowId xmlns:a16="http://schemas.microsoft.com/office/drawing/2014/main" val="4259896757"/>
                  </a:ext>
                </a:extLst>
              </a:tr>
              <a:tr h="558800">
                <a:tc>
                  <a:txBody>
                    <a:bodyPr/>
                    <a:lstStyle/>
                    <a:p>
                      <a:pPr algn="l"/>
                      <a:r>
                        <a:rPr lang="zh-TW" altLang="en-US" sz="1500" b="0">
                          <a:solidFill>
                            <a:srgbClr val="000000"/>
                          </a:solidFill>
                          <a:latin typeface="Calibri"/>
                          <a:cs typeface="Calibri"/>
                        </a:rPr>
                        <a:t>Host 3D DRAM</a:t>
                      </a:r>
                    </a:p>
                  </a:txBody>
                  <a:tcPr anchor="ctr"/>
                </a:tc>
                <a:tc>
                  <a:txBody>
                    <a:bodyPr/>
                    <a:lstStyle/>
                    <a:p>
                      <a:pPr algn="l"/>
                      <a:r>
                        <a:rPr lang="zh-TW" altLang="en-US" sz="1500" b="0">
                          <a:solidFill>
                            <a:srgbClr val="000000"/>
                          </a:solidFill>
                          <a:latin typeface="Calibri"/>
                          <a:cs typeface="Calibri"/>
                        </a:rPr>
                        <a:t>Host control region</a:t>
                      </a:r>
                    </a:p>
                  </a:txBody>
                  <a:tcPr anchor="ctr"/>
                </a:tc>
                <a:tc>
                  <a:txBody>
                    <a:bodyPr/>
                    <a:lstStyle/>
                    <a:p>
                      <a:pPr algn="l"/>
                      <a:r>
                        <a:rPr lang="zh-TW" altLang="en-US" sz="1500" b="0">
                          <a:solidFill>
                            <a:srgbClr val="000000"/>
                          </a:solidFill>
                          <a:latin typeface="Calibri"/>
                          <a:cs typeface="Calibri"/>
                        </a:rPr>
                        <a:t>Bandwidth tier on the host side. KV cache offload target and sink of mesh output</a:t>
                      </a:r>
                    </a:p>
                  </a:txBody>
                  <a:tcPr anchor="ctr"/>
                </a:tc>
                <a:extLst>
                  <a:ext uri="{0D108BD9-81ED-4DB2-BD59-A6C34878D82A}">
                    <a16:rowId xmlns:a16="http://schemas.microsoft.com/office/drawing/2014/main" val="1268063261"/>
                  </a:ext>
                </a:extLst>
              </a:tr>
              <a:tr h="558800">
                <a:tc>
                  <a:txBody>
                    <a:bodyPr/>
                    <a:lstStyle/>
                    <a:p>
                      <a:pPr algn="l"/>
                      <a:r>
                        <a:rPr lang="zh-TW" altLang="en-US" sz="1500" b="0">
                          <a:solidFill>
                            <a:srgbClr val="000000"/>
                          </a:solidFill>
                          <a:latin typeface="Calibri"/>
                          <a:cs typeface="Calibri"/>
                        </a:rPr>
                        <a:t>Interface buffer</a:t>
                      </a:r>
                    </a:p>
                  </a:txBody>
                  <a:tcPr anchor="ctr"/>
                </a:tc>
                <a:tc>
                  <a:txBody>
                    <a:bodyPr/>
                    <a:lstStyle/>
                    <a:p>
                      <a:pPr algn="l"/>
                      <a:r>
                        <a:rPr lang="zh-TW" altLang="en-US" sz="1500" b="0">
                          <a:solidFill>
                            <a:srgbClr val="000000"/>
                          </a:solidFill>
                          <a:latin typeface="Calibri"/>
                          <a:cs typeface="Calibri"/>
                        </a:rPr>
                        <a:t>Host control region</a:t>
                      </a:r>
                    </a:p>
                  </a:txBody>
                  <a:tcPr anchor="ctr"/>
                </a:tc>
                <a:tc>
                  <a:txBody>
                    <a:bodyPr/>
                    <a:lstStyle/>
                    <a:p>
                      <a:pPr algn="l"/>
                      <a:r>
                        <a:rPr lang="zh-TW" altLang="en-US" sz="1500" b="0">
                          <a:solidFill>
                            <a:srgbClr val="000000"/>
                          </a:solidFill>
                          <a:latin typeface="Calibri"/>
                          <a:cs typeface="Calibri"/>
                        </a:rPr>
                        <a:t>Staging buffer between the external interfaces and the sequencer DMA</a:t>
                      </a:r>
                    </a:p>
                  </a:txBody>
                  <a:tcPr anchor="ctr"/>
                </a:tc>
                <a:extLst>
                  <a:ext uri="{0D108BD9-81ED-4DB2-BD59-A6C34878D82A}">
                    <a16:rowId xmlns:a16="http://schemas.microsoft.com/office/drawing/2014/main" val="4170803083"/>
                  </a:ext>
                </a:extLst>
              </a:tr>
              <a:tr h="558800">
                <a:tc>
                  <a:txBody>
                    <a:bodyPr/>
                    <a:lstStyle/>
                    <a:p>
                      <a:pPr algn="l"/>
                      <a:r>
                        <a:rPr lang="zh-TW" altLang="en-US" sz="1500" b="0">
                          <a:solidFill>
                            <a:srgbClr val="000000"/>
                          </a:solidFill>
                          <a:latin typeface="Calibri"/>
                          <a:cs typeface="Calibri"/>
                        </a:rPr>
                        <a:t>Local SRAM</a:t>
                      </a:r>
                    </a:p>
                  </a:txBody>
                  <a:tcPr anchor="ctr"/>
                </a:tc>
                <a:tc>
                  <a:txBody>
                    <a:bodyPr/>
                    <a:lstStyle/>
                    <a:p>
                      <a:pPr algn="l"/>
                      <a:r>
                        <a:rPr lang="zh-TW" altLang="en-US" sz="1500" b="0">
                          <a:solidFill>
                            <a:srgbClr val="000000"/>
                          </a:solidFill>
                          <a:latin typeface="Calibri"/>
                          <a:cs typeface="Calibri"/>
                        </a:rPr>
                        <a:t>Host control region</a:t>
                      </a:r>
                    </a:p>
                  </a:txBody>
                  <a:tcPr anchor="ctr"/>
                </a:tc>
                <a:tc>
                  <a:txBody>
                    <a:bodyPr/>
                    <a:lstStyle/>
                    <a:p>
                      <a:pPr algn="l"/>
                      <a:r>
                        <a:rPr lang="zh-TW" altLang="en-US" sz="1500" b="0">
                          <a:solidFill>
                            <a:srgbClr val="000000"/>
                          </a:solidFill>
                          <a:latin typeface="Calibri"/>
                          <a:cs typeface="Calibri"/>
                        </a:rPr>
                        <a:t>Scheduler working memory, holds DMA descriptors</a:t>
                      </a:r>
                    </a:p>
                  </a:txBody>
                  <a:tcPr anchor="ctr"/>
                </a:tc>
                <a:extLst>
                  <a:ext uri="{0D108BD9-81ED-4DB2-BD59-A6C34878D82A}">
                    <a16:rowId xmlns:a16="http://schemas.microsoft.com/office/drawing/2014/main" val="914288209"/>
                  </a:ext>
                </a:extLst>
              </a:tr>
              <a:tr h="558800">
                <a:tc>
                  <a:txBody>
                    <a:bodyPr/>
                    <a:lstStyle/>
                    <a:p>
                      <a:pPr algn="l"/>
                      <a:r>
                        <a:rPr lang="zh-TW" altLang="en-US" sz="1500" b="0">
                          <a:solidFill>
                            <a:srgbClr val="000000"/>
                          </a:solidFill>
                          <a:latin typeface="Calibri"/>
                          <a:cs typeface="Calibri"/>
                        </a:rPr>
                        <a:t>Tile 3D DRAM</a:t>
                      </a:r>
                    </a:p>
                  </a:txBody>
                  <a:tcPr anchor="ctr"/>
                </a:tc>
                <a:tc>
                  <a:txBody>
                    <a:bodyPr/>
                    <a:lstStyle/>
                    <a:p>
                      <a:pPr algn="l"/>
                      <a:r>
                        <a:rPr lang="zh-TW" altLang="en-US" sz="1500" b="0">
                          <a:solidFill>
                            <a:srgbClr val="000000"/>
                          </a:solidFill>
                          <a:latin typeface="Calibri"/>
                          <a:cs typeface="Calibri"/>
                        </a:rPr>
                        <a:t>Every mesh tile</a:t>
                      </a:r>
                    </a:p>
                  </a:txBody>
                  <a:tcPr anchor="ctr"/>
                </a:tc>
                <a:tc>
                  <a:txBody>
                    <a:bodyPr/>
                    <a:lstStyle/>
                    <a:p>
                      <a:pPr algn="l"/>
                      <a:r>
                        <a:rPr lang="zh-TW" altLang="en-US" sz="1500" b="0">
                          <a:solidFill>
                            <a:srgbClr val="000000"/>
                          </a:solidFill>
                          <a:latin typeface="Calibri"/>
                          <a:cs typeface="Calibri"/>
                        </a:rPr>
                        <a:t>Near-memory tier. Resident weights, the tile's Q, K, V, O blocks, and hot KV cache. Tile-local, so a source-tile load generates no NoC traffic</a:t>
                      </a:r>
                    </a:p>
                  </a:txBody>
                  <a:tcPr anchor="ctr"/>
                </a:tc>
                <a:extLst>
                  <a:ext uri="{0D108BD9-81ED-4DB2-BD59-A6C34878D82A}">
                    <a16:rowId xmlns:a16="http://schemas.microsoft.com/office/drawing/2014/main" val="1051366682"/>
                  </a:ext>
                </a:extLst>
              </a:tr>
              <a:tr h="558800">
                <a:tc>
                  <a:txBody>
                    <a:bodyPr/>
                    <a:lstStyle/>
                    <a:p>
                      <a:pPr algn="l"/>
                      <a:r>
                        <a:rPr lang="zh-TW" altLang="en-US" sz="1500" b="0">
                          <a:solidFill>
                            <a:srgbClr val="000000"/>
                          </a:solidFill>
                          <a:latin typeface="Calibri"/>
                          <a:cs typeface="Calibri"/>
                        </a:rPr>
                        <a:t>L1</a:t>
                      </a:r>
                    </a:p>
                  </a:txBody>
                  <a:tcPr anchor="ctr"/>
                </a:tc>
                <a:tc>
                  <a:txBody>
                    <a:bodyPr/>
                    <a:lstStyle/>
                    <a:p>
                      <a:pPr algn="l"/>
                      <a:r>
                        <a:rPr lang="zh-TW" altLang="en-US" sz="1500" b="0">
                          <a:solidFill>
                            <a:srgbClr val="000000"/>
                          </a:solidFill>
                          <a:latin typeface="Calibri"/>
                          <a:cs typeface="Calibri"/>
                        </a:rPr>
                        <a:t>Inside the NPU</a:t>
                      </a:r>
                    </a:p>
                  </a:txBody>
                  <a:tcPr anchor="ctr"/>
                </a:tc>
                <a:tc>
                  <a:txBody>
                    <a:bodyPr/>
                    <a:lstStyle/>
                    <a:p>
                      <a:pPr algn="l"/>
                      <a:r>
                        <a:rPr lang="zh-TW" altLang="en-US" sz="1500" b="0">
                          <a:solidFill>
                            <a:srgbClr val="000000"/>
                          </a:solidFill>
                          <a:latin typeface="Calibri"/>
                          <a:cs typeface="Calibri"/>
                        </a:rPr>
                        <a:t>Compute scratchpad. Sub-tiles, partial sums, and online-softmax state, filled by tiling with double buffering</a:t>
                      </a:r>
                    </a:p>
                  </a:txBody>
                  <a:tcPr anchor="ctr"/>
                </a:tc>
                <a:extLst>
                  <a:ext uri="{0D108BD9-81ED-4DB2-BD59-A6C34878D82A}">
                    <a16:rowId xmlns:a16="http://schemas.microsoft.com/office/drawing/2014/main" val="3265834198"/>
                  </a:ext>
                </a:extLst>
              </a:tr>
            </a:tbl>
          </a:graphicData>
        </a:graphic>
      </p:graphicFrame>
    </p:spTree>
    <p:extLst>
      <p:ext uri="{BB962C8B-B14F-4D97-AF65-F5344CB8AC3E}">
        <p14:creationId xmlns:p14="http://schemas.microsoft.com/office/powerpoint/2010/main" val="25393484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圖片 8">
            <a:extLst>
              <a:ext uri="{FF2B5EF4-FFF2-40B4-BE49-F238E27FC236}">
                <a16:creationId xmlns:a16="http://schemas.microsoft.com/office/drawing/2014/main" id="{4E4731D7-3640-2BDD-85AB-4CADC3FEDDAE}"/>
              </a:ext>
            </a:extLst>
          </p:cNvPr>
          <p:cNvPicPr>
            <a:picLocks noChangeAspect="1"/>
          </p:cNvPicPr>
          <p:nvPr/>
        </p:nvPicPr>
        <p:blipFill>
          <a:blip r:embed="rId2"/>
          <a:stretch>
            <a:fillRect/>
          </a:stretch>
        </p:blipFill>
        <p:spPr>
          <a:xfrm>
            <a:off x="84047" y="1663509"/>
            <a:ext cx="7756706" cy="4889863"/>
          </a:xfrm>
          <a:prstGeom prst="rect">
            <a:avLst/>
          </a:prstGeom>
        </p:spPr>
      </p:pic>
      <p:sp>
        <p:nvSpPr>
          <p:cNvPr id="2" name="標題 1">
            <a:extLst>
              <a:ext uri="{FF2B5EF4-FFF2-40B4-BE49-F238E27FC236}">
                <a16:creationId xmlns:a16="http://schemas.microsoft.com/office/drawing/2014/main" id="{CBEF51C2-19CD-CA41-777F-3C3EAE25B960}"/>
              </a:ext>
            </a:extLst>
          </p:cNvPr>
          <p:cNvSpPr>
            <a:spLocks noGrp="1"/>
          </p:cNvSpPr>
          <p:nvPr>
            <p:ph type="title"/>
          </p:nvPr>
        </p:nvSpPr>
        <p:spPr>
          <a:xfrm>
            <a:off x="533400" y="228600"/>
            <a:ext cx="4461933" cy="584200"/>
          </a:xfrm>
        </p:spPr>
        <p:txBody>
          <a:bodyPr/>
          <a:lstStyle/>
          <a:p>
            <a:pPr marL="0" indent="0" algn="l">
              <a:buNone/>
            </a:pPr>
            <a:r>
              <a:rPr lang="en-US" altLang="zh-TW" sz="3200" b="1" dirty="0">
                <a:solidFill>
                  <a:srgbClr val="000000"/>
                </a:solidFill>
                <a:latin typeface="Calibri"/>
                <a:ea typeface="微軟正黑體"/>
              </a:rPr>
              <a:t>Tiled attention dataflow</a:t>
            </a:r>
          </a:p>
        </p:txBody>
      </p:sp>
      <p:sp>
        <p:nvSpPr>
          <p:cNvPr id="3" name="投影片編號版面配置區 2">
            <a:extLst>
              <a:ext uri="{FF2B5EF4-FFF2-40B4-BE49-F238E27FC236}">
                <a16:creationId xmlns:a16="http://schemas.microsoft.com/office/drawing/2014/main" id="{0DFA61AD-5778-6737-4A40-A0C0A4E5A570}"/>
              </a:ext>
            </a:extLst>
          </p:cNvPr>
          <p:cNvSpPr>
            <a:spLocks noGrp="1"/>
          </p:cNvSpPr>
          <p:nvPr>
            <p:ph type="sldNum" sz="quarter" idx="10"/>
          </p:nvPr>
        </p:nvSpPr>
        <p:spPr/>
        <p:txBody>
          <a:bodyPr/>
          <a:lstStyle/>
          <a:p>
            <a:pPr>
              <a:defRPr/>
            </a:pPr>
            <a:fld id="{1A71FFAD-F905-4792-971B-681FA4F61CA8}" type="slidenum">
              <a:rPr lang="en-US" altLang="zh-TW" smtClean="0"/>
              <a:pPr>
                <a:defRPr/>
              </a:pPr>
              <a:t>24</a:t>
            </a:fld>
            <a:endParaRPr lang="en-US" altLang="zh-TW"/>
          </a:p>
        </p:txBody>
      </p:sp>
      <p:sp>
        <p:nvSpPr>
          <p:cNvPr id="4" name="Intro">
            <a:extLst>
              <a:ext uri="{FF2B5EF4-FFF2-40B4-BE49-F238E27FC236}">
                <a16:creationId xmlns:a16="http://schemas.microsoft.com/office/drawing/2014/main" id="{E1843420-2838-4FC2-B18A-3F7BC8DB4E88}"/>
              </a:ext>
            </a:extLst>
          </p:cNvPr>
          <p:cNvSpPr txBox="1"/>
          <p:nvPr/>
        </p:nvSpPr>
        <p:spPr>
          <a:xfrm>
            <a:off x="316410" y="989347"/>
            <a:ext cx="11791543" cy="685800"/>
          </a:xfrm>
          <a:prstGeom prst="rect">
            <a:avLst/>
          </a:prstGeom>
          <a:noFill/>
        </p:spPr>
        <p:txBody>
          <a:bodyPr vertOverflow="overflow" vert="horz" wrap="square" rtlCol="0" anchor="t">
            <a:noAutofit/>
          </a:bodyPr>
          <a:lstStyle/>
          <a:p>
            <a:pPr marL="0" indent="0">
              <a:buNone/>
            </a:pPr>
            <a:r>
              <a:rPr lang="zh-TW" altLang="zh-TW" sz="2000" dirty="0">
                <a:solidFill>
                  <a:srgbClr val="000000"/>
                </a:solidFill>
                <a:latin typeface="Calibri" panose="020F0502020204030204" pitchFamily="34" charset="0"/>
                <a:cs typeface="Calibri" panose="020F0502020204030204" pitchFamily="34" charset="0"/>
              </a:rPr>
              <a:t>Three algorithms specify the dataflow: model-level execution flow at the run level, and the attention block it invokes as per-tile fetch or multicast, differing only in how shared operands reach the tile group.</a:t>
            </a:r>
            <a:endParaRPr lang="en-US" altLang="zh-TW" sz="24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5" name="Mapping">
            <a:extLst>
              <a:ext uri="{FF2B5EF4-FFF2-40B4-BE49-F238E27FC236}">
                <a16:creationId xmlns:a16="http://schemas.microsoft.com/office/drawing/2014/main" id="{03F537A2-3F6B-4683-89B9-A8A8224364E7}"/>
              </a:ext>
            </a:extLst>
          </p:cNvPr>
          <p:cNvSpPr txBox="1"/>
          <p:nvPr/>
        </p:nvSpPr>
        <p:spPr>
          <a:xfrm>
            <a:off x="7364384" y="2699320"/>
            <a:ext cx="4548216" cy="1358882"/>
          </a:xfrm>
          <a:prstGeom prst="rect">
            <a:avLst/>
          </a:prstGeom>
          <a:noFill/>
        </p:spPr>
        <p:txBody>
          <a:bodyPr vertOverflow="overflow" vert="horz" wrap="square" rtlCol="0" anchor="t">
            <a:noAutofit/>
          </a:bodyPr>
          <a:lstStyle/>
          <a:p>
            <a:pPr marL="0" indent="0" algn="ctr">
              <a:spcBef>
                <a:spcPts val="0"/>
              </a:spcBef>
              <a:buNone/>
            </a:pPr>
            <a:r>
              <a:rPr lang="en-US" altLang="zh-TW" sz="2000" b="1" dirty="0">
                <a:solidFill>
                  <a:srgbClr val="000000"/>
                </a:solidFill>
                <a:latin typeface="Calibri" panose="020F0502020204030204" pitchFamily="34" charset="0"/>
                <a:ea typeface="微軟正黑體"/>
                <a:cs typeface="Calibri" panose="020F0502020204030204" pitchFamily="34" charset="0"/>
              </a:rPr>
              <a:t>Attention block mapping</a:t>
            </a:r>
          </a:p>
          <a:p>
            <a:pPr>
              <a:spcBef>
                <a:spcPts val="300"/>
              </a:spcBef>
            </a:pPr>
            <a:r>
              <a:rPr lang="en-US" altLang="zh-TW" sz="1800" dirty="0">
                <a:solidFill>
                  <a:srgbClr val="000000"/>
                </a:solidFill>
                <a:latin typeface="Calibri" panose="020F0502020204030204" pitchFamily="34" charset="0"/>
                <a:ea typeface="微軟正黑體"/>
                <a:cs typeface="Calibri" panose="020F0502020204030204" pitchFamily="34" charset="0"/>
              </a:rPr>
              <a:t>A tile group computes one attention block: the score grid S = Q K^T maps onto the mesh, rows share Q, columns share K/V</a:t>
            </a:r>
          </a:p>
        </p:txBody>
      </p:sp>
      <p:sp>
        <p:nvSpPr>
          <p:cNvPr id="7" name="FigCap">
            <a:extLst>
              <a:ext uri="{FF2B5EF4-FFF2-40B4-BE49-F238E27FC236}">
                <a16:creationId xmlns:a16="http://schemas.microsoft.com/office/drawing/2014/main" id="{69606AA4-7DF9-482B-ACEA-64028833DBD2}"/>
              </a:ext>
            </a:extLst>
          </p:cNvPr>
          <p:cNvSpPr txBox="1"/>
          <p:nvPr/>
        </p:nvSpPr>
        <p:spPr>
          <a:xfrm>
            <a:off x="1970151" y="6441258"/>
            <a:ext cx="4548215" cy="357239"/>
          </a:xfrm>
          <a:prstGeom prst="rect">
            <a:avLst/>
          </a:prstGeom>
          <a:noFill/>
        </p:spPr>
        <p:txBody>
          <a:bodyPr vertOverflow="overflow" vert="horz" wrap="square" rtlCol="0" anchor="t">
            <a:noAutofit/>
          </a:bodyPr>
          <a:lstStyle/>
          <a:p>
            <a:pPr marL="0" indent="0" algn="ctr">
              <a:buNone/>
            </a:pPr>
            <a:r>
              <a:rPr lang="en-US" altLang="zh-TW" sz="1600" dirty="0">
                <a:solidFill>
                  <a:srgbClr val="000000"/>
                </a:solidFill>
                <a:latin typeface="Calibri" panose="020F0502020204030204" pitchFamily="34" charset="0"/>
                <a:ea typeface="微軟正黑體"/>
                <a:cs typeface="Calibri" panose="020F0502020204030204" pitchFamily="34" charset="0"/>
              </a:rPr>
              <a:t>Attention block mapping onto a 4 x 4 tile group</a:t>
            </a:r>
          </a:p>
        </p:txBody>
      </p:sp>
      <p:sp>
        <p:nvSpPr>
          <p:cNvPr id="12" name="箭號: 向右 11">
            <a:extLst>
              <a:ext uri="{FF2B5EF4-FFF2-40B4-BE49-F238E27FC236}">
                <a16:creationId xmlns:a16="http://schemas.microsoft.com/office/drawing/2014/main" id="{D9E34787-488F-A13B-ACE3-218180F17C36}"/>
              </a:ext>
            </a:extLst>
          </p:cNvPr>
          <p:cNvSpPr/>
          <p:nvPr/>
        </p:nvSpPr>
        <p:spPr bwMode="auto">
          <a:xfrm rot="10800000">
            <a:off x="6484174" y="3279357"/>
            <a:ext cx="653226" cy="519230"/>
          </a:xfrm>
          <a:prstGeom prst="rightArrow">
            <a:avLst/>
          </a:prstGeom>
          <a:solidFill>
            <a:schemeClr val="accent6">
              <a:lumMod val="75000"/>
              <a:lumOff val="2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0" i="0" u="none" strike="noStrike" cap="none" normalizeH="0" baseline="0">
              <a:ln>
                <a:noFill/>
              </a:ln>
              <a:solidFill>
                <a:schemeClr val="tx1"/>
              </a:solidFill>
              <a:effectLst/>
              <a:latin typeface="Arial" charset="0"/>
              <a:ea typeface="新細明體" pitchFamily="18" charset="-120"/>
            </a:endParaRPr>
          </a:p>
        </p:txBody>
      </p:sp>
    </p:spTree>
    <p:extLst>
      <p:ext uri="{BB962C8B-B14F-4D97-AF65-F5344CB8AC3E}">
        <p14:creationId xmlns:p14="http://schemas.microsoft.com/office/powerpoint/2010/main" val="18728428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BD0FCE4-EC22-562A-BCCF-8FAAA9B74B84}"/>
              </a:ext>
            </a:extLst>
          </p:cNvPr>
          <p:cNvSpPr>
            <a:spLocks noGrp="1"/>
          </p:cNvSpPr>
          <p:nvPr>
            <p:ph type="title"/>
          </p:nvPr>
        </p:nvSpPr>
        <p:spPr>
          <a:xfrm>
            <a:off x="533400" y="228600"/>
            <a:ext cx="11176000" cy="584200"/>
          </a:xfrm>
        </p:spPr>
        <p:txBody>
          <a:bodyPr/>
          <a:lstStyle/>
          <a:p>
            <a:pPr marL="0" indent="0" algn="l">
              <a:buNone/>
            </a:pPr>
            <a:r>
              <a:rPr lang="en-US" altLang="zh-TW" sz="3200" b="1" dirty="0">
                <a:solidFill>
                  <a:srgbClr val="000000"/>
                </a:solidFill>
                <a:latin typeface="Calibri"/>
                <a:ea typeface="微軟正黑體"/>
              </a:rPr>
              <a:t>Model-level execution flow</a:t>
            </a:r>
          </a:p>
        </p:txBody>
      </p:sp>
      <p:sp>
        <p:nvSpPr>
          <p:cNvPr id="3" name="投影片編號版面配置區 2">
            <a:extLst>
              <a:ext uri="{FF2B5EF4-FFF2-40B4-BE49-F238E27FC236}">
                <a16:creationId xmlns:a16="http://schemas.microsoft.com/office/drawing/2014/main" id="{133094F5-86C0-3B5E-A55D-6BE3DB1FF156}"/>
              </a:ext>
            </a:extLst>
          </p:cNvPr>
          <p:cNvSpPr>
            <a:spLocks noGrp="1"/>
          </p:cNvSpPr>
          <p:nvPr>
            <p:ph type="sldNum" sz="quarter" idx="10"/>
          </p:nvPr>
        </p:nvSpPr>
        <p:spPr/>
        <p:txBody>
          <a:bodyPr/>
          <a:lstStyle/>
          <a:p>
            <a:pPr>
              <a:defRPr/>
            </a:pPr>
            <a:fld id="{1A71FFAD-F905-4792-971B-681FA4F61CA8}" type="slidenum">
              <a:rPr lang="en-US" altLang="zh-TW" smtClean="0"/>
              <a:pPr>
                <a:defRPr/>
              </a:pPr>
              <a:t>25</a:t>
            </a:fld>
            <a:endParaRPr lang="en-US" altLang="zh-TW"/>
          </a:p>
        </p:txBody>
      </p:sp>
      <p:pic>
        <p:nvPicPr>
          <p:cNvPr id="10" name="圖片 9">
            <a:extLst>
              <a:ext uri="{FF2B5EF4-FFF2-40B4-BE49-F238E27FC236}">
                <a16:creationId xmlns:a16="http://schemas.microsoft.com/office/drawing/2014/main" id="{FC51A81B-984F-9C06-E1FE-734E276F5EE0}"/>
              </a:ext>
            </a:extLst>
          </p:cNvPr>
          <p:cNvPicPr>
            <a:picLocks noChangeAspect="1"/>
          </p:cNvPicPr>
          <p:nvPr/>
        </p:nvPicPr>
        <p:blipFill>
          <a:blip r:embed="rId2"/>
          <a:stretch>
            <a:fillRect/>
          </a:stretch>
        </p:blipFill>
        <p:spPr>
          <a:xfrm>
            <a:off x="1580896" y="3123782"/>
            <a:ext cx="9336086" cy="3175418"/>
          </a:xfrm>
          <a:prstGeom prst="rect">
            <a:avLst/>
          </a:prstGeom>
        </p:spPr>
      </p:pic>
      <p:sp>
        <p:nvSpPr>
          <p:cNvPr id="12" name="文字方塊 11">
            <a:extLst>
              <a:ext uri="{FF2B5EF4-FFF2-40B4-BE49-F238E27FC236}">
                <a16:creationId xmlns:a16="http://schemas.microsoft.com/office/drawing/2014/main" id="{4719D50B-8BF8-EDFB-FAD4-9FF93DB91412}"/>
              </a:ext>
            </a:extLst>
          </p:cNvPr>
          <p:cNvSpPr txBox="1"/>
          <p:nvPr/>
        </p:nvSpPr>
        <p:spPr>
          <a:xfrm>
            <a:off x="829733" y="1120017"/>
            <a:ext cx="9652000" cy="1908215"/>
          </a:xfrm>
          <a:prstGeom prst="rect">
            <a:avLst/>
          </a:prstGeom>
          <a:noFill/>
        </p:spPr>
        <p:txBody>
          <a:bodyPr wrap="square">
            <a:spAutoFit/>
          </a:bodyPr>
          <a:lstStyle/>
          <a:p>
            <a:pPr indent="0" algn="l">
              <a:spcAft>
                <a:spcPts val="1200"/>
              </a:spcAft>
              <a:buNone/>
            </a:pPr>
            <a:r>
              <a:rPr lang="zh-TW" altLang="zh-TW" b="1" i="0" dirty="0">
                <a:solidFill>
                  <a:srgbClr val="000000"/>
                </a:solidFill>
                <a:effectLst/>
                <a:latin typeface="Calibri" panose="020F0502020204030204" pitchFamily="34" charset="0"/>
                <a:cs typeface="Calibri" panose="020F0502020204030204" pitchFamily="34" charset="0"/>
              </a:rPr>
              <a:t>Weights load once into per-tile 3D DRAM and stay resident, no layer fetches weights over the fabric. A layer puts two traffic classes on the fabric:</a:t>
            </a:r>
          </a:p>
          <a:p>
            <a:pPr marL="342900" lvl="0" indent="-342900" algn="l">
              <a:buFont typeface="Arial" panose="020B0604020202020204" pitchFamily="34" charset="0"/>
              <a:buChar char="•"/>
            </a:pPr>
            <a:r>
              <a:rPr lang="zh-TW" altLang="zh-TW" b="0" i="0" dirty="0">
                <a:solidFill>
                  <a:srgbClr val="000000"/>
                </a:solidFill>
                <a:effectLst/>
                <a:latin typeface="Calibri" panose="020F0502020204030204" pitchFamily="34" charset="0"/>
                <a:cs typeface="Calibri" panose="020F0502020204030204" pitchFamily="34" charset="0"/>
              </a:rPr>
              <a:t>Feature pipeline: activations passed to the next layer, on the data plane.</a:t>
            </a:r>
          </a:p>
          <a:p>
            <a:pPr marL="342900" lvl="0" indent="-342900" algn="l">
              <a:buFont typeface="Arial" panose="020B0604020202020204" pitchFamily="34" charset="0"/>
              <a:buChar char="•"/>
            </a:pPr>
            <a:r>
              <a:rPr lang="zh-TW" altLang="zh-TW" b="0" i="0" dirty="0">
                <a:solidFill>
                  <a:srgbClr val="000000"/>
                </a:solidFill>
                <a:effectLst/>
                <a:latin typeface="Calibri" panose="020F0502020204030204" pitchFamily="34" charset="0"/>
                <a:cs typeface="Calibri" panose="020F0502020204030204" pitchFamily="34" charset="0"/>
              </a:rPr>
              <a:t>Scheduler control: per-group start and done messages, on the narrow control plane.</a:t>
            </a:r>
          </a:p>
          <a:p>
            <a:pPr indent="0" algn="l">
              <a:spcAft>
                <a:spcPts val="1200"/>
              </a:spcAft>
              <a:buNone/>
            </a:pPr>
            <a:r>
              <a:rPr lang="zh-TW" altLang="zh-TW" b="0" i="0" dirty="0">
                <a:solidFill>
                  <a:srgbClr val="000000"/>
                </a:solidFill>
                <a:effectLst/>
                <a:latin typeface="Calibri" panose="020F0502020204030204" pitchFamily="34" charset="0"/>
                <a:cs typeface="Calibri" panose="020F0502020204030204" pitchFamily="34" charset="0"/>
              </a:rPr>
              <a:t>Layers map to tile groups round-robin as pipeline stages. A group holds the weights and KV cache of its layers, so only the activations </a:t>
            </a:r>
            <a:r>
              <a:rPr lang="zh-TW" altLang="zh-TW" b="0" i="0" dirty="0">
                <a:solidFill>
                  <a:srgbClr val="A31515"/>
                </a:solidFill>
                <a:effectLst/>
                <a:latin typeface="Calibri" panose="020F0502020204030204" pitchFamily="34" charset="0"/>
                <a:cs typeface="Calibri" panose="020F0502020204030204" pitchFamily="34" charset="0"/>
              </a:rPr>
              <a:t>X</a:t>
            </a:r>
            <a:r>
              <a:rPr lang="zh-TW" altLang="zh-TW" b="0" i="0" dirty="0">
                <a:solidFill>
                  <a:srgbClr val="000000"/>
                </a:solidFill>
                <a:effectLst/>
                <a:latin typeface="Calibri" panose="020F0502020204030204" pitchFamily="34" charset="0"/>
                <a:cs typeface="Calibri" panose="020F0502020204030204" pitchFamily="34" charset="0"/>
              </a:rPr>
              <a:t> cross group boundaries:</a:t>
            </a:r>
          </a:p>
        </p:txBody>
      </p:sp>
    </p:spTree>
    <p:extLst>
      <p:ext uri="{BB962C8B-B14F-4D97-AF65-F5344CB8AC3E}">
        <p14:creationId xmlns:p14="http://schemas.microsoft.com/office/powerpoint/2010/main" val="38099918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AB9E44-1194-7BEE-B852-2855D0925B18}"/>
              </a:ext>
            </a:extLst>
          </p:cNvPr>
          <p:cNvSpPr>
            <a:spLocks noGrp="1"/>
          </p:cNvSpPr>
          <p:nvPr>
            <p:ph type="title"/>
          </p:nvPr>
        </p:nvSpPr>
        <p:spPr>
          <a:xfrm>
            <a:off x="533400" y="228600"/>
            <a:ext cx="11176000" cy="584200"/>
          </a:xfrm>
        </p:spPr>
        <p:txBody>
          <a:bodyPr/>
          <a:lstStyle/>
          <a:p>
            <a:pPr marL="0" indent="0" algn="l">
              <a:buNone/>
            </a:pPr>
            <a:r>
              <a:rPr lang="en-US" altLang="zh-TW" sz="3200" b="1" dirty="0">
                <a:solidFill>
                  <a:srgbClr val="000000"/>
                </a:solidFill>
                <a:latin typeface="Calibri"/>
                <a:ea typeface="微軟正黑體"/>
              </a:rPr>
              <a:t>Algorithms 1 and 2</a:t>
            </a:r>
          </a:p>
        </p:txBody>
      </p:sp>
      <p:sp>
        <p:nvSpPr>
          <p:cNvPr id="3" name="投影片編號版面配置區 2">
            <a:extLst>
              <a:ext uri="{FF2B5EF4-FFF2-40B4-BE49-F238E27FC236}">
                <a16:creationId xmlns:a16="http://schemas.microsoft.com/office/drawing/2014/main" id="{F64BFF7B-4570-F0CC-7081-29BF7A842058}"/>
              </a:ext>
            </a:extLst>
          </p:cNvPr>
          <p:cNvSpPr>
            <a:spLocks noGrp="1"/>
          </p:cNvSpPr>
          <p:nvPr>
            <p:ph type="sldNum" sz="quarter" idx="10"/>
          </p:nvPr>
        </p:nvSpPr>
        <p:spPr/>
        <p:txBody>
          <a:bodyPr/>
          <a:lstStyle/>
          <a:p>
            <a:pPr>
              <a:defRPr/>
            </a:pPr>
            <a:fld id="{1A71FFAD-F905-4792-971B-681FA4F61CA8}" type="slidenum">
              <a:rPr lang="en-US" altLang="zh-TW" smtClean="0"/>
              <a:pPr>
                <a:defRPr/>
              </a:pPr>
              <a:t>26</a:t>
            </a:fld>
            <a:endParaRPr lang="en-US" altLang="zh-TW"/>
          </a:p>
        </p:txBody>
      </p:sp>
      <p:sp>
        <p:nvSpPr>
          <p:cNvPr id="4" name="Body">
            <a:extLst>
              <a:ext uri="{FF2B5EF4-FFF2-40B4-BE49-F238E27FC236}">
                <a16:creationId xmlns:a16="http://schemas.microsoft.com/office/drawing/2014/main" id="{8A338615-1042-47EE-92AE-D640011F39D4}"/>
              </a:ext>
            </a:extLst>
          </p:cNvPr>
          <p:cNvSpPr txBox="1"/>
          <p:nvPr/>
        </p:nvSpPr>
        <p:spPr>
          <a:xfrm>
            <a:off x="508000" y="1219200"/>
            <a:ext cx="11226800" cy="4826000"/>
          </a:xfrm>
          <a:prstGeom prst="rect">
            <a:avLst/>
          </a:prstGeom>
          <a:noFill/>
        </p:spPr>
        <p:txBody>
          <a:bodyPr vertOverflow="overflow" vert="horz" wrap="square" rtlCol="0" anchor="t">
            <a:noAutofit/>
          </a:bodyPr>
          <a:lstStyle/>
          <a:p>
            <a:pPr marL="0" indent="0">
              <a:spcBef>
                <a:spcPts val="600"/>
              </a:spcBef>
              <a:buNone/>
            </a:pPr>
            <a:r>
              <a:rPr lang="en-US" altLang="zh-TW" sz="1800" dirty="0">
                <a:solidFill>
                  <a:srgbClr val="000000"/>
                </a:solidFill>
                <a:latin typeface="Calibri" panose="020F0502020204030204" pitchFamily="34" charset="0"/>
                <a:ea typeface="微軟正黑體"/>
                <a:cs typeface="Calibri" panose="020F0502020204030204" pitchFamily="34" charset="0"/>
              </a:rPr>
              <a:t>Algorithms 1 and 2 differ in one place, how a shared slice reaches its consumers:</a:t>
            </a:r>
          </a:p>
          <a:p>
            <a:pPr marL="228600" indent="-228600">
              <a:spcBef>
                <a:spcPts val="400"/>
              </a:spcBef>
              <a:buFont typeface="Arial" panose="020B0604020202020204" pitchFamily="34" charset="0"/>
              <a:buChar char="•"/>
            </a:pPr>
            <a:r>
              <a:rPr lang="en-US" altLang="zh-TW" sz="1800" dirty="0">
                <a:solidFill>
                  <a:srgbClr val="000000"/>
                </a:solidFill>
                <a:latin typeface="Calibri" panose="020F0502020204030204" pitchFamily="34" charset="0"/>
                <a:ea typeface="微軟正黑體"/>
                <a:cs typeface="Calibri" panose="020F0502020204030204" pitchFamily="34" charset="0"/>
              </a:rPr>
              <a:t>Algorithm 1 (per-tile fetch): every consumer tile pulls the slice itself, Gx unicast reads per Q slice and Gy per K/V slice (lines 5 and 7)</a:t>
            </a:r>
          </a:p>
          <a:p>
            <a:pPr marL="228600" indent="-228600">
              <a:spcBef>
                <a:spcPts val="400"/>
              </a:spcBef>
              <a:buFont typeface="Arial" panose="020B0604020202020204" pitchFamily="34" charset="0"/>
              <a:buChar char="•"/>
            </a:pPr>
            <a:r>
              <a:rPr lang="en-US" altLang="zh-TW" sz="1800" dirty="0">
                <a:solidFill>
                  <a:srgbClr val="000000"/>
                </a:solidFill>
                <a:latin typeface="Calibri" panose="020F0502020204030204" pitchFamily="34" charset="0"/>
                <a:ea typeface="微軟正黑體"/>
                <a:cs typeface="Calibri" panose="020F0502020204030204" pitchFamily="34" charset="0"/>
              </a:rPr>
              <a:t>Algorithm 2 (multicast): the source tile reads its slice locally once and multicasts it, one transfer per slice (lines 5-6 and 8-9)</a:t>
            </a:r>
          </a:p>
          <a:p>
            <a:pPr marL="0" indent="0">
              <a:spcBef>
                <a:spcPts val="600"/>
              </a:spcBef>
              <a:buNone/>
            </a:pPr>
            <a:r>
              <a:rPr lang="en-US" altLang="zh-TW" sz="1800" dirty="0">
                <a:solidFill>
                  <a:srgbClr val="000000"/>
                </a:solidFill>
                <a:latin typeface="Calibri" panose="020F0502020204030204" pitchFamily="34" charset="0"/>
                <a:ea typeface="微軟正黑體"/>
                <a:cs typeface="Calibri" panose="020F0502020204030204" pitchFamily="34" charset="0"/>
              </a:rPr>
              <a:t>In both figures the comments mark plane use: data for the Q, K, V, O tensors, narrow for the m and l statistics, local read/write for 3D DRAM accesses that generate no NoC traffic.</a:t>
            </a:r>
          </a:p>
        </p:txBody>
      </p:sp>
      <p:pic>
        <p:nvPicPr>
          <p:cNvPr id="6" name="圖片 5">
            <a:extLst>
              <a:ext uri="{FF2B5EF4-FFF2-40B4-BE49-F238E27FC236}">
                <a16:creationId xmlns:a16="http://schemas.microsoft.com/office/drawing/2014/main" id="{3ADADF4B-D086-6F64-FD72-4C9566103654}"/>
              </a:ext>
            </a:extLst>
          </p:cNvPr>
          <p:cNvPicPr>
            <a:picLocks noChangeAspect="1"/>
          </p:cNvPicPr>
          <p:nvPr/>
        </p:nvPicPr>
        <p:blipFill>
          <a:blip r:embed="rId2"/>
          <a:stretch>
            <a:fillRect/>
          </a:stretch>
        </p:blipFill>
        <p:spPr>
          <a:xfrm>
            <a:off x="2565504" y="3485634"/>
            <a:ext cx="7060992" cy="3143766"/>
          </a:xfrm>
          <a:prstGeom prst="rect">
            <a:avLst/>
          </a:prstGeom>
        </p:spPr>
      </p:pic>
    </p:spTree>
    <p:extLst>
      <p:ext uri="{BB962C8B-B14F-4D97-AF65-F5344CB8AC3E}">
        <p14:creationId xmlns:p14="http://schemas.microsoft.com/office/powerpoint/2010/main" val="14287990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B6D982D-A619-67AA-15AF-1294FBE0ABCA}"/>
              </a:ext>
            </a:extLst>
          </p:cNvPr>
          <p:cNvSpPr>
            <a:spLocks noGrp="1"/>
          </p:cNvSpPr>
          <p:nvPr>
            <p:ph type="title"/>
          </p:nvPr>
        </p:nvSpPr>
        <p:spPr>
          <a:xfrm>
            <a:off x="433467" y="537634"/>
            <a:ext cx="3031066" cy="584200"/>
          </a:xfrm>
        </p:spPr>
        <p:txBody>
          <a:bodyPr/>
          <a:lstStyle/>
          <a:p>
            <a:pPr marL="0" indent="0" algn="l">
              <a:buNone/>
            </a:pPr>
            <a:r>
              <a:rPr lang="en-US" altLang="zh-TW" sz="3200" b="1" dirty="0">
                <a:solidFill>
                  <a:srgbClr val="000000"/>
                </a:solidFill>
                <a:latin typeface="Calibri"/>
                <a:ea typeface="微軟正黑體"/>
              </a:rPr>
              <a:t>Algorithm 1  Per-tile fetch</a:t>
            </a:r>
          </a:p>
        </p:txBody>
      </p:sp>
      <p:sp>
        <p:nvSpPr>
          <p:cNvPr id="3" name="投影片編號版面配置區 2">
            <a:extLst>
              <a:ext uri="{FF2B5EF4-FFF2-40B4-BE49-F238E27FC236}">
                <a16:creationId xmlns:a16="http://schemas.microsoft.com/office/drawing/2014/main" id="{B2DBC2BE-6BD3-CA12-BFDD-006FEF6E5D07}"/>
              </a:ext>
            </a:extLst>
          </p:cNvPr>
          <p:cNvSpPr>
            <a:spLocks noGrp="1"/>
          </p:cNvSpPr>
          <p:nvPr>
            <p:ph type="sldNum" sz="quarter" idx="10"/>
          </p:nvPr>
        </p:nvSpPr>
        <p:spPr/>
        <p:txBody>
          <a:bodyPr/>
          <a:lstStyle/>
          <a:p>
            <a:pPr>
              <a:defRPr/>
            </a:pPr>
            <a:fld id="{1A71FFAD-F905-4792-971B-681FA4F61CA8}" type="slidenum">
              <a:rPr lang="en-US" altLang="zh-TW" smtClean="0"/>
              <a:pPr>
                <a:defRPr/>
              </a:pPr>
              <a:t>27</a:t>
            </a:fld>
            <a:endParaRPr lang="en-US" altLang="zh-TW"/>
          </a:p>
        </p:txBody>
      </p:sp>
      <p:sp>
        <p:nvSpPr>
          <p:cNvPr id="6" name="AlgNote">
            <a:extLst>
              <a:ext uri="{FF2B5EF4-FFF2-40B4-BE49-F238E27FC236}">
                <a16:creationId xmlns:a16="http://schemas.microsoft.com/office/drawing/2014/main" id="{6AE4847A-3BC1-472F-B7FD-80FC2DD6B689}"/>
              </a:ext>
            </a:extLst>
          </p:cNvPr>
          <p:cNvSpPr txBox="1"/>
          <p:nvPr/>
        </p:nvSpPr>
        <p:spPr>
          <a:xfrm>
            <a:off x="136578" y="2514600"/>
            <a:ext cx="3793067" cy="1371600"/>
          </a:xfrm>
          <a:prstGeom prst="rect">
            <a:avLst/>
          </a:prstGeom>
          <a:noFill/>
        </p:spPr>
        <p:txBody>
          <a:bodyPr vertOverflow="overflow" vert="horz" wrap="square" rtlCol="0" anchor="t">
            <a:noAutofit/>
          </a:bodyPr>
          <a:lstStyle/>
          <a:p>
            <a:pPr marL="0" indent="0">
              <a:buNone/>
            </a:pPr>
            <a:r>
              <a:rPr lang="en-US" altLang="zh-TW" sz="1800" dirty="0">
                <a:solidFill>
                  <a:srgbClr val="000000"/>
                </a:solidFill>
                <a:latin typeface="Calibri" panose="020F0502020204030204" pitchFamily="34" charset="0"/>
                <a:ea typeface="微軟正黑體"/>
                <a:cs typeface="Calibri" panose="020F0502020204030204" pitchFamily="34" charset="0"/>
              </a:rPr>
              <a:t>Every consumer tile pulls the slice itself, Gx unicast reads per Q slice and Gy per K/V slice.</a:t>
            </a:r>
          </a:p>
        </p:txBody>
      </p:sp>
      <p:pic>
        <p:nvPicPr>
          <p:cNvPr id="8" name="圖片 7">
            <a:extLst>
              <a:ext uri="{FF2B5EF4-FFF2-40B4-BE49-F238E27FC236}">
                <a16:creationId xmlns:a16="http://schemas.microsoft.com/office/drawing/2014/main" id="{6FFACD0C-1BAD-50D4-DD92-05D593D3C547}"/>
              </a:ext>
            </a:extLst>
          </p:cNvPr>
          <p:cNvPicPr>
            <a:picLocks noChangeAspect="1"/>
          </p:cNvPicPr>
          <p:nvPr/>
        </p:nvPicPr>
        <p:blipFill>
          <a:blip r:embed="rId2"/>
          <a:stretch>
            <a:fillRect/>
          </a:stretch>
        </p:blipFill>
        <p:spPr>
          <a:xfrm>
            <a:off x="3831378" y="125945"/>
            <a:ext cx="8360622" cy="6493933"/>
          </a:xfrm>
          <a:prstGeom prst="rect">
            <a:avLst/>
          </a:prstGeom>
        </p:spPr>
      </p:pic>
    </p:spTree>
    <p:extLst>
      <p:ext uri="{BB962C8B-B14F-4D97-AF65-F5344CB8AC3E}">
        <p14:creationId xmlns:p14="http://schemas.microsoft.com/office/powerpoint/2010/main" val="510792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9DE0E1B-61C2-DE2E-768D-0331871B5D3E}"/>
              </a:ext>
            </a:extLst>
          </p:cNvPr>
          <p:cNvSpPr>
            <a:spLocks noGrp="1"/>
          </p:cNvSpPr>
          <p:nvPr>
            <p:ph type="title"/>
          </p:nvPr>
        </p:nvSpPr>
        <p:spPr>
          <a:xfrm>
            <a:off x="533400" y="228600"/>
            <a:ext cx="3115733" cy="584200"/>
          </a:xfrm>
        </p:spPr>
        <p:txBody>
          <a:bodyPr/>
          <a:lstStyle/>
          <a:p>
            <a:pPr marL="0" indent="0" algn="l">
              <a:buNone/>
            </a:pPr>
            <a:r>
              <a:rPr lang="en-US" altLang="zh-TW" sz="3200" b="1" dirty="0">
                <a:solidFill>
                  <a:srgbClr val="000000"/>
                </a:solidFill>
                <a:latin typeface="Calibri"/>
                <a:ea typeface="微軟正黑體"/>
              </a:rPr>
              <a:t>Algorithm 2  Multicast</a:t>
            </a:r>
          </a:p>
        </p:txBody>
      </p:sp>
      <p:sp>
        <p:nvSpPr>
          <p:cNvPr id="3" name="投影片編號版面配置區 2">
            <a:extLst>
              <a:ext uri="{FF2B5EF4-FFF2-40B4-BE49-F238E27FC236}">
                <a16:creationId xmlns:a16="http://schemas.microsoft.com/office/drawing/2014/main" id="{24E6B340-1768-9FAE-13D6-20A9DF24F788}"/>
              </a:ext>
            </a:extLst>
          </p:cNvPr>
          <p:cNvSpPr>
            <a:spLocks noGrp="1"/>
          </p:cNvSpPr>
          <p:nvPr>
            <p:ph type="sldNum" sz="quarter" idx="10"/>
          </p:nvPr>
        </p:nvSpPr>
        <p:spPr/>
        <p:txBody>
          <a:bodyPr/>
          <a:lstStyle/>
          <a:p>
            <a:pPr>
              <a:defRPr/>
            </a:pPr>
            <a:fld id="{1A71FFAD-F905-4792-971B-681FA4F61CA8}" type="slidenum">
              <a:rPr lang="en-US" altLang="zh-TW" smtClean="0"/>
              <a:pPr>
                <a:defRPr/>
              </a:pPr>
              <a:t>28</a:t>
            </a:fld>
            <a:endParaRPr lang="en-US" altLang="zh-TW"/>
          </a:p>
        </p:txBody>
      </p:sp>
      <p:sp>
        <p:nvSpPr>
          <p:cNvPr id="5" name="FigCap">
            <a:extLst>
              <a:ext uri="{FF2B5EF4-FFF2-40B4-BE49-F238E27FC236}">
                <a16:creationId xmlns:a16="http://schemas.microsoft.com/office/drawing/2014/main" id="{6A9E50B0-AD5F-4DFC-BB6C-3DB06E518D97}"/>
              </a:ext>
            </a:extLst>
          </p:cNvPr>
          <p:cNvSpPr txBox="1"/>
          <p:nvPr/>
        </p:nvSpPr>
        <p:spPr>
          <a:xfrm>
            <a:off x="1778000" y="5334000"/>
            <a:ext cx="8636000" cy="381000"/>
          </a:xfrm>
          <a:prstGeom prst="rect">
            <a:avLst/>
          </a:prstGeom>
          <a:noFill/>
        </p:spPr>
        <p:txBody>
          <a:bodyPr vertOverflow="overflow" vert="horz" wrap="square" rtlCol="0" anchor="t">
            <a:noAutofit/>
          </a:bodyPr>
          <a:lstStyle/>
          <a:p>
            <a:pPr marL="0" indent="0" algn="ctr">
              <a:buNone/>
            </a:pPr>
            <a:r>
              <a:rPr lang="en-US" altLang="zh-TW" sz="1600" dirty="0">
                <a:solidFill>
                  <a:srgbClr val="000000"/>
                </a:solidFill>
                <a:latin typeface="Calibri" panose="020F0502020204030204" pitchFamily="34" charset="0"/>
                <a:ea typeface="微軟正黑體"/>
                <a:cs typeface="Calibri" panose="020F0502020204030204" pitchFamily="34" charset="0"/>
              </a:rPr>
              <a:t>Algorithm 2: multicast on a Gx x Gy tile group</a:t>
            </a:r>
          </a:p>
        </p:txBody>
      </p:sp>
      <p:sp>
        <p:nvSpPr>
          <p:cNvPr id="7" name="AlgNote">
            <a:extLst>
              <a:ext uri="{FF2B5EF4-FFF2-40B4-BE49-F238E27FC236}">
                <a16:creationId xmlns:a16="http://schemas.microsoft.com/office/drawing/2014/main" id="{6324A8C2-125F-4A2B-8C53-A0590FD54637}"/>
              </a:ext>
            </a:extLst>
          </p:cNvPr>
          <p:cNvSpPr txBox="1"/>
          <p:nvPr/>
        </p:nvSpPr>
        <p:spPr>
          <a:xfrm>
            <a:off x="203200" y="2336800"/>
            <a:ext cx="3293533" cy="736600"/>
          </a:xfrm>
          <a:prstGeom prst="rect">
            <a:avLst/>
          </a:prstGeom>
          <a:noFill/>
        </p:spPr>
        <p:txBody>
          <a:bodyPr vertOverflow="overflow" vert="horz" wrap="square" rtlCol="0" anchor="t">
            <a:noAutofit/>
          </a:bodyPr>
          <a:lstStyle/>
          <a:p>
            <a:pPr marL="0" indent="0">
              <a:buNone/>
            </a:pPr>
            <a:r>
              <a:rPr lang="en-US" altLang="zh-TW" sz="1800" dirty="0">
                <a:solidFill>
                  <a:srgbClr val="000000"/>
                </a:solidFill>
                <a:latin typeface="Calibri" panose="020F0502020204030204" pitchFamily="34" charset="0"/>
                <a:ea typeface="微軟正黑體"/>
                <a:cs typeface="Calibri" panose="020F0502020204030204" pitchFamily="34" charset="0"/>
              </a:rPr>
              <a:t>The source tile reads its slice locally once and multicasts it, one transfer per slice.</a:t>
            </a:r>
          </a:p>
        </p:txBody>
      </p:sp>
      <p:pic>
        <p:nvPicPr>
          <p:cNvPr id="9" name="圖片 8">
            <a:extLst>
              <a:ext uri="{FF2B5EF4-FFF2-40B4-BE49-F238E27FC236}">
                <a16:creationId xmlns:a16="http://schemas.microsoft.com/office/drawing/2014/main" id="{AE83FDDB-87C0-2B8A-F40B-D711B101CA0C}"/>
              </a:ext>
            </a:extLst>
          </p:cNvPr>
          <p:cNvPicPr>
            <a:picLocks noChangeAspect="1"/>
          </p:cNvPicPr>
          <p:nvPr/>
        </p:nvPicPr>
        <p:blipFill>
          <a:blip r:embed="rId2"/>
          <a:stretch>
            <a:fillRect/>
          </a:stretch>
        </p:blipFill>
        <p:spPr>
          <a:xfrm>
            <a:off x="3718107" y="0"/>
            <a:ext cx="8396451" cy="6858000"/>
          </a:xfrm>
          <a:prstGeom prst="rect">
            <a:avLst/>
          </a:prstGeom>
        </p:spPr>
      </p:pic>
    </p:spTree>
    <p:extLst>
      <p:ext uri="{BB962C8B-B14F-4D97-AF65-F5344CB8AC3E}">
        <p14:creationId xmlns:p14="http://schemas.microsoft.com/office/powerpoint/2010/main" val="32705203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C55C3E6-7F20-DB9E-481D-08A3F9A95DB4}"/>
              </a:ext>
            </a:extLst>
          </p:cNvPr>
          <p:cNvSpPr>
            <a:spLocks noGrp="1"/>
          </p:cNvSpPr>
          <p:nvPr>
            <p:ph type="title"/>
          </p:nvPr>
        </p:nvSpPr>
        <p:spPr>
          <a:xfrm>
            <a:off x="533400" y="228600"/>
            <a:ext cx="11176000" cy="584200"/>
          </a:xfrm>
        </p:spPr>
        <p:txBody>
          <a:bodyPr/>
          <a:lstStyle/>
          <a:p>
            <a:r>
              <a:rPr lang="en-US" altLang="zh-TW"/>
              <a:t>Multicast model and tail latency</a:t>
            </a:r>
            <a:endParaRPr lang="zh-TW" altLang="en-US"/>
          </a:p>
        </p:txBody>
      </p:sp>
      <p:sp>
        <p:nvSpPr>
          <p:cNvPr id="4" name="文字方塊 3">
            <a:extLst>
              <a:ext uri="{FF2B5EF4-FFF2-40B4-BE49-F238E27FC236}">
                <a16:creationId xmlns:a16="http://schemas.microsoft.com/office/drawing/2014/main" id="{5D3788FB-76F3-41A5-BFB4-BB55D711A158}"/>
              </a:ext>
            </a:extLst>
          </p:cNvPr>
          <p:cNvSpPr txBox="1"/>
          <p:nvPr/>
        </p:nvSpPr>
        <p:spPr>
          <a:xfrm>
            <a:off x="609600" y="1092200"/>
            <a:ext cx="10972800" cy="660400"/>
          </a:xfrm>
          <a:prstGeom prst="rect">
            <a:avLst/>
          </a:prstGeom>
          <a:noFill/>
        </p:spPr>
        <p:txBody>
          <a:bodyPr vertOverflow="overflow" vert="horz" wrap="square" rtlCol="0" anchor="t">
            <a:spAutoFit/>
          </a:bodyPr>
          <a:lstStyle/>
          <a:p>
            <a:pPr algn="l"/>
            <a:r>
              <a:rPr lang="en-US" altLang="zh-TW">
                <a:solidFill>
                  <a:srgbClr val="000000"/>
                </a:solidFill>
                <a:latin typeface="Calibri"/>
                <a:ea typeface="Calibri"/>
                <a:cs typeface="Calibri"/>
              </a:rPr>
              <a:t>The row and column multicasts of Algorithm 2 follow the model below, a multicast along one axis over a set of k nodes. A submesh multicast runs in two phases, one per axis.</a:t>
            </a:r>
            <a:endParaRPr lang="zh-TW" altLang="en-US">
              <a:solidFill>
                <a:srgbClr val="000000"/>
              </a:solidFill>
              <a:latin typeface="Calibri"/>
              <a:cs typeface="Calibri"/>
            </a:endParaRPr>
          </a:p>
        </p:txBody>
      </p:sp>
      <p:graphicFrame>
        <p:nvGraphicFramePr>
          <p:cNvPr id="7" name="表格 6">
            <a:extLst>
              <a:ext uri="{FF2B5EF4-FFF2-40B4-BE49-F238E27FC236}">
                <a16:creationId xmlns:a16="http://schemas.microsoft.com/office/drawing/2014/main" id="{259BDE91-6D51-4779-A2CC-30A2571F7BB2}"/>
              </a:ext>
            </a:extLst>
          </p:cNvPr>
          <p:cNvGraphicFramePr>
            <a:graphicFrameLocks noGrp="1"/>
          </p:cNvGraphicFramePr>
          <p:nvPr>
            <p:extLst>
              <p:ext uri="{D42A27DB-BD31-4B8C-83A1-F6EECF244321}">
                <p14:modId xmlns:p14="http://schemas.microsoft.com/office/powerpoint/2010/main" val="4136929640"/>
              </p:ext>
            </p:extLst>
          </p:nvPr>
        </p:nvGraphicFramePr>
        <p:xfrm>
          <a:off x="6248400" y="1905000"/>
          <a:ext cx="5334000" cy="2032000"/>
        </p:xfrm>
        <a:graphic>
          <a:graphicData uri="http://schemas.openxmlformats.org/drawingml/2006/table">
            <a:tbl>
              <a:tblPr firstRow="1" bandRow="1">
                <a:tableStyleId>{5C22544A-7EE6-4342-B048-85BDC9FD1C3A}</a:tableStyleId>
              </a:tblPr>
              <a:tblGrid>
                <a:gridCol w="2133600">
                  <a:extLst>
                    <a:ext uri="{9D8B030D-6E8A-4147-A177-3AD203B41FA5}">
                      <a16:colId xmlns:a16="http://schemas.microsoft.com/office/drawing/2014/main" val="2838706269"/>
                    </a:ext>
                  </a:extLst>
                </a:gridCol>
                <a:gridCol w="3200400">
                  <a:extLst>
                    <a:ext uri="{9D8B030D-6E8A-4147-A177-3AD203B41FA5}">
                      <a16:colId xmlns:a16="http://schemas.microsoft.com/office/drawing/2014/main" val="338665253"/>
                    </a:ext>
                  </a:extLst>
                </a:gridCol>
              </a:tblGrid>
              <a:tr h="406400">
                <a:tc>
                  <a:txBody>
                    <a:bodyPr/>
                    <a:lstStyle/>
                    <a:p>
                      <a:pPr algn="l"/>
                      <a:r>
                        <a:rPr lang="zh-TW" altLang="en-US" sz="1600" b="1">
                          <a:solidFill>
                            <a:srgbClr val="FFFFFF"/>
                          </a:solidFill>
                          <a:latin typeface="Calibri"/>
                          <a:cs typeface="Calibri"/>
                        </a:rPr>
                        <a:t>Case</a:t>
                      </a:r>
                    </a:p>
                  </a:txBody>
                  <a:tcPr anchor="ctr"/>
                </a:tc>
                <a:tc>
                  <a:txBody>
                    <a:bodyPr/>
                    <a:lstStyle/>
                    <a:p>
                      <a:pPr algn="l"/>
                      <a:r>
                        <a:rPr lang="zh-TW" altLang="en-US" sz="1600" b="1">
                          <a:solidFill>
                            <a:srgbClr val="FFFFFF"/>
                          </a:solidFill>
                          <a:latin typeface="Calibri"/>
                          <a:cs typeface="Calibri"/>
                        </a:rPr>
                        <a:t>Tail arrival at the farthest member</a:t>
                      </a:r>
                    </a:p>
                  </a:txBody>
                  <a:tcPr anchor="ctr"/>
                </a:tc>
                <a:extLst>
                  <a:ext uri="{0D108BD9-81ED-4DB2-BD59-A6C34878D82A}">
                    <a16:rowId xmlns:a16="http://schemas.microsoft.com/office/drawing/2014/main" val="2924580125"/>
                  </a:ext>
                </a:extLst>
              </a:tr>
              <a:tr h="812800">
                <a:tc>
                  <a:txBody>
                    <a:bodyPr/>
                    <a:lstStyle/>
                    <a:p>
                      <a:pPr algn="l"/>
                      <a:r>
                        <a:rPr lang="zh-TW" altLang="en-US" sz="1600" b="0">
                          <a:solidFill>
                            <a:srgbClr val="000000"/>
                          </a:solidFill>
                          <a:latin typeface="Calibri"/>
                          <a:cs typeface="Calibri"/>
                        </a:rPr>
                        <a:t>Repeated unicast</a:t>
                      </a:r>
                    </a:p>
                  </a:txBody>
                  <a:tcPr anchor="ctr"/>
                </a:tc>
                <a:tc>
                  <a:txBody>
                    <a:bodyPr/>
                    <a:lstStyle/>
                    <a:p>
                      <a:pPr algn="l"/>
                      <a:r>
                        <a:rPr lang="zh-TW" altLang="en-US" sz="1600" b="0">
                          <a:solidFill>
                            <a:srgbClr val="000000"/>
                          </a:solidFill>
                          <a:latin typeface="Calibri"/>
                          <a:cs typeface="Calibri"/>
                        </a:rPr>
                        <a:t>(k - 1)L + H_max t_wire + (H_max + 1) t_router</a:t>
                      </a:r>
                    </a:p>
                  </a:txBody>
                  <a:tcPr anchor="ctr"/>
                </a:tc>
                <a:extLst>
                  <a:ext uri="{0D108BD9-81ED-4DB2-BD59-A6C34878D82A}">
                    <a16:rowId xmlns:a16="http://schemas.microsoft.com/office/drawing/2014/main" val="669876729"/>
                  </a:ext>
                </a:extLst>
              </a:tr>
              <a:tr h="812800">
                <a:tc>
                  <a:txBody>
                    <a:bodyPr/>
                    <a:lstStyle/>
                    <a:p>
                      <a:pPr algn="l"/>
                      <a:r>
                        <a:rPr lang="zh-TW" altLang="en-US" sz="1600" b="0">
                          <a:solidFill>
                            <a:srgbClr val="000000"/>
                          </a:solidFill>
                          <a:latin typeface="Calibri"/>
                          <a:cs typeface="Calibri"/>
                        </a:rPr>
                        <a:t>In-network multicast</a:t>
                      </a:r>
                    </a:p>
                  </a:txBody>
                  <a:tcPr anchor="ctr"/>
                </a:tc>
                <a:tc>
                  <a:txBody>
                    <a:bodyPr/>
                    <a:lstStyle/>
                    <a:p>
                      <a:pPr algn="l"/>
                      <a:r>
                        <a:rPr lang="zh-TW" altLang="en-US" sz="1600" b="0">
                          <a:solidFill>
                            <a:srgbClr val="000000"/>
                          </a:solidFill>
                          <a:latin typeface="Calibri"/>
                          <a:cs typeface="Calibri"/>
                        </a:rPr>
                        <a:t>L + H_max t_wire + (H_max + 1) t_router</a:t>
                      </a:r>
                    </a:p>
                  </a:txBody>
                  <a:tcPr anchor="ctr"/>
                </a:tc>
                <a:extLst>
                  <a:ext uri="{0D108BD9-81ED-4DB2-BD59-A6C34878D82A}">
                    <a16:rowId xmlns:a16="http://schemas.microsoft.com/office/drawing/2014/main" val="812069999"/>
                  </a:ext>
                </a:extLst>
              </a:tr>
            </a:tbl>
          </a:graphicData>
        </a:graphic>
      </p:graphicFrame>
      <p:pic>
        <p:nvPicPr>
          <p:cNvPr id="8" name="Picture 7" descr="multicast_model-1.png"/>
          <p:cNvPicPr>
            <a:picLocks noChangeAspect="1"/>
          </p:cNvPicPr>
          <p:nvPr/>
        </p:nvPicPr>
        <p:blipFill>
          <a:blip r:embed="rId2"/>
          <a:stretch>
            <a:fillRect/>
          </a:stretch>
        </p:blipFill>
        <p:spPr>
          <a:xfrm>
            <a:off x="609600" y="2313835"/>
            <a:ext cx="5334000" cy="1722329"/>
          </a:xfrm>
          <a:prstGeom prst="rect">
            <a:avLst/>
          </a:prstGeom>
        </p:spPr>
      </p:pic>
    </p:spTree>
    <p:extLst>
      <p:ext uri="{BB962C8B-B14F-4D97-AF65-F5344CB8AC3E}">
        <p14:creationId xmlns:p14="http://schemas.microsoft.com/office/powerpoint/2010/main" val="3813845154"/>
      </p:ext>
    </p:extLst>
  </p:cSld>
  <p:clrMapOvr>
    <a:masterClrMapping/>
  </p:clrMapOvr>
</p:sld>
</file>

<file path=ppt/theme/theme1.xml><?xml version="1.0" encoding="utf-8"?>
<a:theme xmlns:a="http://schemas.openxmlformats.org/drawingml/2006/main" name="簡報內頁">
  <a:themeElements>
    <a:clrScheme name="自訂 2">
      <a:dk1>
        <a:srgbClr val="1B2A4A"/>
      </a:dk1>
      <a:lt1>
        <a:srgbClr val="FFFFFF"/>
      </a:lt1>
      <a:dk2>
        <a:srgbClr val="1B2A4A"/>
      </a:dk2>
      <a:lt2>
        <a:srgbClr val="F2F2F2"/>
      </a:lt2>
      <a:accent1>
        <a:srgbClr val="4472C4"/>
      </a:accent1>
      <a:accent2>
        <a:srgbClr val="2E8B8B"/>
      </a:accent2>
      <a:accent3>
        <a:srgbClr val="D4652F"/>
      </a:accent3>
      <a:accent4>
        <a:srgbClr val="548235"/>
      </a:accent4>
      <a:accent5>
        <a:srgbClr val="7F7F7F"/>
      </a:accent5>
      <a:accent6>
        <a:srgbClr val="1B2A4A"/>
      </a:accent6>
      <a:hlink>
        <a:srgbClr val="0563C1"/>
      </a:hlink>
      <a:folHlink>
        <a:srgbClr val="954F72"/>
      </a:folHlink>
    </a:clrScheme>
    <a:fontScheme name="簡報內頁">
      <a:majorFont>
        <a:latin typeface="Arial"/>
        <a:ea typeface="微軟正黑體"/>
        <a:cs typeface=""/>
      </a:majorFont>
      <a:minorFont>
        <a:latin typeface="Arial"/>
        <a:ea typeface="微軟正黑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TW" altLang="en-US" sz="1800" b="0" i="0" u="none" strike="noStrike" cap="none" normalizeH="0" baseline="0" smtClean="0">
            <a:ln>
              <a:noFill/>
            </a:ln>
            <a:solidFill>
              <a:schemeClr val="tx1"/>
            </a:solidFill>
            <a:effectLst/>
            <a:latin typeface="Arial" charset="0"/>
            <a:ea typeface="新細明體" pitchFamily="18" charset="-12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TW" altLang="en-US" sz="1800" b="0" i="0" u="none" strike="noStrike" cap="none" normalizeH="0" baseline="0" smtClean="0">
            <a:ln>
              <a:noFill/>
            </a:ln>
            <a:solidFill>
              <a:schemeClr val="tx1"/>
            </a:solidFill>
            <a:effectLst/>
            <a:latin typeface="Arial" charset="0"/>
            <a:ea typeface="新細明體" pitchFamily="18" charset="-120"/>
          </a:defRPr>
        </a:defPPr>
      </a:lstStyle>
    </a:lnDef>
  </a:objectDefaults>
  <a:extraClrSchemeLst>
    <a:extraClrScheme>
      <a:clrScheme name="簡報內頁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簡報內頁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簡報內頁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簡報內頁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簡報內頁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簡報內頁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簡報內頁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簡報內頁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簡報內頁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簡報內頁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簡報內頁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簡報內頁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簡報內頁">
  <a:themeElements>
    <a:clrScheme name="自訂 2">
      <a:dk1>
        <a:srgbClr val="1B2A4A"/>
      </a:dk1>
      <a:lt1>
        <a:srgbClr val="FFFFFF"/>
      </a:lt1>
      <a:dk2>
        <a:srgbClr val="1B2A4A"/>
      </a:dk2>
      <a:lt2>
        <a:srgbClr val="F2F2F2"/>
      </a:lt2>
      <a:accent1>
        <a:srgbClr val="4472C4"/>
      </a:accent1>
      <a:accent2>
        <a:srgbClr val="2E8B8B"/>
      </a:accent2>
      <a:accent3>
        <a:srgbClr val="D4652F"/>
      </a:accent3>
      <a:accent4>
        <a:srgbClr val="548235"/>
      </a:accent4>
      <a:accent5>
        <a:srgbClr val="7F7F7F"/>
      </a:accent5>
      <a:accent6>
        <a:srgbClr val="1B2A4A"/>
      </a:accent6>
      <a:hlink>
        <a:srgbClr val="0563C1"/>
      </a:hlink>
      <a:folHlink>
        <a:srgbClr val="954F72"/>
      </a:folHlink>
    </a:clrScheme>
    <a:fontScheme name="簡報內頁">
      <a:majorFont>
        <a:latin typeface="Arial"/>
        <a:ea typeface="微軟正黑體"/>
        <a:cs typeface=""/>
      </a:majorFont>
      <a:minorFont>
        <a:latin typeface="Arial"/>
        <a:ea typeface="微軟正黑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TW" altLang="en-US" sz="1800" b="0" i="0" u="none" strike="noStrike" cap="none" normalizeH="0" baseline="0" smtClean="0">
            <a:ln>
              <a:noFill/>
            </a:ln>
            <a:solidFill>
              <a:schemeClr val="tx1"/>
            </a:solidFill>
            <a:effectLst/>
            <a:latin typeface="Arial" charset="0"/>
            <a:ea typeface="新細明體" pitchFamily="18" charset="-12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TW" altLang="en-US" sz="1800" b="0" i="0" u="none" strike="noStrike" cap="none" normalizeH="0" baseline="0" smtClean="0">
            <a:ln>
              <a:noFill/>
            </a:ln>
            <a:solidFill>
              <a:schemeClr val="tx1"/>
            </a:solidFill>
            <a:effectLst/>
            <a:latin typeface="Arial" charset="0"/>
            <a:ea typeface="新細明體" pitchFamily="18" charset="-120"/>
          </a:defRPr>
        </a:defPPr>
      </a:lstStyle>
    </a:lnDef>
  </a:objectDefaults>
  <a:extraClrSchemeLst>
    <a:extraClrScheme>
      <a:clrScheme name="簡報內頁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簡報內頁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簡報內頁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簡報內頁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簡報內頁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簡報內頁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簡報內頁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簡報內頁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簡報內頁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簡報內頁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簡報內頁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簡報內頁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1"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7EF13AE-104A-41E6-81CA-06214F006AD9}">
  <we:reference id="wa200010001" version="1.0.0.0" store="en-US" storeType="OMEX"/>
  <we:alternateReferences>
    <we:reference id="wa200010001" version="1.0.0.0" store="en-US" storeType="OMEX"/>
  </we:alternateReferences>
  <we:properties>
    <we:property name="claude.fileId" value="&quot;c97ef16a-43bd-4a4e-aa4d-ef071c7e111f&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b9a6bceb-95c5-4a00-b389-29766996abd5">
      <Terms xmlns="http://schemas.microsoft.com/office/infopath/2007/PartnerControls"/>
    </lcf76f155ced4ddcb4097134ff3c332f>
    <TaxCatchAll xmlns="76189eed-6f2a-4cec-b4a2-1c7af2c85d2e" xsi:nil="true"/>
  </documentManagement>
</p:properties>
</file>

<file path=customXml/item2.xml><?xml version="1.0" encoding="utf-8"?>
<ct:contentTypeSchema xmlns:ct="http://schemas.microsoft.com/office/2006/metadata/contentType" xmlns:ma="http://schemas.microsoft.com/office/2006/metadata/properties/metaAttributes" ct:_="" ma:_="" ma:contentTypeName="文件" ma:contentTypeID="0x01010061AC3529DC6DA24AA0FC5B58660B68C5" ma:contentTypeVersion="13" ma:contentTypeDescription="建立新的文件。" ma:contentTypeScope="" ma:versionID="5ec3dc80c42aa53ed759ae54f0c0476c">
  <xsd:schema xmlns:xsd="http://www.w3.org/2001/XMLSchema" xmlns:xs="http://www.w3.org/2001/XMLSchema" xmlns:p="http://schemas.microsoft.com/office/2006/metadata/properties" xmlns:ns2="b9a6bceb-95c5-4a00-b389-29766996abd5" xmlns:ns3="76189eed-6f2a-4cec-b4a2-1c7af2c85d2e" targetNamespace="http://schemas.microsoft.com/office/2006/metadata/properties" ma:root="true" ma:fieldsID="6c0b6a7c3fcf4d39754a1af23db974b5" ns2:_="" ns3:_="">
    <xsd:import namespace="b9a6bceb-95c5-4a00-b389-29766996abd5"/>
    <xsd:import namespace="76189eed-6f2a-4cec-b4a2-1c7af2c85d2e"/>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ObjectDetectorVersions"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9a6bceb-95c5-4a00-b389-29766996abd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lcf76f155ced4ddcb4097134ff3c332f" ma:index="16" nillable="true" ma:taxonomy="true" ma:internalName="lcf76f155ced4ddcb4097134ff3c332f" ma:taxonomyFieldName="MediaServiceImageTags" ma:displayName="影像標籤" ma:readOnly="false" ma:fieldId="{5cf76f15-5ced-4ddc-b409-7134ff3c332f}" ma:taxonomyMulti="true" ma:sspId="33bc2c1c-8cd2-4d33-9e18-808830d10f75"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6189eed-6f2a-4cec-b4a2-1c7af2c85d2e" elementFormDefault="qualified">
    <xsd:import namespace="http://schemas.microsoft.com/office/2006/documentManagement/types"/>
    <xsd:import namespace="http://schemas.microsoft.com/office/infopath/2007/PartnerControls"/>
    <xsd:element name="SharedWithUsers" ma:index="10" nillable="true" ma:displayName="共用對象:"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共用詳細資料" ma:internalName="SharedWithDetails" ma:readOnly="true">
      <xsd:simpleType>
        <xsd:restriction base="dms:Note">
          <xsd:maxLength value="255"/>
        </xsd:restriction>
      </xsd:simpleType>
    </xsd:element>
    <xsd:element name="TaxCatchAll" ma:index="17" nillable="true" ma:displayName="Taxonomy Catch All Column" ma:hidden="true" ma:list="{df9f1ee5-ad50-4a71-8441-e5ade8f790f4}" ma:internalName="TaxCatchAll" ma:showField="CatchAllData" ma:web="76189eed-6f2a-4cec-b4a2-1c7af2c85d2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內容類型"/>
        <xsd:element ref="dc:title" minOccurs="0" maxOccurs="1" ma:index="4" ma:displayName="標題"/>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042DBB4-366A-45E7-8F7A-3C0676395F81}">
  <ds:schemaRefs>
    <ds:schemaRef ds:uri="http://schemas.microsoft.com/office/2006/metadata/properties"/>
    <ds:schemaRef ds:uri="http://schemas.microsoft.com/office/infopath/2007/PartnerControls"/>
    <ds:schemaRef ds:uri="b9a6bceb-95c5-4a00-b389-29766996abd5"/>
    <ds:schemaRef ds:uri="76189eed-6f2a-4cec-b4a2-1c7af2c85d2e"/>
  </ds:schemaRefs>
</ds:datastoreItem>
</file>

<file path=customXml/itemProps2.xml><?xml version="1.0" encoding="utf-8"?>
<ds:datastoreItem xmlns:ds="http://schemas.openxmlformats.org/officeDocument/2006/customXml" ds:itemID="{DEC5D702-B0C5-49DB-A93A-C7A45808DFE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9a6bceb-95c5-4a00-b389-29766996abd5"/>
    <ds:schemaRef ds:uri="76189eed-6f2a-4cec-b4a2-1c7af2c85d2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33A3A19-8873-43BD-886C-0136C9BA743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96835</TotalTime>
  <Words>2813</Words>
  <Application>Microsoft Office PowerPoint</Application>
  <PresentationFormat>寬螢幕</PresentationFormat>
  <Paragraphs>503</Paragraphs>
  <Slides>29</Slides>
  <Notes>4</Notes>
  <HiddenSlides>0</HiddenSlides>
  <MMClips>0</MMClips>
  <ScaleCrop>false</ScaleCrop>
  <HeadingPairs>
    <vt:vector size="6" baseType="variant">
      <vt:variant>
        <vt:lpstr>使用字型</vt:lpstr>
      </vt:variant>
      <vt:variant>
        <vt:i4>4</vt:i4>
      </vt:variant>
      <vt:variant>
        <vt:lpstr>佈景主題</vt:lpstr>
      </vt:variant>
      <vt:variant>
        <vt:i4>2</vt:i4>
      </vt:variant>
      <vt:variant>
        <vt:lpstr>投影片標題</vt:lpstr>
      </vt:variant>
      <vt:variant>
        <vt:i4>29</vt:i4>
      </vt:variant>
    </vt:vector>
  </HeadingPairs>
  <TitlesOfParts>
    <vt:vector size="35" baseType="lpstr">
      <vt:lpstr>-apple-system</vt:lpstr>
      <vt:lpstr>Arial</vt:lpstr>
      <vt:lpstr>Calibri</vt:lpstr>
      <vt:lpstr>Consolas</vt:lpstr>
      <vt:lpstr>簡報內頁</vt:lpstr>
      <vt:lpstr>簡報內頁</vt:lpstr>
      <vt:lpstr>Collective-Capable AXI4 NoC Target Specification</vt:lpstr>
      <vt:lpstr>MHA dataflow requirements for the NoC</vt:lpstr>
      <vt:lpstr>Key features</vt:lpstr>
      <vt:lpstr>How to handle heterogeneous traffic</vt:lpstr>
      <vt:lpstr>AXI to Physical link mapping</vt:lpstr>
      <vt:lpstr>NMU (Network Master Unit)</vt:lpstr>
      <vt:lpstr>NSU (Network Slave Unit)</vt:lpstr>
      <vt:lpstr>Architecture</vt:lpstr>
      <vt:lpstr>NI &amp; Router Interfaces</vt:lpstr>
      <vt:lpstr>AXI channel signals</vt:lpstr>
      <vt:lpstr>NoC link interface</vt:lpstr>
      <vt:lpstr>NoC Communication Protocol – Flit header</vt:lpstr>
      <vt:lpstr>PowerPoint 簡報</vt:lpstr>
      <vt:lpstr>PowerPoint 簡報</vt:lpstr>
      <vt:lpstr>Header overhead and W/R utilization</vt:lpstr>
      <vt:lpstr>Configuration options</vt:lpstr>
      <vt:lpstr>Metrics</vt:lpstr>
      <vt:lpstr>Payload bandwidth</vt:lpstr>
      <vt:lpstr>Payload efficiency</vt:lpstr>
      <vt:lpstr>Sustained bandwidth: full rate unless reads reorder</vt:lpstr>
      <vt:lpstr>Zero-load latency</vt:lpstr>
      <vt:lpstr>Evaluation Model</vt:lpstr>
      <vt:lpstr>Memory tiers, cold storage to compute</vt:lpstr>
      <vt:lpstr>Tiled attention dataflow</vt:lpstr>
      <vt:lpstr>Model-level execution flow</vt:lpstr>
      <vt:lpstr>Algorithms 1 and 2</vt:lpstr>
      <vt:lpstr>Algorithm 1  Per-tile fetch</vt:lpstr>
      <vt:lpstr>Algorithm 2  Multicast</vt:lpstr>
      <vt:lpstr>Multicast model and tail latency</vt:lpstr>
    </vt:vector>
  </TitlesOfParts>
  <Company>TAS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ITRI投影片範本B</dc:title>
  <dc:creator>ITRI</dc:creator>
  <cp:keywords>2008NewCIS</cp:keywords>
  <cp:lastModifiedBy>洺偉 張</cp:lastModifiedBy>
  <cp:revision>2126</cp:revision>
  <dcterms:created xsi:type="dcterms:W3CDTF">2008-05-08T04:38:45Z</dcterms:created>
  <dcterms:modified xsi:type="dcterms:W3CDTF">2026-08-02T09:36:12Z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0x01010061AC3529DC6DA24AA0FC5B58660B68C5</vt:lpwstr>
  </property>
  <property fmtid="{D5CDD505-2E9C-101B-9397-08002B2CF9AE}" pid="3" name="MediaServiceImageTags">
    <vt:lpwstr/>
  </property>
</Properties>
</file>